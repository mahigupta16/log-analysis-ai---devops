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DB022"/>
          </a:solidFill>
          <a:ln/>
        </p:spPr>
      </p:sp>
      <p:sp>
        <p:nvSpPr>
          <p:cNvPr id="3" name="Text 1"/>
          <p:cNvSpPr/>
          <p:nvPr/>
        </p:nvSpPr>
        <p:spPr>
          <a:xfrm>
            <a:off x="822960" y="731520"/>
            <a:ext cx="7315200" cy="365760"/>
          </a:xfrm>
          <a:prstGeom prst="rect">
            <a:avLst/>
          </a:prstGeom>
          <a:noFill/>
          <a:ln/>
        </p:spPr>
        <p:txBody>
          <a:bodyPr wrap="square" rtlCol="0" anchor="ctr"/>
          <a:lstStyle/>
          <a:p>
            <a:pPr marL="0" indent="0">
              <a:buNone/>
            </a:pPr>
            <a:r>
              <a:rPr lang="en-US" sz="1300" b="1" kern="0" spc="300" dirty="0">
                <a:solidFill>
                  <a:srgbClr val="FDB022"/>
                </a:solidFill>
                <a:latin typeface="Calibri" pitchFamily="34" charset="0"/>
                <a:ea typeface="Calibri" pitchFamily="34" charset="-122"/>
                <a:cs typeface="Calibri" pitchFamily="34" charset="-120"/>
              </a:rPr>
              <a:t>FINAL YEAR B.TECH PROJECT REPORT</a:t>
            </a:r>
            <a:endParaRPr lang="en-US" sz="1300" dirty="0"/>
          </a:p>
        </p:txBody>
      </p:sp>
      <p:sp>
        <p:nvSpPr>
          <p:cNvPr id="4" name="Text 2"/>
          <p:cNvSpPr/>
          <p:nvPr/>
        </p:nvSpPr>
        <p:spPr>
          <a:xfrm>
            <a:off x="777240" y="1143000"/>
            <a:ext cx="10058400" cy="1371600"/>
          </a:xfrm>
          <a:prstGeom prst="rect">
            <a:avLst/>
          </a:prstGeom>
          <a:noFill/>
          <a:ln/>
        </p:spPr>
        <p:txBody>
          <a:bodyPr wrap="square" rtlCol="0" anchor="ctr"/>
          <a:lstStyle/>
          <a:p>
            <a:pPr marL="0" indent="0">
              <a:buNone/>
            </a:pPr>
            <a:r>
              <a:rPr lang="en-US" sz="6400" b="1" dirty="0">
                <a:solidFill>
                  <a:srgbClr val="F3F6FB"/>
                </a:solidFill>
                <a:latin typeface="Arial" pitchFamily="34" charset="0"/>
                <a:ea typeface="Arial" pitchFamily="34" charset="-122"/>
                <a:cs typeface="Arial" pitchFamily="34" charset="-120"/>
              </a:rPr>
              <a:t>LogGuard</a:t>
            </a:r>
            <a:r>
              <a:rPr lang="en-US" sz="6400" b="1" dirty="0">
                <a:solidFill>
                  <a:srgbClr val="FDB022"/>
                </a:solidFill>
                <a:latin typeface="Arial" pitchFamily="34" charset="0"/>
                <a:ea typeface="Arial" pitchFamily="34" charset="-122"/>
                <a:cs typeface="Arial" pitchFamily="34" charset="-120"/>
              </a:rPr>
              <a:t> AI</a:t>
            </a:r>
            <a:endParaRPr lang="en-US" sz="6400" dirty="0"/>
          </a:p>
        </p:txBody>
      </p:sp>
      <p:sp>
        <p:nvSpPr>
          <p:cNvPr id="5" name="Text 3"/>
          <p:cNvSpPr/>
          <p:nvPr/>
        </p:nvSpPr>
        <p:spPr>
          <a:xfrm>
            <a:off x="822960" y="2377440"/>
            <a:ext cx="9418320" cy="685800"/>
          </a:xfrm>
          <a:prstGeom prst="rect">
            <a:avLst/>
          </a:prstGeom>
          <a:noFill/>
          <a:ln/>
        </p:spPr>
        <p:txBody>
          <a:bodyPr wrap="square" rtlCol="0" anchor="ctr"/>
          <a:lstStyle/>
          <a:p>
            <a:pPr marL="0" indent="0">
              <a:buNone/>
            </a:pPr>
            <a:r>
              <a:rPr lang="en-US" sz="1550" i="1" dirty="0">
                <a:solidFill>
                  <a:srgbClr val="8B93A7"/>
                </a:solidFill>
                <a:latin typeface="Calibri" pitchFamily="34" charset="0"/>
                <a:ea typeface="Calibri" pitchFamily="34" charset="-122"/>
                <a:cs typeface="Calibri" pitchFamily="34" charset="-120"/>
              </a:rPr>
              <a:t>An AI-powered log analysis and DevOps assistance platform that detects anomalies in server logs and generates human-readable root-cause explanations with remediation steps.</a:t>
            </a:r>
            <a:endParaRPr lang="en-US" sz="1550" dirty="0"/>
          </a:p>
        </p:txBody>
      </p:sp>
      <p:sp>
        <p:nvSpPr>
          <p:cNvPr id="6" name="Shape 4"/>
          <p:cNvSpPr/>
          <p:nvPr/>
        </p:nvSpPr>
        <p:spPr>
          <a:xfrm>
            <a:off x="822960" y="3154680"/>
            <a:ext cx="1361542" cy="365760"/>
          </a:xfrm>
          <a:prstGeom prst="roundRect">
            <a:avLst>
              <a:gd name="adj" fmla="val 50000"/>
            </a:avLst>
          </a:prstGeom>
          <a:solidFill>
            <a:srgbClr val="1E2530"/>
          </a:solidFill>
          <a:ln w="9525">
            <a:solidFill>
              <a:srgbClr val="232B3A"/>
            </a:solidFill>
            <a:prstDash val="solid"/>
          </a:ln>
        </p:spPr>
      </p:sp>
      <p:sp>
        <p:nvSpPr>
          <p:cNvPr id="7" name="Text 5"/>
          <p:cNvSpPr/>
          <p:nvPr/>
        </p:nvSpPr>
        <p:spPr>
          <a:xfrm>
            <a:off x="822960" y="3154680"/>
            <a:ext cx="1361542" cy="365760"/>
          </a:xfrm>
          <a:prstGeom prst="rect">
            <a:avLst/>
          </a:prstGeom>
          <a:noFill/>
          <a:ln/>
        </p:spPr>
        <p:txBody>
          <a:bodyPr wrap="square" rtlCol="0" anchor="ctr"/>
          <a:lstStyle/>
          <a:p>
            <a:pPr marL="0" indent="0" algn="ctr">
              <a:buNone/>
            </a:pPr>
            <a:r>
              <a:rPr lang="en-US" sz="1050" b="1" dirty="0">
                <a:solidFill>
                  <a:srgbClr val="4CC9F0"/>
                </a:solidFill>
                <a:latin typeface="Calibri" pitchFamily="34" charset="0"/>
                <a:ea typeface="Calibri" pitchFamily="34" charset="-122"/>
                <a:cs typeface="Calibri" pitchFamily="34" charset="-120"/>
              </a:rPr>
              <a:t>Random Forest</a:t>
            </a:r>
            <a:endParaRPr lang="en-US" sz="1050" dirty="0"/>
          </a:p>
        </p:txBody>
      </p:sp>
      <p:sp>
        <p:nvSpPr>
          <p:cNvPr id="8" name="Shape 6"/>
          <p:cNvSpPr/>
          <p:nvPr/>
        </p:nvSpPr>
        <p:spPr>
          <a:xfrm>
            <a:off x="2349094" y="3154680"/>
            <a:ext cx="1616659" cy="365760"/>
          </a:xfrm>
          <a:prstGeom prst="roundRect">
            <a:avLst>
              <a:gd name="adj" fmla="val 50000"/>
            </a:avLst>
          </a:prstGeom>
          <a:solidFill>
            <a:srgbClr val="1E2530"/>
          </a:solidFill>
          <a:ln w="9525">
            <a:solidFill>
              <a:srgbClr val="232B3A"/>
            </a:solidFill>
            <a:prstDash val="solid"/>
          </a:ln>
        </p:spPr>
      </p:sp>
      <p:sp>
        <p:nvSpPr>
          <p:cNvPr id="9" name="Text 7"/>
          <p:cNvSpPr/>
          <p:nvPr/>
        </p:nvSpPr>
        <p:spPr>
          <a:xfrm>
            <a:off x="2349094" y="3154680"/>
            <a:ext cx="1616659" cy="365760"/>
          </a:xfrm>
          <a:prstGeom prst="rect">
            <a:avLst/>
          </a:prstGeom>
          <a:noFill/>
          <a:ln/>
        </p:spPr>
        <p:txBody>
          <a:bodyPr wrap="square" rtlCol="0" anchor="ctr"/>
          <a:lstStyle/>
          <a:p>
            <a:pPr marL="0" indent="0" algn="ctr">
              <a:buNone/>
            </a:pPr>
            <a:r>
              <a:rPr lang="en-US" sz="1050" b="1" dirty="0">
                <a:solidFill>
                  <a:srgbClr val="4CC9F0"/>
                </a:solidFill>
                <a:latin typeface="Calibri" pitchFamily="34" charset="0"/>
                <a:ea typeface="Calibri" pitchFamily="34" charset="-122"/>
                <a:cs typeface="Calibri" pitchFamily="34" charset="-120"/>
              </a:rPr>
              <a:t>LSTM Autoencoder</a:t>
            </a:r>
            <a:endParaRPr lang="en-US" sz="1050" dirty="0"/>
          </a:p>
        </p:txBody>
      </p:sp>
      <p:sp>
        <p:nvSpPr>
          <p:cNvPr id="10" name="Shape 8"/>
          <p:cNvSpPr/>
          <p:nvPr/>
        </p:nvSpPr>
        <p:spPr>
          <a:xfrm>
            <a:off x="4130345" y="3154680"/>
            <a:ext cx="1361542" cy="365760"/>
          </a:xfrm>
          <a:prstGeom prst="roundRect">
            <a:avLst>
              <a:gd name="adj" fmla="val 50000"/>
            </a:avLst>
          </a:prstGeom>
          <a:solidFill>
            <a:srgbClr val="1E2530"/>
          </a:solidFill>
          <a:ln w="9525">
            <a:solidFill>
              <a:srgbClr val="232B3A"/>
            </a:solidFill>
            <a:prstDash val="solid"/>
          </a:ln>
        </p:spPr>
      </p:sp>
      <p:sp>
        <p:nvSpPr>
          <p:cNvPr id="11" name="Text 9"/>
          <p:cNvSpPr/>
          <p:nvPr/>
        </p:nvSpPr>
        <p:spPr>
          <a:xfrm>
            <a:off x="4130345" y="3154680"/>
            <a:ext cx="1361542" cy="365760"/>
          </a:xfrm>
          <a:prstGeom prst="rect">
            <a:avLst/>
          </a:prstGeom>
          <a:noFill/>
          <a:ln/>
        </p:spPr>
        <p:txBody>
          <a:bodyPr wrap="square" rtlCol="0" anchor="ctr"/>
          <a:lstStyle/>
          <a:p>
            <a:pPr marL="0" indent="0" algn="ctr">
              <a:buNone/>
            </a:pPr>
            <a:r>
              <a:rPr lang="en-US" sz="1050" b="1" dirty="0">
                <a:solidFill>
                  <a:srgbClr val="4CC9F0"/>
                </a:solidFill>
                <a:latin typeface="Calibri" pitchFamily="34" charset="0"/>
                <a:ea typeface="Calibri" pitchFamily="34" charset="-122"/>
                <a:cs typeface="Calibri" pitchFamily="34" charset="-120"/>
              </a:rPr>
              <a:t>LLM Reasoning</a:t>
            </a:r>
            <a:endParaRPr lang="en-US" sz="1050" dirty="0"/>
          </a:p>
        </p:txBody>
      </p:sp>
      <p:sp>
        <p:nvSpPr>
          <p:cNvPr id="12" name="Shape 10"/>
          <p:cNvSpPr/>
          <p:nvPr/>
        </p:nvSpPr>
        <p:spPr>
          <a:xfrm>
            <a:off x="5656478" y="3154680"/>
            <a:ext cx="851306" cy="365760"/>
          </a:xfrm>
          <a:prstGeom prst="roundRect">
            <a:avLst>
              <a:gd name="adj" fmla="val 50000"/>
            </a:avLst>
          </a:prstGeom>
          <a:solidFill>
            <a:srgbClr val="1E2530"/>
          </a:solidFill>
          <a:ln w="9525">
            <a:solidFill>
              <a:srgbClr val="232B3A"/>
            </a:solidFill>
            <a:prstDash val="solid"/>
          </a:ln>
        </p:spPr>
      </p:sp>
      <p:sp>
        <p:nvSpPr>
          <p:cNvPr id="13" name="Text 11"/>
          <p:cNvSpPr/>
          <p:nvPr/>
        </p:nvSpPr>
        <p:spPr>
          <a:xfrm>
            <a:off x="5656478" y="3154680"/>
            <a:ext cx="851306" cy="365760"/>
          </a:xfrm>
          <a:prstGeom prst="rect">
            <a:avLst/>
          </a:prstGeom>
          <a:noFill/>
          <a:ln/>
        </p:spPr>
        <p:txBody>
          <a:bodyPr wrap="square" rtlCol="0" anchor="ctr"/>
          <a:lstStyle/>
          <a:p>
            <a:pPr marL="0" indent="0" algn="ctr">
              <a:buNone/>
            </a:pPr>
            <a:r>
              <a:rPr lang="en-US" sz="1050" b="1" dirty="0">
                <a:solidFill>
                  <a:srgbClr val="4CC9F0"/>
                </a:solidFill>
                <a:latin typeface="Calibri" pitchFamily="34" charset="0"/>
                <a:ea typeface="Calibri" pitchFamily="34" charset="-122"/>
                <a:cs typeface="Calibri" pitchFamily="34" charset="-120"/>
              </a:rPr>
              <a:t>FastAPI</a:t>
            </a:r>
            <a:endParaRPr lang="en-US" sz="1050" dirty="0"/>
          </a:p>
        </p:txBody>
      </p:sp>
      <p:sp>
        <p:nvSpPr>
          <p:cNvPr id="14" name="Shape 12"/>
          <p:cNvSpPr/>
          <p:nvPr/>
        </p:nvSpPr>
        <p:spPr>
          <a:xfrm>
            <a:off x="6672377" y="3154680"/>
            <a:ext cx="1786738" cy="365760"/>
          </a:xfrm>
          <a:prstGeom prst="roundRect">
            <a:avLst>
              <a:gd name="adj" fmla="val 50000"/>
            </a:avLst>
          </a:prstGeom>
          <a:solidFill>
            <a:srgbClr val="1E2530"/>
          </a:solidFill>
          <a:ln w="9525">
            <a:solidFill>
              <a:srgbClr val="232B3A"/>
            </a:solidFill>
            <a:prstDash val="solid"/>
          </a:ln>
        </p:spPr>
      </p:sp>
      <p:sp>
        <p:nvSpPr>
          <p:cNvPr id="15" name="Text 13"/>
          <p:cNvSpPr/>
          <p:nvPr/>
        </p:nvSpPr>
        <p:spPr>
          <a:xfrm>
            <a:off x="6672377" y="3154680"/>
            <a:ext cx="1786738" cy="365760"/>
          </a:xfrm>
          <a:prstGeom prst="rect">
            <a:avLst/>
          </a:prstGeom>
          <a:noFill/>
          <a:ln/>
        </p:spPr>
        <p:txBody>
          <a:bodyPr wrap="square" rtlCol="0" anchor="ctr"/>
          <a:lstStyle/>
          <a:p>
            <a:pPr marL="0" indent="0" algn="ctr">
              <a:buNone/>
            </a:pPr>
            <a:r>
              <a:rPr lang="en-US" sz="1050" b="1" dirty="0">
                <a:solidFill>
                  <a:srgbClr val="4CC9F0"/>
                </a:solidFill>
                <a:latin typeface="Calibri" pitchFamily="34" charset="0"/>
                <a:ea typeface="Calibri" pitchFamily="34" charset="-122"/>
                <a:cs typeface="Calibri" pitchFamily="34" charset="-120"/>
              </a:rPr>
              <a:t>React + TypeScript</a:t>
            </a:r>
            <a:endParaRPr lang="en-US" sz="1050" dirty="0"/>
          </a:p>
        </p:txBody>
      </p:sp>
      <p:sp>
        <p:nvSpPr>
          <p:cNvPr id="16" name="Shape 14"/>
          <p:cNvSpPr/>
          <p:nvPr/>
        </p:nvSpPr>
        <p:spPr>
          <a:xfrm>
            <a:off x="822960" y="3749040"/>
            <a:ext cx="6492240" cy="2423160"/>
          </a:xfrm>
          <a:prstGeom prst="roundRect">
            <a:avLst>
              <a:gd name="adj" fmla="val 3019"/>
            </a:avLst>
          </a:prstGeom>
          <a:solidFill>
            <a:srgbClr val="161B26"/>
          </a:solidFill>
          <a:ln/>
        </p:spPr>
      </p:sp>
      <p:sp>
        <p:nvSpPr>
          <p:cNvPr id="17" name="Text 15"/>
          <p:cNvSpPr/>
          <p:nvPr/>
        </p:nvSpPr>
        <p:spPr>
          <a:xfrm>
            <a:off x="1051560" y="3904488"/>
            <a:ext cx="3657600" cy="274320"/>
          </a:xfrm>
          <a:prstGeom prst="rect">
            <a:avLst/>
          </a:prstGeom>
          <a:noFill/>
          <a:ln/>
        </p:spPr>
        <p:txBody>
          <a:bodyPr wrap="square" rtlCol="0" anchor="ctr"/>
          <a:lstStyle/>
          <a:p>
            <a:pPr marL="0" indent="0">
              <a:buNone/>
            </a:pPr>
            <a:r>
              <a:rPr lang="en-US" sz="1100" b="1" kern="0" spc="200" dirty="0">
                <a:solidFill>
                  <a:srgbClr val="FDB022"/>
                </a:solidFill>
                <a:latin typeface="Calibri" pitchFamily="34" charset="0"/>
                <a:ea typeface="Calibri" pitchFamily="34" charset="-122"/>
                <a:cs typeface="Calibri" pitchFamily="34" charset="-120"/>
              </a:rPr>
              <a:t>PROJECT TEAM</a:t>
            </a:r>
            <a:endParaRPr lang="en-US" sz="1100" dirty="0"/>
          </a:p>
        </p:txBody>
      </p:sp>
      <p:sp>
        <p:nvSpPr>
          <p:cNvPr id="18" name="Text 16"/>
          <p:cNvSpPr/>
          <p:nvPr/>
        </p:nvSpPr>
        <p:spPr>
          <a:xfrm>
            <a:off x="1051560" y="4233672"/>
            <a:ext cx="6035040" cy="1828800"/>
          </a:xfrm>
          <a:prstGeom prst="rect">
            <a:avLst/>
          </a:prstGeom>
          <a:noFill/>
          <a:ln/>
        </p:spPr>
        <p:txBody>
          <a:bodyPr wrap="square" rtlCol="0" anchor="ctr"/>
          <a:lstStyle/>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Mahi Gupta · 10930622004</a:t>
            </a:r>
            <a:endParaRPr lang="en-US" sz="1350" dirty="0"/>
          </a:p>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Prajwal Prasun · 10930622005</a:t>
            </a:r>
            <a:endParaRPr lang="en-US" sz="1350" dirty="0"/>
          </a:p>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Budhdev Kumar · 10930622035</a:t>
            </a:r>
            <a:endParaRPr lang="en-US" sz="1350" dirty="0"/>
          </a:p>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Aaryan Mishra · 10930622039</a:t>
            </a:r>
            <a:endParaRPr lang="en-US" sz="1350" dirty="0"/>
          </a:p>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Shashank Shekhar · 10930622042</a:t>
            </a:r>
            <a:endParaRPr lang="en-US" sz="1350" dirty="0"/>
          </a:p>
          <a:p>
            <a:pPr marL="0" indent="0">
              <a:spcAft>
                <a:spcPts val="600"/>
              </a:spcAft>
              <a:buNone/>
            </a:pPr>
            <a:r>
              <a:rPr lang="en-US" sz="1350" dirty="0">
                <a:solidFill>
                  <a:srgbClr val="F3F6FB"/>
                </a:solidFill>
                <a:latin typeface="Calibri" pitchFamily="34" charset="0"/>
                <a:ea typeface="Calibri" pitchFamily="34" charset="-122"/>
                <a:cs typeface="Calibri" pitchFamily="34" charset="-120"/>
              </a:rPr>
              <a:t>Kusum Shaw · 10930622057</a:t>
            </a:r>
            <a:endParaRPr lang="en-US" sz="1350" dirty="0"/>
          </a:p>
        </p:txBody>
      </p:sp>
      <p:sp>
        <p:nvSpPr>
          <p:cNvPr id="19" name="Shape 17"/>
          <p:cNvSpPr/>
          <p:nvPr/>
        </p:nvSpPr>
        <p:spPr>
          <a:xfrm>
            <a:off x="7543800" y="3749040"/>
            <a:ext cx="3840480" cy="2423160"/>
          </a:xfrm>
          <a:prstGeom prst="roundRect">
            <a:avLst>
              <a:gd name="adj" fmla="val 3019"/>
            </a:avLst>
          </a:prstGeom>
          <a:solidFill>
            <a:srgbClr val="1E2530"/>
          </a:solidFill>
          <a:ln/>
        </p:spPr>
      </p:sp>
      <p:sp>
        <p:nvSpPr>
          <p:cNvPr id="20" name="Text 18"/>
          <p:cNvSpPr/>
          <p:nvPr/>
        </p:nvSpPr>
        <p:spPr>
          <a:xfrm>
            <a:off x="7818120" y="3931920"/>
            <a:ext cx="3337560" cy="2103120"/>
          </a:xfrm>
          <a:prstGeom prst="rect">
            <a:avLst/>
          </a:prstGeom>
          <a:noFill/>
          <a:ln/>
        </p:spPr>
        <p:txBody>
          <a:bodyPr wrap="square" rtlCol="0" anchor="t"/>
          <a:lstStyle/>
          <a:p>
            <a:pPr marL="0" indent="0">
              <a:buNone/>
            </a:pPr>
            <a:r>
              <a:rPr lang="en-US" sz="1100" dirty="0">
                <a:solidFill>
                  <a:srgbClr val="8B93A7"/>
                </a:solidFill>
                <a:latin typeface="Calibri" pitchFamily="34" charset="0"/>
                <a:ea typeface="Calibri" pitchFamily="34" charset="-122"/>
                <a:cs typeface="Calibri" pitchFamily="34" charset="-120"/>
              </a:rPr>
              <a:t>Guide
</a:t>
            </a:r>
            <a:endParaRPr lang="en-US" sz="1100" dirty="0"/>
          </a:p>
          <a:p>
            <a:pPr marL="0" indent="0">
              <a:buNone/>
            </a:pPr>
            <a:r>
              <a:rPr lang="en-US" sz="1350" b="1" dirty="0">
                <a:solidFill>
                  <a:srgbClr val="F3F6FB"/>
                </a:solidFill>
                <a:latin typeface="Calibri" pitchFamily="34" charset="0"/>
                <a:ea typeface="Calibri" pitchFamily="34" charset="-122"/>
                <a:cs typeface="Calibri" pitchFamily="34" charset="-120"/>
              </a:rPr>
              <a:t>Prof. Kallol Bhattacharya
</a:t>
            </a:r>
            <a:endParaRPr lang="en-US" sz="1100" dirty="0"/>
          </a:p>
          <a:p>
            <a:pPr marL="0" indent="0">
              <a:buNone/>
            </a:pPr>
            <a:r>
              <a:rPr lang="en-US" sz="1100" dirty="0">
                <a:solidFill>
                  <a:srgbClr val="8B93A7"/>
                </a:solidFill>
                <a:latin typeface="Calibri" pitchFamily="34" charset="0"/>
                <a:ea typeface="Calibri" pitchFamily="34" charset="-122"/>
                <a:cs typeface="Calibri" pitchFamily="34" charset="-120"/>
              </a:rPr>
              <a:t>Department
</a:t>
            </a:r>
            <a:endParaRPr lang="en-US" sz="1100" dirty="0"/>
          </a:p>
          <a:p>
            <a:pPr marL="0" indent="0">
              <a:buNone/>
            </a:pPr>
            <a:r>
              <a:rPr lang="en-US" sz="1350" b="1" dirty="0">
                <a:solidFill>
                  <a:srgbClr val="F3F6FB"/>
                </a:solidFill>
                <a:latin typeface="Calibri" pitchFamily="34" charset="0"/>
                <a:ea typeface="Calibri" pitchFamily="34" charset="-122"/>
                <a:cs typeface="Calibri" pitchFamily="34" charset="-120"/>
              </a:rPr>
              <a:t>AI &amp; Machine Learning
</a:t>
            </a:r>
            <a:endParaRPr lang="en-US" sz="1100" dirty="0"/>
          </a:p>
          <a:p>
            <a:pPr marL="0" indent="0">
              <a:buNone/>
            </a:pPr>
            <a:r>
              <a:rPr lang="en-US" sz="1100" dirty="0">
                <a:solidFill>
                  <a:srgbClr val="8B93A7"/>
                </a:solidFill>
                <a:latin typeface="Calibri" pitchFamily="34" charset="0"/>
                <a:ea typeface="Calibri" pitchFamily="34" charset="-122"/>
                <a:cs typeface="Calibri" pitchFamily="34" charset="-120"/>
              </a:rPr>
              <a:t>Netaji Subhash Engineering College · MAKAUT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Introducing LogGuard AI</a:t>
            </a:r>
            <a:endParaRPr lang="en-US" sz="2900" dirty="0"/>
          </a:p>
        </p:txBody>
      </p:sp>
      <p:sp>
        <p:nvSpPr>
          <p:cNvPr id="4" name="Text 2"/>
          <p:cNvSpPr/>
          <p:nvPr/>
        </p:nvSpPr>
        <p:spPr>
          <a:xfrm>
            <a:off x="548640" y="1417320"/>
            <a:ext cx="10881360" cy="1051560"/>
          </a:xfrm>
          <a:prstGeom prst="rect">
            <a:avLst/>
          </a:prstGeom>
          <a:noFill/>
          <a:ln/>
        </p:spPr>
        <p:txBody>
          <a:bodyPr wrap="square" rtlCol="0" anchor="ctr"/>
          <a:lstStyle/>
          <a:p>
            <a:pPr marL="0" indent="0">
              <a:buNone/>
            </a:pPr>
            <a:r>
              <a:rPr lang="en-US" sz="1260" dirty="0">
                <a:solidFill>
                  <a:srgbClr val="8B93A7"/>
                </a:solidFill>
                <a:latin typeface="Calibri" pitchFamily="34" charset="0"/>
                <a:ea typeface="Calibri" pitchFamily="34" charset="-122"/>
                <a:cs typeface="Calibri" pitchFamily="34" charset="-120"/>
              </a:rPr>
              <a:t>LogGuard AI is an intelligent, AI-powered log analysis and DevOps assistance platform built to simplify system monitoring by automatically detecting anomalies in server log files and translating them into clear, actionable insight. As modern distributed applications generate massive volumes of log data, manual inspection becomes slow, inconsistent, and error-prone — LogGuard AI closes that gap by pairing a hybrid machine learning pipeline with generative AI to explain failures in plain language and recommend concrete remediation steps, turning hours of manual triage into seconds of automated diagnosis.</a:t>
            </a:r>
            <a:endParaRPr lang="en-US" sz="1260" dirty="0"/>
          </a:p>
        </p:txBody>
      </p:sp>
      <p:sp>
        <p:nvSpPr>
          <p:cNvPr id="5" name="Shape 3"/>
          <p:cNvSpPr/>
          <p:nvPr/>
        </p:nvSpPr>
        <p:spPr>
          <a:xfrm>
            <a:off x="548640" y="2542032"/>
            <a:ext cx="11064240" cy="0"/>
          </a:xfrm>
          <a:prstGeom prst="line">
            <a:avLst/>
          </a:prstGeom>
          <a:noFill/>
          <a:ln w="12700">
            <a:solidFill>
              <a:srgbClr val="232B3A"/>
            </a:solidFill>
            <a:prstDash val="solid"/>
          </a:ln>
        </p:spPr>
      </p:sp>
      <p:sp>
        <p:nvSpPr>
          <p:cNvPr id="6" name="Text 4"/>
          <p:cNvSpPr/>
          <p:nvPr/>
        </p:nvSpPr>
        <p:spPr>
          <a:xfrm>
            <a:off x="548640" y="2670048"/>
            <a:ext cx="5486400" cy="292608"/>
          </a:xfrm>
          <a:prstGeom prst="rect">
            <a:avLst/>
          </a:prstGeom>
          <a:noFill/>
          <a:ln/>
        </p:spPr>
        <p:txBody>
          <a:bodyPr wrap="square" rtlCol="0" anchor="ctr"/>
          <a:lstStyle/>
          <a:p>
            <a:pPr marL="0" indent="0">
              <a:buNone/>
            </a:pPr>
            <a:r>
              <a:rPr lang="en-US" sz="1200" b="1" kern="0" spc="200" dirty="0">
                <a:solidFill>
                  <a:srgbClr val="FDB022"/>
                </a:solidFill>
                <a:latin typeface="Calibri" pitchFamily="34" charset="0"/>
                <a:ea typeface="Calibri" pitchFamily="34" charset="-122"/>
                <a:cs typeface="Calibri" pitchFamily="34" charset="-120"/>
              </a:rPr>
              <a:t>PROJECT WORKFLOW</a:t>
            </a:r>
            <a:endParaRPr lang="en-US" sz="1200" dirty="0"/>
          </a:p>
        </p:txBody>
      </p:sp>
      <p:sp>
        <p:nvSpPr>
          <p:cNvPr id="7" name="Shape 5"/>
          <p:cNvSpPr/>
          <p:nvPr/>
        </p:nvSpPr>
        <p:spPr>
          <a:xfrm>
            <a:off x="548640" y="3017520"/>
            <a:ext cx="11064240" cy="566928"/>
          </a:xfrm>
          <a:prstGeom prst="roundRect">
            <a:avLst>
              <a:gd name="adj" fmla="val 9677"/>
            </a:avLst>
          </a:prstGeom>
          <a:solidFill>
            <a:srgbClr val="161B26"/>
          </a:solidFill>
          <a:ln w="9525">
            <a:solidFill>
              <a:srgbClr val="232B3A"/>
            </a:solidFill>
            <a:prstDash val="solid"/>
          </a:ln>
        </p:spPr>
      </p:sp>
      <p:sp>
        <p:nvSpPr>
          <p:cNvPr id="8" name="Shape 6"/>
          <p:cNvSpPr/>
          <p:nvPr/>
        </p:nvSpPr>
        <p:spPr>
          <a:xfrm>
            <a:off x="749808" y="3118104"/>
            <a:ext cx="365760" cy="365760"/>
          </a:xfrm>
          <a:prstGeom prst="ellipse">
            <a:avLst/>
          </a:prstGeom>
          <a:solidFill>
            <a:srgbClr val="FDB022"/>
          </a:solidFill>
          <a:ln/>
        </p:spPr>
      </p:sp>
      <p:sp>
        <p:nvSpPr>
          <p:cNvPr id="9" name="Text 7"/>
          <p:cNvSpPr/>
          <p:nvPr/>
        </p:nvSpPr>
        <p:spPr>
          <a:xfrm>
            <a:off x="749808" y="3118104"/>
            <a:ext cx="365760" cy="365760"/>
          </a:xfrm>
          <a:prstGeom prst="rect">
            <a:avLst/>
          </a:prstGeom>
          <a:noFill/>
          <a:ln/>
        </p:spPr>
        <p:txBody>
          <a:bodyPr wrap="square" rtlCol="0" anchor="ctr"/>
          <a:lstStyle/>
          <a:p>
            <a:pPr marL="0" indent="0" algn="ctr">
              <a:buNone/>
            </a:pPr>
            <a:r>
              <a:rPr lang="en-US" sz="1040" b="1" dirty="0">
                <a:solidFill>
                  <a:srgbClr val="0D1117"/>
                </a:solidFill>
                <a:latin typeface="Arial" pitchFamily="34" charset="0"/>
                <a:ea typeface="Arial" pitchFamily="34" charset="-122"/>
                <a:cs typeface="Arial" pitchFamily="34" charset="-120"/>
              </a:rPr>
              <a:t>1</a:t>
            </a:r>
            <a:endParaRPr lang="en-US" sz="1040" dirty="0"/>
          </a:p>
        </p:txBody>
      </p:sp>
      <p:sp>
        <p:nvSpPr>
          <p:cNvPr id="10" name="Text 8"/>
          <p:cNvSpPr/>
          <p:nvPr/>
        </p:nvSpPr>
        <p:spPr>
          <a:xfrm>
            <a:off x="1298448" y="3099816"/>
            <a:ext cx="2331720" cy="402336"/>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Log Upload</a:t>
            </a:r>
            <a:endParaRPr lang="en-US" sz="1300" dirty="0"/>
          </a:p>
        </p:txBody>
      </p:sp>
      <p:sp>
        <p:nvSpPr>
          <p:cNvPr id="11" name="Text 9"/>
          <p:cNvSpPr/>
          <p:nvPr/>
        </p:nvSpPr>
        <p:spPr>
          <a:xfrm>
            <a:off x="3749040" y="3072384"/>
            <a:ext cx="7680960" cy="45720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A React drag-and-drop dashboard accepts Linux syslogs, HDFS logs, and SSH logs, kicking off the FastAPI /predict pipeline.</a:t>
            </a:r>
            <a:endParaRPr lang="en-US" sz="1030" dirty="0"/>
          </a:p>
        </p:txBody>
      </p:sp>
      <p:sp>
        <p:nvSpPr>
          <p:cNvPr id="12" name="Shape 10"/>
          <p:cNvSpPr/>
          <p:nvPr/>
        </p:nvSpPr>
        <p:spPr>
          <a:xfrm>
            <a:off x="548640" y="3657600"/>
            <a:ext cx="11064240" cy="566928"/>
          </a:xfrm>
          <a:prstGeom prst="roundRect">
            <a:avLst>
              <a:gd name="adj" fmla="val 9677"/>
            </a:avLst>
          </a:prstGeom>
          <a:solidFill>
            <a:srgbClr val="1E2530"/>
          </a:solidFill>
          <a:ln w="9525">
            <a:solidFill>
              <a:srgbClr val="232B3A"/>
            </a:solidFill>
            <a:prstDash val="solid"/>
          </a:ln>
        </p:spPr>
      </p:sp>
      <p:sp>
        <p:nvSpPr>
          <p:cNvPr id="13" name="Shape 11"/>
          <p:cNvSpPr/>
          <p:nvPr/>
        </p:nvSpPr>
        <p:spPr>
          <a:xfrm>
            <a:off x="749808" y="3758184"/>
            <a:ext cx="365760" cy="365760"/>
          </a:xfrm>
          <a:prstGeom prst="ellipse">
            <a:avLst/>
          </a:prstGeom>
          <a:solidFill>
            <a:srgbClr val="FDB022"/>
          </a:solidFill>
          <a:ln/>
        </p:spPr>
      </p:sp>
      <p:sp>
        <p:nvSpPr>
          <p:cNvPr id="14" name="Text 12"/>
          <p:cNvSpPr/>
          <p:nvPr/>
        </p:nvSpPr>
        <p:spPr>
          <a:xfrm>
            <a:off x="749808" y="3758184"/>
            <a:ext cx="365760" cy="365760"/>
          </a:xfrm>
          <a:prstGeom prst="rect">
            <a:avLst/>
          </a:prstGeom>
          <a:noFill/>
          <a:ln/>
        </p:spPr>
        <p:txBody>
          <a:bodyPr wrap="square" rtlCol="0" anchor="ctr"/>
          <a:lstStyle/>
          <a:p>
            <a:pPr marL="0" indent="0" algn="ctr">
              <a:buNone/>
            </a:pPr>
            <a:r>
              <a:rPr lang="en-US" sz="1040" b="1" dirty="0">
                <a:solidFill>
                  <a:srgbClr val="0D1117"/>
                </a:solidFill>
                <a:latin typeface="Arial" pitchFamily="34" charset="0"/>
                <a:ea typeface="Arial" pitchFamily="34" charset="-122"/>
                <a:cs typeface="Arial" pitchFamily="34" charset="-120"/>
              </a:rPr>
              <a:t>2</a:t>
            </a:r>
            <a:endParaRPr lang="en-US" sz="1040" dirty="0"/>
          </a:p>
        </p:txBody>
      </p:sp>
      <p:sp>
        <p:nvSpPr>
          <p:cNvPr id="15" name="Text 13"/>
          <p:cNvSpPr/>
          <p:nvPr/>
        </p:nvSpPr>
        <p:spPr>
          <a:xfrm>
            <a:off x="1298448" y="3739896"/>
            <a:ext cx="2331720" cy="402336"/>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Processing</a:t>
            </a:r>
            <a:endParaRPr lang="en-US" sz="1300" dirty="0"/>
          </a:p>
        </p:txBody>
      </p:sp>
      <p:sp>
        <p:nvSpPr>
          <p:cNvPr id="16" name="Text 14"/>
          <p:cNvSpPr/>
          <p:nvPr/>
        </p:nvSpPr>
        <p:spPr>
          <a:xfrm>
            <a:off x="3749040" y="3712464"/>
            <a:ext cx="7680960" cy="45720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The FastAPI backend validates the file, then parses it and extracts numeric features (errors, CPU, disk mentions) via regex before scaling them.</a:t>
            </a:r>
            <a:endParaRPr lang="en-US" sz="1030" dirty="0"/>
          </a:p>
        </p:txBody>
      </p:sp>
      <p:sp>
        <p:nvSpPr>
          <p:cNvPr id="17" name="Shape 15"/>
          <p:cNvSpPr/>
          <p:nvPr/>
        </p:nvSpPr>
        <p:spPr>
          <a:xfrm>
            <a:off x="548640" y="4297680"/>
            <a:ext cx="11064240" cy="566928"/>
          </a:xfrm>
          <a:prstGeom prst="roundRect">
            <a:avLst>
              <a:gd name="adj" fmla="val 9677"/>
            </a:avLst>
          </a:prstGeom>
          <a:solidFill>
            <a:srgbClr val="161B26"/>
          </a:solidFill>
          <a:ln w="9525">
            <a:solidFill>
              <a:srgbClr val="232B3A"/>
            </a:solidFill>
            <a:prstDash val="solid"/>
          </a:ln>
        </p:spPr>
      </p:sp>
      <p:sp>
        <p:nvSpPr>
          <p:cNvPr id="18" name="Shape 16"/>
          <p:cNvSpPr/>
          <p:nvPr/>
        </p:nvSpPr>
        <p:spPr>
          <a:xfrm>
            <a:off x="749808" y="4398264"/>
            <a:ext cx="365760" cy="365760"/>
          </a:xfrm>
          <a:prstGeom prst="ellipse">
            <a:avLst/>
          </a:prstGeom>
          <a:solidFill>
            <a:srgbClr val="FDB022"/>
          </a:solidFill>
          <a:ln/>
        </p:spPr>
      </p:sp>
      <p:sp>
        <p:nvSpPr>
          <p:cNvPr id="19" name="Text 17"/>
          <p:cNvSpPr/>
          <p:nvPr/>
        </p:nvSpPr>
        <p:spPr>
          <a:xfrm>
            <a:off x="749808" y="4398264"/>
            <a:ext cx="365760" cy="365760"/>
          </a:xfrm>
          <a:prstGeom prst="rect">
            <a:avLst/>
          </a:prstGeom>
          <a:noFill/>
          <a:ln/>
        </p:spPr>
        <p:txBody>
          <a:bodyPr wrap="square" rtlCol="0" anchor="ctr"/>
          <a:lstStyle/>
          <a:p>
            <a:pPr marL="0" indent="0" algn="ctr">
              <a:buNone/>
            </a:pPr>
            <a:r>
              <a:rPr lang="en-US" sz="1040" b="1" dirty="0">
                <a:solidFill>
                  <a:srgbClr val="0D1117"/>
                </a:solidFill>
                <a:latin typeface="Arial" pitchFamily="34" charset="0"/>
                <a:ea typeface="Arial" pitchFamily="34" charset="-122"/>
                <a:cs typeface="Arial" pitchFamily="34" charset="-120"/>
              </a:rPr>
              <a:t>3</a:t>
            </a:r>
            <a:endParaRPr lang="en-US" sz="1040" dirty="0"/>
          </a:p>
        </p:txBody>
      </p:sp>
      <p:sp>
        <p:nvSpPr>
          <p:cNvPr id="20" name="Text 18"/>
          <p:cNvSpPr/>
          <p:nvPr/>
        </p:nvSpPr>
        <p:spPr>
          <a:xfrm>
            <a:off x="1298448" y="4379976"/>
            <a:ext cx="2331720" cy="402336"/>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ML Models</a:t>
            </a:r>
            <a:endParaRPr lang="en-US" sz="1300" dirty="0"/>
          </a:p>
        </p:txBody>
      </p:sp>
      <p:sp>
        <p:nvSpPr>
          <p:cNvPr id="21" name="Text 19"/>
          <p:cNvSpPr/>
          <p:nvPr/>
        </p:nvSpPr>
        <p:spPr>
          <a:xfrm>
            <a:off x="3749040" y="4352544"/>
            <a:ext cx="7680960" cy="45720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An LSTM Autoencoder computes reconstruction error for unsupervised sequence analysis, while a Random Forest Classifier scores labelled HDFS features.</a:t>
            </a:r>
            <a:endParaRPr lang="en-US" sz="1030" dirty="0"/>
          </a:p>
        </p:txBody>
      </p:sp>
      <p:sp>
        <p:nvSpPr>
          <p:cNvPr id="22" name="Shape 20"/>
          <p:cNvSpPr/>
          <p:nvPr/>
        </p:nvSpPr>
        <p:spPr>
          <a:xfrm>
            <a:off x="548640" y="4937760"/>
            <a:ext cx="11064240" cy="566928"/>
          </a:xfrm>
          <a:prstGeom prst="roundRect">
            <a:avLst>
              <a:gd name="adj" fmla="val 9677"/>
            </a:avLst>
          </a:prstGeom>
          <a:solidFill>
            <a:srgbClr val="1E2530"/>
          </a:solidFill>
          <a:ln w="9525">
            <a:solidFill>
              <a:srgbClr val="232B3A"/>
            </a:solidFill>
            <a:prstDash val="solid"/>
          </a:ln>
        </p:spPr>
      </p:sp>
      <p:sp>
        <p:nvSpPr>
          <p:cNvPr id="23" name="Shape 21"/>
          <p:cNvSpPr/>
          <p:nvPr/>
        </p:nvSpPr>
        <p:spPr>
          <a:xfrm>
            <a:off x="749808" y="5038344"/>
            <a:ext cx="365760" cy="365760"/>
          </a:xfrm>
          <a:prstGeom prst="ellipse">
            <a:avLst/>
          </a:prstGeom>
          <a:solidFill>
            <a:srgbClr val="FDB022"/>
          </a:solidFill>
          <a:ln/>
        </p:spPr>
      </p:sp>
      <p:sp>
        <p:nvSpPr>
          <p:cNvPr id="24" name="Text 22"/>
          <p:cNvSpPr/>
          <p:nvPr/>
        </p:nvSpPr>
        <p:spPr>
          <a:xfrm>
            <a:off x="749808" y="5038344"/>
            <a:ext cx="365760" cy="365760"/>
          </a:xfrm>
          <a:prstGeom prst="rect">
            <a:avLst/>
          </a:prstGeom>
          <a:noFill/>
          <a:ln/>
        </p:spPr>
        <p:txBody>
          <a:bodyPr wrap="square" rtlCol="0" anchor="ctr"/>
          <a:lstStyle/>
          <a:p>
            <a:pPr marL="0" indent="0" algn="ctr">
              <a:buNone/>
            </a:pPr>
            <a:r>
              <a:rPr lang="en-US" sz="1040" b="1" dirty="0">
                <a:solidFill>
                  <a:srgbClr val="0D1117"/>
                </a:solidFill>
                <a:latin typeface="Arial" pitchFamily="34" charset="0"/>
                <a:ea typeface="Arial" pitchFamily="34" charset="-122"/>
                <a:cs typeface="Arial" pitchFamily="34" charset="-120"/>
              </a:rPr>
              <a:t>4</a:t>
            </a:r>
            <a:endParaRPr lang="en-US" sz="1040" dirty="0"/>
          </a:p>
        </p:txBody>
      </p:sp>
      <p:sp>
        <p:nvSpPr>
          <p:cNvPr id="25" name="Text 23"/>
          <p:cNvSpPr/>
          <p:nvPr/>
        </p:nvSpPr>
        <p:spPr>
          <a:xfrm>
            <a:off x="1298448" y="5020056"/>
            <a:ext cx="2331720" cy="402336"/>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AI Insight Service</a:t>
            </a:r>
            <a:endParaRPr lang="en-US" sz="1300" dirty="0"/>
          </a:p>
        </p:txBody>
      </p:sp>
      <p:sp>
        <p:nvSpPr>
          <p:cNvPr id="26" name="Text 24"/>
          <p:cNvSpPr/>
          <p:nvPr/>
        </p:nvSpPr>
        <p:spPr>
          <a:xfrm>
            <a:off x="3749040" y="4992624"/>
            <a:ext cx="7680960" cy="45720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FastAPI's /ai routes call Gemini 2.5 Flash and Groq to generate root-cause diagnostics, severity ratings, and remediation scripts for flagged anomalies.</a:t>
            </a:r>
            <a:endParaRPr lang="en-US" sz="1030" dirty="0"/>
          </a:p>
        </p:txBody>
      </p:sp>
      <p:sp>
        <p:nvSpPr>
          <p:cNvPr id="27" name="Shape 25"/>
          <p:cNvSpPr/>
          <p:nvPr/>
        </p:nvSpPr>
        <p:spPr>
          <a:xfrm>
            <a:off x="548640" y="5577840"/>
            <a:ext cx="11064240" cy="566928"/>
          </a:xfrm>
          <a:prstGeom prst="roundRect">
            <a:avLst>
              <a:gd name="adj" fmla="val 9677"/>
            </a:avLst>
          </a:prstGeom>
          <a:solidFill>
            <a:srgbClr val="161B26"/>
          </a:solidFill>
          <a:ln w="9525">
            <a:solidFill>
              <a:srgbClr val="232B3A"/>
            </a:solidFill>
            <a:prstDash val="solid"/>
          </a:ln>
        </p:spPr>
      </p:sp>
      <p:sp>
        <p:nvSpPr>
          <p:cNvPr id="28" name="Shape 26"/>
          <p:cNvSpPr/>
          <p:nvPr/>
        </p:nvSpPr>
        <p:spPr>
          <a:xfrm>
            <a:off x="749808" y="5678424"/>
            <a:ext cx="365760" cy="365760"/>
          </a:xfrm>
          <a:prstGeom prst="ellipse">
            <a:avLst/>
          </a:prstGeom>
          <a:solidFill>
            <a:srgbClr val="FDB022"/>
          </a:solidFill>
          <a:ln/>
        </p:spPr>
      </p:sp>
      <p:sp>
        <p:nvSpPr>
          <p:cNvPr id="29" name="Text 27"/>
          <p:cNvSpPr/>
          <p:nvPr/>
        </p:nvSpPr>
        <p:spPr>
          <a:xfrm>
            <a:off x="749808" y="5678424"/>
            <a:ext cx="365760" cy="365760"/>
          </a:xfrm>
          <a:prstGeom prst="rect">
            <a:avLst/>
          </a:prstGeom>
          <a:noFill/>
          <a:ln/>
        </p:spPr>
        <p:txBody>
          <a:bodyPr wrap="square" rtlCol="0" anchor="ctr"/>
          <a:lstStyle/>
          <a:p>
            <a:pPr marL="0" indent="0" algn="ctr">
              <a:buNone/>
            </a:pPr>
            <a:r>
              <a:rPr lang="en-US" sz="1040" b="1" dirty="0">
                <a:solidFill>
                  <a:srgbClr val="0D1117"/>
                </a:solidFill>
                <a:latin typeface="Arial" pitchFamily="34" charset="0"/>
                <a:ea typeface="Arial" pitchFamily="34" charset="-122"/>
                <a:cs typeface="Arial" pitchFamily="34" charset="-120"/>
              </a:rPr>
              <a:t>5</a:t>
            </a:r>
            <a:endParaRPr lang="en-US" sz="1040" dirty="0"/>
          </a:p>
        </p:txBody>
      </p:sp>
      <p:sp>
        <p:nvSpPr>
          <p:cNvPr id="30" name="Text 28"/>
          <p:cNvSpPr/>
          <p:nvPr/>
        </p:nvSpPr>
        <p:spPr>
          <a:xfrm>
            <a:off x="1298448" y="5660136"/>
            <a:ext cx="2331720" cy="402336"/>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Output Dashboard</a:t>
            </a:r>
            <a:endParaRPr lang="en-US" sz="1300" dirty="0"/>
          </a:p>
        </p:txBody>
      </p:sp>
      <p:sp>
        <p:nvSpPr>
          <p:cNvPr id="31" name="Text 29"/>
          <p:cNvSpPr/>
          <p:nvPr/>
        </p:nvSpPr>
        <p:spPr>
          <a:xfrm>
            <a:off x="3749040" y="5632704"/>
            <a:ext cx="7680960" cy="45720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The React dashboard renders the anomaly card, service graph, and log flow reconstruction, letting engineers detect and act in seconds.</a:t>
            </a:r>
            <a:endParaRPr lang="en-US" sz="1030" dirty="0"/>
          </a:p>
        </p:txBody>
      </p:sp>
      <p:sp>
        <p:nvSpPr>
          <p:cNvPr id="32" name="Text 3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PROJECT OBJECTIVES</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What LogGuard AI Sets Out To Do</a:t>
            </a:r>
            <a:endParaRPr lang="en-US" sz="2900" dirty="0"/>
          </a:p>
        </p:txBody>
      </p:sp>
      <p:sp>
        <p:nvSpPr>
          <p:cNvPr id="4" name="Text 2"/>
          <p:cNvSpPr/>
          <p:nvPr/>
        </p:nvSpPr>
        <p:spPr>
          <a:xfrm>
            <a:off x="548640" y="1417320"/>
            <a:ext cx="10789920" cy="365760"/>
          </a:xfrm>
          <a:prstGeom prst="rect">
            <a:avLst/>
          </a:prstGeom>
          <a:noFill/>
          <a:ln/>
        </p:spPr>
        <p:txBody>
          <a:bodyPr wrap="square" rtlCol="0" anchor="ctr"/>
          <a:lstStyle/>
          <a:p>
            <a:pPr marL="0" indent="0">
              <a:buNone/>
            </a:pPr>
            <a:r>
              <a:rPr lang="en-US" sz="1250" dirty="0">
                <a:solidFill>
                  <a:srgbClr val="8B93A7"/>
                </a:solidFill>
                <a:latin typeface="Calibri" pitchFamily="34" charset="0"/>
                <a:ea typeface="Calibri" pitchFamily="34" charset="-122"/>
                <a:cs typeface="Calibri" pitchFamily="34" charset="-120"/>
              </a:rPr>
              <a:t>Six concrete engineering goals shaped every design decision in this project, from model choice to dashboard layout.</a:t>
            </a:r>
            <a:endParaRPr lang="en-US" sz="1250" dirty="0"/>
          </a:p>
        </p:txBody>
      </p:sp>
      <p:sp>
        <p:nvSpPr>
          <p:cNvPr id="5" name="Shape 3"/>
          <p:cNvSpPr/>
          <p:nvPr/>
        </p:nvSpPr>
        <p:spPr>
          <a:xfrm>
            <a:off x="548640" y="1965960"/>
            <a:ext cx="3520440" cy="1965960"/>
          </a:xfrm>
          <a:prstGeom prst="roundRect">
            <a:avLst>
              <a:gd name="adj" fmla="val 3721"/>
            </a:avLst>
          </a:prstGeom>
          <a:solidFill>
            <a:srgbClr val="161B26"/>
          </a:solidFill>
          <a:ln/>
        </p:spPr>
      </p:sp>
      <p:sp>
        <p:nvSpPr>
          <p:cNvPr id="6" name="Shape 4"/>
          <p:cNvSpPr/>
          <p:nvPr/>
        </p:nvSpPr>
        <p:spPr>
          <a:xfrm>
            <a:off x="777240" y="2194560"/>
            <a:ext cx="457200" cy="457200"/>
          </a:xfrm>
          <a:prstGeom prst="ellipse">
            <a:avLst/>
          </a:prstGeom>
          <a:solidFill>
            <a:srgbClr val="FDB022"/>
          </a:solidFill>
          <a:ln/>
        </p:spPr>
      </p:sp>
      <p:sp>
        <p:nvSpPr>
          <p:cNvPr id="7" name="Text 5"/>
          <p:cNvSpPr/>
          <p:nvPr/>
        </p:nvSpPr>
        <p:spPr>
          <a:xfrm>
            <a:off x="777240" y="219456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777240" y="278892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Automate Detection</a:t>
            </a:r>
            <a:endParaRPr lang="en-US" sz="1500" dirty="0"/>
          </a:p>
        </p:txBody>
      </p:sp>
      <p:sp>
        <p:nvSpPr>
          <p:cNvPr id="9" name="Text 7"/>
          <p:cNvSpPr/>
          <p:nvPr/>
        </p:nvSpPr>
        <p:spPr>
          <a:xfrm>
            <a:off x="777240" y="315468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Flag anomalies in Linux and HDFS logs automatically, removing the need for line-by-line manual inspection.</a:t>
            </a:r>
            <a:endParaRPr lang="en-US" sz="1080" dirty="0"/>
          </a:p>
        </p:txBody>
      </p:sp>
      <p:sp>
        <p:nvSpPr>
          <p:cNvPr id="10" name="Shape 8"/>
          <p:cNvSpPr/>
          <p:nvPr/>
        </p:nvSpPr>
        <p:spPr>
          <a:xfrm>
            <a:off x="4251960" y="1965960"/>
            <a:ext cx="3520440" cy="1965960"/>
          </a:xfrm>
          <a:prstGeom prst="roundRect">
            <a:avLst>
              <a:gd name="adj" fmla="val 3721"/>
            </a:avLst>
          </a:prstGeom>
          <a:solidFill>
            <a:srgbClr val="161B26"/>
          </a:solidFill>
          <a:ln/>
        </p:spPr>
      </p:sp>
      <p:sp>
        <p:nvSpPr>
          <p:cNvPr id="11" name="Shape 9"/>
          <p:cNvSpPr/>
          <p:nvPr/>
        </p:nvSpPr>
        <p:spPr>
          <a:xfrm>
            <a:off x="4480560" y="2194560"/>
            <a:ext cx="457200" cy="457200"/>
          </a:xfrm>
          <a:prstGeom prst="ellipse">
            <a:avLst/>
          </a:prstGeom>
          <a:solidFill>
            <a:srgbClr val="4CC9F0"/>
          </a:solidFill>
          <a:ln/>
        </p:spPr>
      </p:sp>
      <p:sp>
        <p:nvSpPr>
          <p:cNvPr id="12" name="Text 10"/>
          <p:cNvSpPr/>
          <p:nvPr/>
        </p:nvSpPr>
        <p:spPr>
          <a:xfrm>
            <a:off x="4480560" y="219456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4480560" y="278892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Explain, Don't Just Alert</a:t>
            </a:r>
            <a:endParaRPr lang="en-US" sz="1500" dirty="0"/>
          </a:p>
        </p:txBody>
      </p:sp>
      <p:sp>
        <p:nvSpPr>
          <p:cNvPr id="14" name="Text 12"/>
          <p:cNvSpPr/>
          <p:nvPr/>
        </p:nvSpPr>
        <p:spPr>
          <a:xfrm>
            <a:off x="4480560" y="315468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Use an LLM to translate a raw statistical anomaly into a plain-language root-cause narrative anyone can act on.</a:t>
            </a:r>
            <a:endParaRPr lang="en-US" sz="1080" dirty="0"/>
          </a:p>
        </p:txBody>
      </p:sp>
      <p:sp>
        <p:nvSpPr>
          <p:cNvPr id="15" name="Shape 13"/>
          <p:cNvSpPr/>
          <p:nvPr/>
        </p:nvSpPr>
        <p:spPr>
          <a:xfrm>
            <a:off x="7955280" y="1965960"/>
            <a:ext cx="3520440" cy="1965960"/>
          </a:xfrm>
          <a:prstGeom prst="roundRect">
            <a:avLst>
              <a:gd name="adj" fmla="val 3721"/>
            </a:avLst>
          </a:prstGeom>
          <a:solidFill>
            <a:srgbClr val="161B26"/>
          </a:solidFill>
          <a:ln/>
        </p:spPr>
      </p:sp>
      <p:sp>
        <p:nvSpPr>
          <p:cNvPr id="16" name="Shape 14"/>
          <p:cNvSpPr/>
          <p:nvPr/>
        </p:nvSpPr>
        <p:spPr>
          <a:xfrm>
            <a:off x="8183880" y="2194560"/>
            <a:ext cx="457200" cy="457200"/>
          </a:xfrm>
          <a:prstGeom prst="ellipse">
            <a:avLst/>
          </a:prstGeom>
          <a:solidFill>
            <a:srgbClr val="FDB022"/>
          </a:solidFill>
          <a:ln/>
        </p:spPr>
      </p:sp>
      <p:sp>
        <p:nvSpPr>
          <p:cNvPr id="17" name="Text 15"/>
          <p:cNvSpPr/>
          <p:nvPr/>
        </p:nvSpPr>
        <p:spPr>
          <a:xfrm>
            <a:off x="8183880" y="219456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8183880" y="278892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Detect the Unknown</a:t>
            </a:r>
            <a:endParaRPr lang="en-US" sz="1500" dirty="0"/>
          </a:p>
        </p:txBody>
      </p:sp>
      <p:sp>
        <p:nvSpPr>
          <p:cNvPr id="19" name="Text 17"/>
          <p:cNvSpPr/>
          <p:nvPr/>
        </p:nvSpPr>
        <p:spPr>
          <a:xfrm>
            <a:off x="8183880" y="315468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Combine supervised classification with unsupervised sequence learning so genuinely novel failure patterns are still caught.</a:t>
            </a:r>
            <a:endParaRPr lang="en-US" sz="1080" dirty="0"/>
          </a:p>
        </p:txBody>
      </p:sp>
      <p:sp>
        <p:nvSpPr>
          <p:cNvPr id="20" name="Shape 18"/>
          <p:cNvSpPr/>
          <p:nvPr/>
        </p:nvSpPr>
        <p:spPr>
          <a:xfrm>
            <a:off x="548640" y="4160520"/>
            <a:ext cx="3520440" cy="1965960"/>
          </a:xfrm>
          <a:prstGeom prst="roundRect">
            <a:avLst>
              <a:gd name="adj" fmla="val 3721"/>
            </a:avLst>
          </a:prstGeom>
          <a:solidFill>
            <a:srgbClr val="161B26"/>
          </a:solidFill>
          <a:ln/>
        </p:spPr>
      </p:sp>
      <p:sp>
        <p:nvSpPr>
          <p:cNvPr id="21" name="Shape 19"/>
          <p:cNvSpPr/>
          <p:nvPr/>
        </p:nvSpPr>
        <p:spPr>
          <a:xfrm>
            <a:off x="777240" y="4389120"/>
            <a:ext cx="457200" cy="457200"/>
          </a:xfrm>
          <a:prstGeom prst="ellipse">
            <a:avLst/>
          </a:prstGeom>
          <a:solidFill>
            <a:srgbClr val="4CC9F0"/>
          </a:solidFill>
          <a:ln/>
        </p:spPr>
      </p:sp>
      <p:sp>
        <p:nvSpPr>
          <p:cNvPr id="22" name="Text 20"/>
          <p:cNvSpPr/>
          <p:nvPr/>
        </p:nvSpPr>
        <p:spPr>
          <a:xfrm>
            <a:off x="777240" y="438912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777240" y="498348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Guide Remediation</a:t>
            </a:r>
            <a:endParaRPr lang="en-US" sz="1500" dirty="0"/>
          </a:p>
        </p:txBody>
      </p:sp>
      <p:sp>
        <p:nvSpPr>
          <p:cNvPr id="24" name="Text 22"/>
          <p:cNvSpPr/>
          <p:nvPr/>
        </p:nvSpPr>
        <p:spPr>
          <a:xfrm>
            <a:off x="777240" y="534924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Recommend concrete fix steps — bash commands and Kubernetes manifests — not just a red status flag.</a:t>
            </a:r>
            <a:endParaRPr lang="en-US" sz="1080" dirty="0"/>
          </a:p>
        </p:txBody>
      </p:sp>
      <p:sp>
        <p:nvSpPr>
          <p:cNvPr id="25" name="Shape 23"/>
          <p:cNvSpPr/>
          <p:nvPr/>
        </p:nvSpPr>
        <p:spPr>
          <a:xfrm>
            <a:off x="4251960" y="4160520"/>
            <a:ext cx="3520440" cy="1965960"/>
          </a:xfrm>
          <a:prstGeom prst="roundRect">
            <a:avLst>
              <a:gd name="adj" fmla="val 3721"/>
            </a:avLst>
          </a:prstGeom>
          <a:solidFill>
            <a:srgbClr val="161B26"/>
          </a:solidFill>
          <a:ln/>
        </p:spPr>
      </p:sp>
      <p:sp>
        <p:nvSpPr>
          <p:cNvPr id="26" name="Shape 24"/>
          <p:cNvSpPr/>
          <p:nvPr/>
        </p:nvSpPr>
        <p:spPr>
          <a:xfrm>
            <a:off x="4480560" y="4389120"/>
            <a:ext cx="457200" cy="457200"/>
          </a:xfrm>
          <a:prstGeom prst="ellipse">
            <a:avLst/>
          </a:prstGeom>
          <a:solidFill>
            <a:srgbClr val="FDB022"/>
          </a:solidFill>
          <a:ln/>
        </p:spPr>
      </p:sp>
      <p:sp>
        <p:nvSpPr>
          <p:cNvPr id="27" name="Text 25"/>
          <p:cNvSpPr/>
          <p:nvPr/>
        </p:nvSpPr>
        <p:spPr>
          <a:xfrm>
            <a:off x="4480560" y="438912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5</a:t>
            </a:r>
            <a:endParaRPr lang="en-US" sz="1300" dirty="0"/>
          </a:p>
        </p:txBody>
      </p:sp>
      <p:sp>
        <p:nvSpPr>
          <p:cNvPr id="28" name="Text 26"/>
          <p:cNvSpPr/>
          <p:nvPr/>
        </p:nvSpPr>
        <p:spPr>
          <a:xfrm>
            <a:off x="4480560" y="498348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Stay Interpretable</a:t>
            </a:r>
            <a:endParaRPr lang="en-US" sz="1500" dirty="0"/>
          </a:p>
        </p:txBody>
      </p:sp>
      <p:sp>
        <p:nvSpPr>
          <p:cNvPr id="29" name="Text 27"/>
          <p:cNvSpPr/>
          <p:nvPr/>
        </p:nvSpPr>
        <p:spPr>
          <a:xfrm>
            <a:off x="4480560" y="534924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Surface confidence scores and reconstruction error alongside every alert so operators can verify, not just trust blindly.</a:t>
            </a:r>
            <a:endParaRPr lang="en-US" sz="1080" dirty="0"/>
          </a:p>
        </p:txBody>
      </p:sp>
      <p:sp>
        <p:nvSpPr>
          <p:cNvPr id="30" name="Shape 28"/>
          <p:cNvSpPr/>
          <p:nvPr/>
        </p:nvSpPr>
        <p:spPr>
          <a:xfrm>
            <a:off x="7955280" y="4160520"/>
            <a:ext cx="3520440" cy="1965960"/>
          </a:xfrm>
          <a:prstGeom prst="roundRect">
            <a:avLst>
              <a:gd name="adj" fmla="val 3721"/>
            </a:avLst>
          </a:prstGeom>
          <a:solidFill>
            <a:srgbClr val="161B26"/>
          </a:solidFill>
          <a:ln/>
        </p:spPr>
      </p:sp>
      <p:sp>
        <p:nvSpPr>
          <p:cNvPr id="31" name="Shape 29"/>
          <p:cNvSpPr/>
          <p:nvPr/>
        </p:nvSpPr>
        <p:spPr>
          <a:xfrm>
            <a:off x="8183880" y="4389120"/>
            <a:ext cx="457200" cy="457200"/>
          </a:xfrm>
          <a:prstGeom prst="ellipse">
            <a:avLst/>
          </a:prstGeom>
          <a:solidFill>
            <a:srgbClr val="4CC9F0"/>
          </a:solidFill>
          <a:ln/>
        </p:spPr>
      </p:sp>
      <p:sp>
        <p:nvSpPr>
          <p:cNvPr id="32" name="Text 30"/>
          <p:cNvSpPr/>
          <p:nvPr/>
        </p:nvSpPr>
        <p:spPr>
          <a:xfrm>
            <a:off x="8183880" y="4389120"/>
            <a:ext cx="457200" cy="457200"/>
          </a:xfrm>
          <a:prstGeom prst="rect">
            <a:avLst/>
          </a:prstGeom>
          <a:noFill/>
          <a:ln/>
        </p:spPr>
        <p:txBody>
          <a:bodyPr wrap="square" rtlCol="0" anchor="ctr"/>
          <a:lstStyle/>
          <a:p>
            <a:pPr marL="0" indent="0" algn="ctr">
              <a:buNone/>
            </a:pPr>
            <a:r>
              <a:rPr lang="en-US" sz="1300" b="1" dirty="0">
                <a:solidFill>
                  <a:srgbClr val="0D1117"/>
                </a:solidFill>
                <a:latin typeface="Arial" pitchFamily="34" charset="0"/>
                <a:ea typeface="Arial" pitchFamily="34" charset="-122"/>
                <a:cs typeface="Arial" pitchFamily="34" charset="-120"/>
              </a:rPr>
              <a:t>6</a:t>
            </a:r>
            <a:endParaRPr lang="en-US" sz="1300" dirty="0"/>
          </a:p>
        </p:txBody>
      </p:sp>
      <p:sp>
        <p:nvSpPr>
          <p:cNvPr id="33" name="Text 31"/>
          <p:cNvSpPr/>
          <p:nvPr/>
        </p:nvSpPr>
        <p:spPr>
          <a:xfrm>
            <a:off x="8183880" y="4983480"/>
            <a:ext cx="3063240" cy="36576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Enable DevOps at Scale</a:t>
            </a:r>
            <a:endParaRPr lang="en-US" sz="1500" dirty="0"/>
          </a:p>
        </p:txBody>
      </p:sp>
      <p:sp>
        <p:nvSpPr>
          <p:cNvPr id="34" name="Text 32"/>
          <p:cNvSpPr/>
          <p:nvPr/>
        </p:nvSpPr>
        <p:spPr>
          <a:xfrm>
            <a:off x="8183880" y="5349240"/>
            <a:ext cx="3063240" cy="713232"/>
          </a:xfrm>
          <a:prstGeom prst="rect">
            <a:avLst/>
          </a:prstGeom>
          <a:noFill/>
          <a:ln/>
        </p:spPr>
        <p:txBody>
          <a:bodyPr wrap="square" rtlCol="0" anchor="ctr"/>
          <a:lstStyle/>
          <a:p>
            <a:pPr marL="0" indent="0">
              <a:buNone/>
            </a:pPr>
            <a:r>
              <a:rPr lang="en-US" sz="1080" dirty="0">
                <a:solidFill>
                  <a:srgbClr val="8B93A7"/>
                </a:solidFill>
                <a:latin typeface="Calibri" pitchFamily="34" charset="0"/>
                <a:ea typeface="Calibri" pitchFamily="34" charset="-122"/>
                <a:cs typeface="Calibri" pitchFamily="34" charset="-120"/>
              </a:rPr>
              <a:t>Deliver every result through a responsive React dashboard built for continuous, real-time monitoring.</a:t>
            </a:r>
            <a:endParaRPr lang="en-US" sz="1080" dirty="0"/>
          </a:p>
        </p:txBody>
      </p:sp>
      <p:sp>
        <p:nvSpPr>
          <p:cNvPr id="35" name="Text 33"/>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LITERATURE REVIEW</a:t>
            </a:r>
            <a:endParaRPr lang="en-US" sz="1250" dirty="0"/>
          </a:p>
        </p:txBody>
      </p:sp>
      <p:sp>
        <p:nvSpPr>
          <p:cNvPr id="3" name="Text 1"/>
          <p:cNvSpPr/>
          <p:nvPr/>
        </p:nvSpPr>
        <p:spPr>
          <a:xfrm>
            <a:off x="548640" y="713232"/>
            <a:ext cx="10789920" cy="685800"/>
          </a:xfrm>
          <a:prstGeom prst="rect">
            <a:avLst/>
          </a:prstGeom>
          <a:noFill/>
          <a:ln/>
        </p:spPr>
        <p:txBody>
          <a:bodyPr wrap="square" rtlCol="0" anchor="ctr"/>
          <a:lstStyle/>
          <a:p>
            <a:pPr marL="0" indent="0">
              <a:buNone/>
            </a:pPr>
            <a:r>
              <a:rPr lang="en-US" sz="2700" b="1" dirty="0">
                <a:solidFill>
                  <a:srgbClr val="F3F6FB"/>
                </a:solidFill>
                <a:latin typeface="Arial" pitchFamily="34" charset="0"/>
                <a:ea typeface="Arial" pitchFamily="34" charset="-122"/>
                <a:cs typeface="Arial" pitchFamily="34" charset="-120"/>
              </a:rPr>
              <a:t>Existing Tools Monitor. LogGuard AI Diagnoses.</a:t>
            </a:r>
            <a:endParaRPr lang="en-US" sz="2700" dirty="0"/>
          </a:p>
        </p:txBody>
      </p:sp>
      <p:sp>
        <p:nvSpPr>
          <p:cNvPr id="4" name="Text 2"/>
          <p:cNvSpPr/>
          <p:nvPr/>
        </p:nvSpPr>
        <p:spPr>
          <a:xfrm>
            <a:off x="548640" y="1417320"/>
            <a:ext cx="10881360" cy="548640"/>
          </a:xfrm>
          <a:prstGeom prst="rect">
            <a:avLst/>
          </a:prstGeom>
          <a:noFill/>
          <a:ln/>
        </p:spPr>
        <p:txBody>
          <a:bodyPr wrap="square" rtlCol="0" anchor="ctr"/>
          <a:lstStyle/>
          <a:p>
            <a:pPr marL="0" indent="0">
              <a:buNone/>
            </a:pPr>
            <a:r>
              <a:rPr lang="en-US" sz="1180" dirty="0">
                <a:solidFill>
                  <a:srgbClr val="8B93A7"/>
                </a:solidFill>
                <a:latin typeface="Calibri" pitchFamily="34" charset="0"/>
                <a:ea typeface="Calibri" pitchFamily="34" charset="-122"/>
                <a:cs typeface="Calibri" pitchFamily="34" charset="-120"/>
              </a:rPr>
              <a:t>Datadog, Splunk, and Elastic Stack (ELK) were reviewed as the dominant incumbents in log monitoring. Table 4 below reproduces the project report's comparative analysis exactly: all three tools collect, search, and visualize logs well, but none of them reason about why a failure happened or how to fix it.</a:t>
            </a:r>
            <a:endParaRPr lang="en-US" sz="118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2286000"/>
        </p:xfrm>
        <a:graphic>
          <a:graphicData uri="http://schemas.openxmlformats.org/drawingml/2006/table">
            <a:tbl>
              <a:tblPr/>
              <a:tblGrid>
                <a:gridCol w="2103120">
                  <a:extLst>
                    <a:ext uri="{9D8B030D-6E8A-4147-A177-3AD203B41FA5}">
                      <a16:colId xmlns:a16="http://schemas.microsoft.com/office/drawing/2014/main" val="20000"/>
                    </a:ext>
                  </a:extLst>
                </a:gridCol>
                <a:gridCol w="1490472">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Log</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Log</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Search</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Dashboards</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AI Root</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Cause</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Flow</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Reconstruction</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Failure</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Explanation</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F3F6FB"/>
                          </a:solidFill>
                          <a:latin typeface="Calibri" pitchFamily="34" charset="0"/>
                          <a:ea typeface="Calibri" pitchFamily="34" charset="-122"/>
                          <a:cs typeface="Calibri" pitchFamily="34" charset="-120"/>
                        </a:rPr>
                        <a:t>Datadog</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F3F6FB"/>
                          </a:solidFill>
                          <a:latin typeface="Calibri" pitchFamily="34" charset="0"/>
                          <a:ea typeface="Calibri" pitchFamily="34" charset="-122"/>
                          <a:cs typeface="Calibri" pitchFamily="34" charset="-120"/>
                        </a:rPr>
                        <a:t>Splunk</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F3F6FB"/>
                          </a:solidFill>
                          <a:latin typeface="Calibri" pitchFamily="34" charset="0"/>
                          <a:ea typeface="Calibri" pitchFamily="34" charset="-122"/>
                          <a:cs typeface="Calibri" pitchFamily="34" charset="-120"/>
                        </a:rPr>
                        <a:t>Elastic</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3F6F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300" dirty="0">
                          <a:solidFill>
                            <a:srgbClr val="FB5B4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3"/>
                  </a:ext>
                </a:extLst>
              </a:tr>
              <a:tr h="457200">
                <a:tc>
                  <a:txBody>
                    <a:bodyPr/>
                    <a:lstStyle/>
                    <a:p>
                      <a:pPr marL="0" indent="0" algn="l">
                        <a:buNone/>
                      </a:pPr>
                      <a:r>
                        <a:rPr lang="en-US" sz="1300" b="1" dirty="0">
                          <a:solidFill>
                            <a:srgbClr val="3DDC97"/>
                          </a:solidFill>
                          <a:latin typeface="Calibri" pitchFamily="34" charset="0"/>
                          <a:ea typeface="Calibri" pitchFamily="34" charset="-122"/>
                          <a:cs typeface="Calibri" pitchFamily="34" charset="-120"/>
                        </a:rPr>
                        <a:t>LogGuard AI</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tc>
                  <a:txBody>
                    <a:bodyPr/>
                    <a:lstStyle/>
                    <a:p>
                      <a:pPr marL="0" indent="0" algn="ctr">
                        <a:buNone/>
                      </a:pPr>
                      <a:r>
                        <a:rPr lang="en-US" sz="1300" dirty="0">
                          <a:solidFill>
                            <a:srgbClr val="3DDC9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2362C"/>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4416552"/>
            <a:ext cx="11064240" cy="274320"/>
          </a:xfrm>
          <a:prstGeom prst="rect">
            <a:avLst/>
          </a:prstGeom>
          <a:noFill/>
          <a:ln/>
        </p:spPr>
        <p:txBody>
          <a:bodyPr wrap="square" rtlCol="0" anchor="ctr"/>
          <a:lstStyle/>
          <a:p>
            <a:pPr marL="0" indent="0">
              <a:buNone/>
            </a:pPr>
            <a:r>
              <a:rPr lang="en-US" sz="930" i="1" dirty="0">
                <a:solidFill>
                  <a:srgbClr val="8B93A7"/>
                </a:solidFill>
                <a:latin typeface="Calibri" pitchFamily="34" charset="0"/>
                <a:ea typeface="Calibri" pitchFamily="34" charset="-122"/>
                <a:cs typeface="Calibri" pitchFamily="34" charset="-120"/>
              </a:rPr>
              <a:t>Table 4 — Comparative Analysis of Existing Log Monitoring Tools and the Proposed LogGuard AI System (reproduced from the project report)</a:t>
            </a:r>
            <a:endParaRPr lang="en-US" sz="930" dirty="0"/>
          </a:p>
        </p:txBody>
      </p:sp>
      <p:sp>
        <p:nvSpPr>
          <p:cNvPr id="7" name="Shape 4"/>
          <p:cNvSpPr/>
          <p:nvPr/>
        </p:nvSpPr>
        <p:spPr>
          <a:xfrm>
            <a:off x="548640" y="4800600"/>
            <a:ext cx="3566160" cy="1097280"/>
          </a:xfrm>
          <a:prstGeom prst="roundRect">
            <a:avLst>
              <a:gd name="adj" fmla="val 5000"/>
            </a:avLst>
          </a:prstGeom>
          <a:solidFill>
            <a:srgbClr val="161B26"/>
          </a:solidFill>
          <a:ln w="12700">
            <a:solidFill>
              <a:srgbClr val="232B3A"/>
            </a:solidFill>
            <a:prstDash val="solid"/>
          </a:ln>
        </p:spPr>
      </p:sp>
      <p:sp>
        <p:nvSpPr>
          <p:cNvPr id="8" name="Text 5"/>
          <p:cNvSpPr/>
          <p:nvPr/>
        </p:nvSpPr>
        <p:spPr>
          <a:xfrm>
            <a:off x="731520" y="4892040"/>
            <a:ext cx="3200400" cy="914400"/>
          </a:xfrm>
          <a:prstGeom prst="rect">
            <a:avLst/>
          </a:prstGeom>
          <a:noFill/>
          <a:ln/>
        </p:spPr>
        <p:txBody>
          <a:bodyPr wrap="square" rtlCol="0" anchor="t"/>
          <a:lstStyle/>
          <a:p>
            <a:pPr marL="0" indent="0">
              <a:buNone/>
            </a:pPr>
            <a:r>
              <a:rPr lang="en-US" sz="1150" b="1" dirty="0">
                <a:solidFill>
                  <a:srgbClr val="4CC9F0"/>
                </a:solidFill>
                <a:latin typeface="Calibri" pitchFamily="34" charset="0"/>
                <a:ea typeface="Calibri" pitchFamily="34" charset="-122"/>
                <a:cs typeface="Calibri" pitchFamily="34" charset="-120"/>
              </a:rPr>
              <a:t>Datadog
</a:t>
            </a:r>
            <a:endParaRPr lang="en-US" sz="1150" dirty="0"/>
          </a:p>
          <a:p>
            <a:pPr marL="0" indent="0">
              <a:buNone/>
            </a:pPr>
            <a:r>
              <a:rPr lang="en-US" sz="960" dirty="0">
                <a:solidFill>
                  <a:srgbClr val="8B93A7"/>
                </a:solidFill>
                <a:latin typeface="Calibri" pitchFamily="34" charset="0"/>
                <a:ea typeface="Calibri" pitchFamily="34" charset="-122"/>
                <a:cs typeface="Calibri" pitchFamily="34" charset="-120"/>
              </a:rPr>
              <a:t>Excellent dashboards, real-time alerts, and distributed tracing — but troubleshooting still relies on engineers manually locating the root cause.</a:t>
            </a:r>
            <a:endParaRPr lang="en-US" sz="1150" dirty="0"/>
          </a:p>
        </p:txBody>
      </p:sp>
      <p:sp>
        <p:nvSpPr>
          <p:cNvPr id="9" name="Shape 6"/>
          <p:cNvSpPr/>
          <p:nvPr/>
        </p:nvSpPr>
        <p:spPr>
          <a:xfrm>
            <a:off x="4297680" y="4800600"/>
            <a:ext cx="3566160" cy="1097280"/>
          </a:xfrm>
          <a:prstGeom prst="roundRect">
            <a:avLst>
              <a:gd name="adj" fmla="val 5000"/>
            </a:avLst>
          </a:prstGeom>
          <a:solidFill>
            <a:srgbClr val="161B26"/>
          </a:solidFill>
          <a:ln w="12700">
            <a:solidFill>
              <a:srgbClr val="232B3A"/>
            </a:solidFill>
            <a:prstDash val="solid"/>
          </a:ln>
        </p:spPr>
      </p:sp>
      <p:sp>
        <p:nvSpPr>
          <p:cNvPr id="10" name="Text 7"/>
          <p:cNvSpPr/>
          <p:nvPr/>
        </p:nvSpPr>
        <p:spPr>
          <a:xfrm>
            <a:off x="4480560" y="4892040"/>
            <a:ext cx="3200400" cy="914400"/>
          </a:xfrm>
          <a:prstGeom prst="rect">
            <a:avLst/>
          </a:prstGeom>
          <a:noFill/>
          <a:ln/>
        </p:spPr>
        <p:txBody>
          <a:bodyPr wrap="square" rtlCol="0" anchor="t"/>
          <a:lstStyle/>
          <a:p>
            <a:pPr marL="0" indent="0">
              <a:buNone/>
            </a:pPr>
            <a:r>
              <a:rPr lang="en-US" sz="1150" b="1" dirty="0">
                <a:solidFill>
                  <a:srgbClr val="4CC9F0"/>
                </a:solidFill>
                <a:latin typeface="Calibri" pitchFamily="34" charset="0"/>
                <a:ea typeface="Calibri" pitchFamily="34" charset="-122"/>
                <a:cs typeface="Calibri" pitchFamily="34" charset="-120"/>
              </a:rPr>
              <a:t>Splunk
</a:t>
            </a:r>
            <a:endParaRPr lang="en-US" sz="1150" dirty="0"/>
          </a:p>
          <a:p>
            <a:pPr marL="0" indent="0">
              <a:buNone/>
            </a:pPr>
            <a:r>
              <a:rPr lang="en-US" sz="960" dirty="0">
                <a:solidFill>
                  <a:srgbClr val="8B93A7"/>
                </a:solidFill>
                <a:latin typeface="Calibri" pitchFamily="34" charset="0"/>
                <a:ea typeface="Calibri" pitchFamily="34" charset="-122"/>
                <a:cs typeface="Calibri" pitchFamily="34" charset="-120"/>
              </a:rPr>
              <a:t>Extensive log ingestion and SPL search suited to enterprise scale — but requires expert manual interpretation, slowing troubleshooting.</a:t>
            </a:r>
            <a:endParaRPr lang="en-US" sz="1150" dirty="0"/>
          </a:p>
        </p:txBody>
      </p:sp>
      <p:sp>
        <p:nvSpPr>
          <p:cNvPr id="11" name="Shape 8"/>
          <p:cNvSpPr/>
          <p:nvPr/>
        </p:nvSpPr>
        <p:spPr>
          <a:xfrm>
            <a:off x="8046720" y="4800600"/>
            <a:ext cx="3566160" cy="1097280"/>
          </a:xfrm>
          <a:prstGeom prst="roundRect">
            <a:avLst>
              <a:gd name="adj" fmla="val 5000"/>
            </a:avLst>
          </a:prstGeom>
          <a:solidFill>
            <a:srgbClr val="161B26"/>
          </a:solidFill>
          <a:ln w="12700">
            <a:solidFill>
              <a:srgbClr val="232B3A"/>
            </a:solidFill>
            <a:prstDash val="solid"/>
          </a:ln>
        </p:spPr>
      </p:sp>
      <p:sp>
        <p:nvSpPr>
          <p:cNvPr id="12" name="Text 9"/>
          <p:cNvSpPr/>
          <p:nvPr/>
        </p:nvSpPr>
        <p:spPr>
          <a:xfrm>
            <a:off x="8229600" y="4892040"/>
            <a:ext cx="3200400" cy="914400"/>
          </a:xfrm>
          <a:prstGeom prst="rect">
            <a:avLst/>
          </a:prstGeom>
          <a:noFill/>
          <a:ln/>
        </p:spPr>
        <p:txBody>
          <a:bodyPr wrap="square" rtlCol="0" anchor="t"/>
          <a:lstStyle/>
          <a:p>
            <a:pPr marL="0" indent="0">
              <a:buNone/>
            </a:pPr>
            <a:r>
              <a:rPr lang="en-US" sz="1150" b="1" dirty="0">
                <a:solidFill>
                  <a:srgbClr val="4CC9F0"/>
                </a:solidFill>
                <a:latin typeface="Calibri" pitchFamily="34" charset="0"/>
                <a:ea typeface="Calibri" pitchFamily="34" charset="-122"/>
                <a:cs typeface="Calibri" pitchFamily="34" charset="-120"/>
              </a:rPr>
              <a:t>Elastic Stack
</a:t>
            </a:r>
            <a:endParaRPr lang="en-US" sz="1150" dirty="0"/>
          </a:p>
          <a:p>
            <a:pPr marL="0" indent="0">
              <a:buNone/>
            </a:pPr>
            <a:r>
              <a:rPr lang="en-US" sz="960" dirty="0">
                <a:solidFill>
                  <a:srgbClr val="8B93A7"/>
                </a:solidFill>
                <a:latin typeface="Calibri" pitchFamily="34" charset="0"/>
                <a:ea typeface="Calibri" pitchFamily="34" charset="-122"/>
                <a:cs typeface="Calibri" pitchFamily="34" charset="-120"/>
              </a:rPr>
              <a:t>Flexible, cost-effective open-source collection and visualization — but no intelligent failure analysis or AI-assisted troubleshooting.</a:t>
            </a:r>
            <a:endParaRPr lang="en-US" sz="1150" dirty="0"/>
          </a:p>
        </p:txBody>
      </p:sp>
      <p:sp>
        <p:nvSpPr>
          <p:cNvPr id="13" name="Text 10"/>
          <p:cNvSpPr/>
          <p:nvPr/>
        </p:nvSpPr>
        <p:spPr>
          <a:xfrm>
            <a:off x="548640" y="6053328"/>
            <a:ext cx="11064240" cy="411480"/>
          </a:xfrm>
          <a:prstGeom prst="rect">
            <a:avLst/>
          </a:prstGeom>
          <a:noFill/>
          <a:ln/>
        </p:spPr>
        <p:txBody>
          <a:bodyPr wrap="square" rtlCol="0" anchor="ctr"/>
          <a:lstStyle/>
          <a:p>
            <a:pPr marL="0" indent="0">
              <a:buNone/>
            </a:pPr>
            <a:r>
              <a:rPr lang="en-US" sz="1050" i="1" dirty="0">
                <a:solidFill>
                  <a:srgbClr val="FDB022"/>
                </a:solidFill>
                <a:latin typeface="Calibri" pitchFamily="34" charset="0"/>
                <a:ea typeface="Calibri" pitchFamily="34" charset="-122"/>
                <a:cs typeface="Calibri" pitchFamily="34" charset="-120"/>
              </a:rPr>
              <a:t>Outcome: every incumbent leaves the hardest step — deciding what a failure means and what to run next — entirely to the human engineer. LogGuard AI is the only system in this comparison that closes that gap end-to-end.</a:t>
            </a:r>
            <a:endParaRPr lang="en-US" sz="1050" dirty="0"/>
          </a:p>
        </p:txBody>
      </p:sp>
      <p:sp>
        <p:nvSpPr>
          <p:cNvPr id="14"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LITERATURE REVIEW · MODEL SELECTION</a:t>
            </a:r>
            <a:endParaRPr lang="en-US" sz="1250" dirty="0"/>
          </a:p>
        </p:txBody>
      </p:sp>
      <p:sp>
        <p:nvSpPr>
          <p:cNvPr id="3" name="Text 1"/>
          <p:cNvSpPr/>
          <p:nvPr/>
        </p:nvSpPr>
        <p:spPr>
          <a:xfrm>
            <a:off x="548640" y="713232"/>
            <a:ext cx="10789920" cy="685800"/>
          </a:xfrm>
          <a:prstGeom prst="rect">
            <a:avLst/>
          </a:prstGeom>
          <a:noFill/>
          <a:ln/>
        </p:spPr>
        <p:txBody>
          <a:bodyPr wrap="square" rtlCol="0" anchor="ctr"/>
          <a:lstStyle/>
          <a:p>
            <a:pPr marL="0" indent="0">
              <a:buNone/>
            </a:pPr>
            <a:r>
              <a:rPr lang="en-US" sz="2700" b="1" dirty="0">
                <a:solidFill>
                  <a:srgbClr val="F3F6FB"/>
                </a:solidFill>
                <a:latin typeface="Arial" pitchFamily="34" charset="0"/>
                <a:ea typeface="Arial" pitchFamily="34" charset="-122"/>
                <a:cs typeface="Arial" pitchFamily="34" charset="-120"/>
              </a:rPr>
              <a:t>Choosing the Right Anomaly-Detection Model</a:t>
            </a:r>
            <a:endParaRPr lang="en-US" sz="2700" dirty="0"/>
          </a:p>
        </p:txBody>
      </p:sp>
      <p:sp>
        <p:nvSpPr>
          <p:cNvPr id="4" name="Text 2"/>
          <p:cNvSpPr/>
          <p:nvPr/>
        </p:nvSpPr>
        <p:spPr>
          <a:xfrm>
            <a:off x="548640" y="1417320"/>
            <a:ext cx="10881360" cy="502920"/>
          </a:xfrm>
          <a:prstGeom prst="rect">
            <a:avLst/>
          </a:prstGeom>
          <a:noFill/>
          <a:ln/>
        </p:spPr>
        <p:txBody>
          <a:bodyPr wrap="square" rtlCol="0" anchor="ctr"/>
          <a:lstStyle/>
          <a:p>
            <a:pPr marL="0" indent="0">
              <a:buNone/>
            </a:pPr>
            <a:r>
              <a:rPr lang="en-US" sz="1180" dirty="0">
                <a:solidFill>
                  <a:srgbClr val="8B93A7"/>
                </a:solidFill>
                <a:latin typeface="Calibri" pitchFamily="34" charset="0"/>
                <a:ea typeface="Calibri" pitchFamily="34" charset="-122"/>
                <a:cs typeface="Calibri" pitchFamily="34" charset="-120"/>
              </a:rPr>
              <a:t>Six candidate architectures were studied. The deciding factor wasn't raw accuracy alone — it was whether a model could learn temporal, sequential log behaviour without demanding large hand-labelled datasets, since new failure patterns constantly emerge in production.</a:t>
            </a:r>
            <a:endParaRPr lang="en-US" sz="1180" dirty="0"/>
          </a:p>
        </p:txBody>
      </p:sp>
      <p:sp>
        <p:nvSpPr>
          <p:cNvPr id="5" name="Shape 3"/>
          <p:cNvSpPr/>
          <p:nvPr/>
        </p:nvSpPr>
        <p:spPr>
          <a:xfrm>
            <a:off x="548640" y="2103120"/>
            <a:ext cx="3520440" cy="1700000"/>
          </a:xfrm>
          <a:prstGeom prst="roundRect">
            <a:avLst>
              <a:gd name="adj" fmla="val 5333"/>
            </a:avLst>
          </a:prstGeom>
          <a:solidFill>
            <a:srgbClr val="161B26"/>
          </a:solidFill>
          <a:ln/>
        </p:spPr>
      </p:sp>
      <p:sp>
        <p:nvSpPr>
          <p:cNvPr id="6" name="Text 4"/>
          <p:cNvSpPr/>
          <p:nvPr/>
        </p:nvSpPr>
        <p:spPr>
          <a:xfrm>
            <a:off x="731520" y="219456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Isolation Forest</a:t>
            </a:r>
            <a:endParaRPr lang="en-US" sz="1300" dirty="0"/>
          </a:p>
        </p:txBody>
      </p:sp>
      <p:sp>
        <p:nvSpPr>
          <p:cNvPr id="7" name="Text 5"/>
          <p:cNvSpPr/>
          <p:nvPr/>
        </p:nvSpPr>
        <p:spPr>
          <a:xfrm>
            <a:off x="731520" y="2578608"/>
            <a:ext cx="3154680" cy="1105640"/>
          </a:xfrm>
          <a:prstGeom prst="rect">
            <a:avLst/>
          </a:prstGeom>
          <a:noFill/>
          <a:ln/>
        </p:spPr>
        <p:txBody>
          <a:bodyPr wrap="square" rtlCol="0" anchor="t"/>
          <a:lstStyle/>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Fast on unlabeled data
</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No temporal awareness</a:t>
            </a:r>
            <a:endParaRPr lang="en-US" sz="1030" dirty="0"/>
          </a:p>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Efficient random-partitioning anomaly scoring</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Rejected: can't learn sequential dependencies</a:t>
            </a:r>
            <a:endParaRPr lang="en-US" sz="1030" dirty="0"/>
          </a:p>
        </p:txBody>
      </p:sp>
      <p:sp>
        <p:nvSpPr>
          <p:cNvPr id="8" name="Shape 6"/>
          <p:cNvSpPr/>
          <p:nvPr/>
        </p:nvSpPr>
        <p:spPr>
          <a:xfrm>
            <a:off x="4251960" y="2103120"/>
            <a:ext cx="3520440" cy="1700000"/>
          </a:xfrm>
          <a:prstGeom prst="roundRect">
            <a:avLst>
              <a:gd name="adj" fmla="val 5333"/>
            </a:avLst>
          </a:prstGeom>
          <a:solidFill>
            <a:srgbClr val="161B26"/>
          </a:solidFill>
          <a:ln/>
        </p:spPr>
      </p:sp>
      <p:sp>
        <p:nvSpPr>
          <p:cNvPr id="9" name="Text 7"/>
          <p:cNvSpPr/>
          <p:nvPr/>
        </p:nvSpPr>
        <p:spPr>
          <a:xfrm>
            <a:off x="4434840" y="219456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One-Class SVM</a:t>
            </a:r>
            <a:endParaRPr lang="en-US" sz="1300" dirty="0"/>
          </a:p>
        </p:txBody>
      </p:sp>
      <p:sp>
        <p:nvSpPr>
          <p:cNvPr id="10" name="Text 8"/>
          <p:cNvSpPr/>
          <p:nvPr/>
        </p:nvSpPr>
        <p:spPr>
          <a:xfrm>
            <a:off x="4434840" y="2578608"/>
            <a:ext cx="3154680" cy="1105640"/>
          </a:xfrm>
          <a:prstGeom prst="rect">
            <a:avLst/>
          </a:prstGeom>
          <a:noFill/>
          <a:ln/>
        </p:spPr>
        <p:txBody>
          <a:bodyPr wrap="square" rtlCol="0" anchor="t"/>
          <a:lstStyle/>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Handles non-linear boundaries
</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Poor scalability on large logs</a:t>
            </a:r>
            <a:endParaRPr lang="en-US" sz="1030" dirty="0"/>
          </a:p>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Effective using only normal-class data</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Rejected: too costly to scale</a:t>
            </a:r>
            <a:endParaRPr lang="en-US" sz="1030" dirty="0"/>
          </a:p>
        </p:txBody>
      </p:sp>
      <p:sp>
        <p:nvSpPr>
          <p:cNvPr id="11" name="Shape 9"/>
          <p:cNvSpPr/>
          <p:nvPr/>
        </p:nvSpPr>
        <p:spPr>
          <a:xfrm>
            <a:off x="7955280" y="2103120"/>
            <a:ext cx="3520440" cy="1700000"/>
          </a:xfrm>
          <a:prstGeom prst="roundRect">
            <a:avLst>
              <a:gd name="adj" fmla="val 5333"/>
            </a:avLst>
          </a:prstGeom>
          <a:solidFill>
            <a:srgbClr val="16362B"/>
          </a:solidFill>
          <a:ln w="15875">
            <a:solidFill>
              <a:srgbClr val="3DDC97"/>
            </a:solidFill>
            <a:prstDash val="solid"/>
          </a:ln>
        </p:spPr>
      </p:sp>
      <p:sp>
        <p:nvSpPr>
          <p:cNvPr id="12" name="Text 10"/>
          <p:cNvSpPr/>
          <p:nvPr/>
        </p:nvSpPr>
        <p:spPr>
          <a:xfrm>
            <a:off x="8138160" y="219456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Random Forest</a:t>
            </a:r>
            <a:endParaRPr lang="en-US" sz="1300" dirty="0"/>
          </a:p>
        </p:txBody>
      </p:sp>
      <p:sp>
        <p:nvSpPr>
          <p:cNvPr id="13" name="Text 11"/>
          <p:cNvSpPr/>
          <p:nvPr/>
        </p:nvSpPr>
        <p:spPr>
          <a:xfrm>
            <a:off x="10424160" y="2221992"/>
            <a:ext cx="914400" cy="274320"/>
          </a:xfrm>
          <a:prstGeom prst="rect">
            <a:avLst/>
          </a:prstGeom>
          <a:noFill/>
          <a:ln/>
        </p:spPr>
        <p:txBody>
          <a:bodyPr wrap="square" rtlCol="0" anchor="ctr"/>
          <a:lstStyle/>
          <a:p>
            <a:pPr marL="0" indent="0" algn="r">
              <a:buNone/>
            </a:pPr>
            <a:r>
              <a:rPr lang="en-US" sz="800" b="1" dirty="0">
                <a:solidFill>
                  <a:srgbClr val="3DDC97"/>
                </a:solidFill>
                <a:latin typeface="Calibri" pitchFamily="34" charset="0"/>
                <a:ea typeface="Calibri" pitchFamily="34" charset="-122"/>
                <a:cs typeface="Calibri" pitchFamily="34" charset="-120"/>
              </a:rPr>
              <a:t>SELECTED</a:t>
            </a:r>
            <a:endParaRPr lang="en-US" sz="800" dirty="0"/>
          </a:p>
        </p:txBody>
      </p:sp>
      <p:sp>
        <p:nvSpPr>
          <p:cNvPr id="14" name="Text 12"/>
          <p:cNvSpPr/>
          <p:nvPr/>
        </p:nvSpPr>
        <p:spPr>
          <a:xfrm>
            <a:off x="8138160" y="2578608"/>
            <a:ext cx="3154680" cy="1350000"/>
          </a:xfrm>
          <a:prstGeom prst="rect">
            <a:avLst/>
          </a:prstGeom>
          <a:noFill/>
          <a:ln/>
        </p:spPr>
        <p:txBody>
          <a:bodyPr wrap="square" rtlCol="0" anchor="t"/>
          <a:lstStyle/>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High accuracy, interpretable
</a:t>
            </a:r>
            <a:endParaRPr lang="en-US" sz="900" dirty="0"/>
          </a:p>
          <a:p>
            <a:pPr marL="0" indent="0">
              <a:buNone/>
            </a:pPr>
            <a:r>
              <a:rPr lang="en-US" sz="900" b="1" dirty="0">
                <a:solidFill>
                  <a:srgbClr val="FB5B4E"/>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Needs labelled data</a:t>
            </a:r>
            <a:endParaRPr lang="en-US" sz="900" dirty="0"/>
          </a:p>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Low false positives via ensemble voting</a:t>
            </a:r>
            <a:endParaRPr lang="en-US" sz="900" dirty="0"/>
          </a:p>
          <a:p>
            <a:pPr marL="0" indent="0">
              <a:buNone/>
            </a:pPr>
            <a:r>
              <a:rPr lang="en-US" sz="900" b="1" dirty="0">
                <a:solidFill>
                  <a:srgbClr val="FB5B4E"/>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Lacks temporal awareness of sequences</a:t>
            </a:r>
            <a:endParaRPr lang="en-US" sz="900" dirty="0"/>
          </a:p>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Fast inference (~25ms latency)</a:t>
            </a:r>
            <a:endParaRPr lang="en-US" sz="900" dirty="0"/>
          </a:p>
        </p:txBody>
      </p:sp>
      <p:sp>
        <p:nvSpPr>
          <p:cNvPr id="15" name="Shape 13"/>
          <p:cNvSpPr/>
          <p:nvPr/>
        </p:nvSpPr>
        <p:spPr>
          <a:xfrm>
            <a:off x="548640" y="3986000"/>
            <a:ext cx="3520440" cy="1700000"/>
          </a:xfrm>
          <a:prstGeom prst="roundRect">
            <a:avLst>
              <a:gd name="adj" fmla="val 5333"/>
            </a:avLst>
          </a:prstGeom>
          <a:solidFill>
            <a:srgbClr val="161B26"/>
          </a:solidFill>
          <a:ln/>
        </p:spPr>
      </p:sp>
      <p:sp>
        <p:nvSpPr>
          <p:cNvPr id="16" name="Text 14"/>
          <p:cNvSpPr/>
          <p:nvPr/>
        </p:nvSpPr>
        <p:spPr>
          <a:xfrm>
            <a:off x="731520" y="407744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LSTM</a:t>
            </a:r>
            <a:endParaRPr lang="en-US" sz="1300" dirty="0"/>
          </a:p>
        </p:txBody>
      </p:sp>
      <p:sp>
        <p:nvSpPr>
          <p:cNvPr id="17" name="Text 15"/>
          <p:cNvSpPr/>
          <p:nvPr/>
        </p:nvSpPr>
        <p:spPr>
          <a:xfrm>
            <a:off x="731520" y="4461488"/>
            <a:ext cx="3154680" cy="1105640"/>
          </a:xfrm>
          <a:prstGeom prst="rect">
            <a:avLst/>
          </a:prstGeom>
          <a:noFill/>
          <a:ln/>
        </p:spPr>
        <p:txBody>
          <a:bodyPr wrap="square" rtlCol="0" anchor="t"/>
          <a:lstStyle/>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Learns sequential patterns
</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Needs large labeled sets</a:t>
            </a:r>
            <a:endParaRPr lang="en-US" sz="1030" dirty="0"/>
          </a:p>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Low false positives via temporal learning</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Can't reliably flag unseen anomalies</a:t>
            </a:r>
            <a:endParaRPr lang="en-US" sz="1030" dirty="0"/>
          </a:p>
        </p:txBody>
      </p:sp>
      <p:sp>
        <p:nvSpPr>
          <p:cNvPr id="18" name="Shape 16"/>
          <p:cNvSpPr/>
          <p:nvPr/>
        </p:nvSpPr>
        <p:spPr>
          <a:xfrm>
            <a:off x="4251960" y="3986000"/>
            <a:ext cx="3520440" cy="1700000"/>
          </a:xfrm>
          <a:prstGeom prst="roundRect">
            <a:avLst>
              <a:gd name="adj" fmla="val 5333"/>
            </a:avLst>
          </a:prstGeom>
          <a:solidFill>
            <a:srgbClr val="16362B"/>
          </a:solidFill>
          <a:ln w="15875">
            <a:solidFill>
              <a:srgbClr val="3DDC97"/>
            </a:solidFill>
            <a:prstDash val="solid"/>
          </a:ln>
        </p:spPr>
      </p:sp>
      <p:sp>
        <p:nvSpPr>
          <p:cNvPr id="19" name="Text 17"/>
          <p:cNvSpPr/>
          <p:nvPr/>
        </p:nvSpPr>
        <p:spPr>
          <a:xfrm>
            <a:off x="4434840" y="407744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LSTM Autoencoder</a:t>
            </a:r>
            <a:endParaRPr lang="en-US" sz="1300" dirty="0"/>
          </a:p>
        </p:txBody>
      </p:sp>
      <p:sp>
        <p:nvSpPr>
          <p:cNvPr id="20" name="Text 18"/>
          <p:cNvSpPr/>
          <p:nvPr/>
        </p:nvSpPr>
        <p:spPr>
          <a:xfrm>
            <a:off x="6720840" y="4104872"/>
            <a:ext cx="914400" cy="274320"/>
          </a:xfrm>
          <a:prstGeom prst="rect">
            <a:avLst/>
          </a:prstGeom>
          <a:noFill/>
          <a:ln/>
        </p:spPr>
        <p:txBody>
          <a:bodyPr wrap="square" rtlCol="0" anchor="ctr"/>
          <a:lstStyle/>
          <a:p>
            <a:pPr marL="0" indent="0" algn="r">
              <a:buNone/>
            </a:pPr>
            <a:r>
              <a:rPr lang="en-US" sz="800" b="1" dirty="0">
                <a:solidFill>
                  <a:srgbClr val="3DDC97"/>
                </a:solidFill>
                <a:latin typeface="Calibri" pitchFamily="34" charset="0"/>
                <a:ea typeface="Calibri" pitchFamily="34" charset="-122"/>
                <a:cs typeface="Calibri" pitchFamily="34" charset="-120"/>
              </a:rPr>
              <a:t>SELECTED</a:t>
            </a:r>
            <a:endParaRPr lang="en-US" sz="800" dirty="0"/>
          </a:p>
        </p:txBody>
      </p:sp>
      <p:sp>
        <p:nvSpPr>
          <p:cNvPr id="21" name="Text 19"/>
          <p:cNvSpPr/>
          <p:nvPr/>
        </p:nvSpPr>
        <p:spPr>
          <a:xfrm>
            <a:off x="4434840" y="4461488"/>
            <a:ext cx="3154680" cy="1350000"/>
          </a:xfrm>
          <a:prstGeom prst="rect">
            <a:avLst/>
          </a:prstGeom>
          <a:noFill/>
          <a:ln/>
        </p:spPr>
        <p:txBody>
          <a:bodyPr wrap="square" rtlCol="0" anchor="t"/>
          <a:lstStyle/>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Unsupervised, flags novel anomalies
</a:t>
            </a:r>
            <a:endParaRPr lang="en-US" sz="900" dirty="0"/>
          </a:p>
          <a:p>
            <a:pPr marL="0" indent="0">
              <a:buNone/>
            </a:pPr>
            <a:r>
              <a:rPr lang="en-US" sz="900" b="1" dirty="0">
                <a:solidFill>
                  <a:srgbClr val="FB5B4E"/>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Longer training time</a:t>
            </a:r>
            <a:endParaRPr lang="en-US" sz="900" dirty="0"/>
          </a:p>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Very low false positives via reconstruction threshold</a:t>
            </a:r>
            <a:endParaRPr lang="en-US" sz="900" dirty="0"/>
          </a:p>
          <a:p>
            <a:pPr marL="0" indent="0">
              <a:buNone/>
            </a:pPr>
            <a:r>
              <a:rPr lang="en-US" sz="900" b="1" dirty="0">
                <a:solidFill>
                  <a:srgbClr val="FB5B4E"/>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Needs deep-learning infrastructure</a:t>
            </a:r>
            <a:endParaRPr lang="en-US" sz="900" dirty="0"/>
          </a:p>
          <a:p>
            <a:pPr marL="0" indent="0">
              <a:buNone/>
            </a:pPr>
            <a:r>
              <a:rPr lang="en-US" sz="900" b="1" dirty="0">
                <a:solidFill>
                  <a:srgbClr val="3DDC97"/>
                </a:solidFill>
                <a:latin typeface="Calibri" pitchFamily="34" charset="0"/>
                <a:ea typeface="Calibri" pitchFamily="34" charset="-122"/>
                <a:cs typeface="Calibri" pitchFamily="34" charset="-120"/>
              </a:rPr>
              <a:t>+ </a:t>
            </a:r>
            <a:r>
              <a:rPr lang="en-US" sz="900" dirty="0">
                <a:solidFill>
                  <a:srgbClr val="D5DBE8"/>
                </a:solidFill>
                <a:latin typeface="Calibri" pitchFamily="34" charset="0"/>
                <a:ea typeface="Calibri" pitchFamily="34" charset="-122"/>
                <a:cs typeface="Calibri" pitchFamily="34" charset="-120"/>
              </a:rPr>
              <a:t>Captures long-term temporal dependencies</a:t>
            </a:r>
            <a:endParaRPr lang="en-US" sz="900" dirty="0"/>
          </a:p>
        </p:txBody>
      </p:sp>
      <p:sp>
        <p:nvSpPr>
          <p:cNvPr id="22" name="Shape 20"/>
          <p:cNvSpPr/>
          <p:nvPr/>
        </p:nvSpPr>
        <p:spPr>
          <a:xfrm>
            <a:off x="7955280" y="3986000"/>
            <a:ext cx="3520440" cy="1700000"/>
          </a:xfrm>
          <a:prstGeom prst="roundRect">
            <a:avLst>
              <a:gd name="adj" fmla="val 5333"/>
            </a:avLst>
          </a:prstGeom>
          <a:solidFill>
            <a:srgbClr val="161B26"/>
          </a:solidFill>
          <a:ln/>
        </p:spPr>
      </p:sp>
      <p:sp>
        <p:nvSpPr>
          <p:cNvPr id="23" name="Text 21"/>
          <p:cNvSpPr/>
          <p:nvPr/>
        </p:nvSpPr>
        <p:spPr>
          <a:xfrm>
            <a:off x="8138160" y="4077440"/>
            <a:ext cx="251460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LogBERT</a:t>
            </a:r>
            <a:endParaRPr lang="en-US" sz="1300" dirty="0"/>
          </a:p>
        </p:txBody>
      </p:sp>
      <p:sp>
        <p:nvSpPr>
          <p:cNvPr id="24" name="Text 22"/>
          <p:cNvSpPr/>
          <p:nvPr/>
        </p:nvSpPr>
        <p:spPr>
          <a:xfrm>
            <a:off x="8138160" y="4461488"/>
            <a:ext cx="3154680" cy="1105640"/>
          </a:xfrm>
          <a:prstGeom prst="rect">
            <a:avLst/>
          </a:prstGeom>
          <a:noFill/>
          <a:ln/>
        </p:spPr>
        <p:txBody>
          <a:bodyPr wrap="square" rtlCol="0" anchor="t"/>
          <a:lstStyle/>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Best contextual accuracy
</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Very high compute cost</a:t>
            </a:r>
            <a:endParaRPr lang="en-US" sz="1030" dirty="0"/>
          </a:p>
          <a:p>
            <a:pPr marL="0" indent="0">
              <a:buNone/>
            </a:pPr>
            <a:r>
              <a:rPr lang="en-US" sz="1030" b="1" dirty="0">
                <a:solidFill>
                  <a:srgbClr val="3DDC97"/>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Very low false positives via contextual learning</a:t>
            </a:r>
            <a:endParaRPr lang="en-US" sz="1030" dirty="0"/>
          </a:p>
          <a:p>
            <a:pPr marL="0" indent="0">
              <a:buNone/>
            </a:pPr>
            <a:r>
              <a:rPr lang="en-US" sz="1030" b="1" dirty="0">
                <a:solidFill>
                  <a:srgbClr val="FB5B4E"/>
                </a:solidFill>
                <a:latin typeface="Calibri" pitchFamily="34" charset="0"/>
                <a:ea typeface="Calibri" pitchFamily="34" charset="-122"/>
                <a:cs typeface="Calibri" pitchFamily="34" charset="-120"/>
              </a:rPr>
              <a:t>– </a:t>
            </a:r>
            <a:r>
              <a:rPr lang="en-US" sz="1030" dirty="0">
                <a:solidFill>
                  <a:srgbClr val="D5DBE8"/>
                </a:solidFill>
                <a:latin typeface="Calibri" pitchFamily="34" charset="0"/>
                <a:ea typeface="Calibri" pitchFamily="34" charset="-122"/>
                <a:cs typeface="Calibri" pitchFamily="34" charset="-120"/>
              </a:rPr>
              <a:t>Rejected: high resource &amp; deployment cost</a:t>
            </a:r>
            <a:endParaRPr lang="en-US" sz="1030" dirty="0"/>
          </a:p>
        </p:txBody>
      </p:sp>
      <p:sp>
        <p:nvSpPr>
          <p:cNvPr id="25" name="Text 23"/>
          <p:cNvSpPr/>
          <p:nvPr/>
        </p:nvSpPr>
        <p:spPr>
          <a:xfrm>
            <a:off x="548640" y="6080760"/>
            <a:ext cx="11064240" cy="548640"/>
          </a:xfrm>
          <a:prstGeom prst="rect">
            <a:avLst/>
          </a:prstGeom>
          <a:noFill/>
          <a:ln/>
        </p:spPr>
        <p:txBody>
          <a:bodyPr wrap="square" rtlCol="0" anchor="ctr"/>
          <a:lstStyle/>
          <a:p>
            <a:pPr marL="0" indent="0" algn="ctr">
              <a:buNone/>
            </a:pPr>
            <a:r>
              <a:rPr lang="en-US" sz="1150" b="1" dirty="0">
                <a:solidFill>
                  <a:srgbClr val="FDB022"/>
                </a:solidFill>
                <a:latin typeface="Calibri" pitchFamily="34" charset="0"/>
                <a:ea typeface="Calibri" pitchFamily="34" charset="-122"/>
                <a:cs typeface="Calibri" pitchFamily="34" charset="-120"/>
              </a:rPr>
              <a:t>Decision:  </a:t>
            </a:r>
            <a:r>
              <a:rPr lang="en-US" sz="1150" dirty="0">
                <a:solidFill>
                  <a:srgbClr val="F3F6FB"/>
                </a:solidFill>
                <a:latin typeface="Calibri" pitchFamily="34" charset="0"/>
                <a:ea typeface="Calibri" pitchFamily="34" charset="-122"/>
                <a:cs typeface="Calibri" pitchFamily="34" charset="-120"/>
              </a:rPr>
              <a:t>LSTM Autoencoder (unsupervised, sequence-aware — catches unseen anomalies via reconstruction error) is paired with Random Forest (fast, interpretable, works well on labelled HDFS features) as a complementary hybrid pair rather than a single model.</a:t>
            </a:r>
            <a:endParaRPr lang="en-US" sz="1150" dirty="0"/>
          </a:p>
        </p:txBody>
      </p:sp>
      <p:sp>
        <p:nvSpPr>
          <p:cNvPr id="26" name="Text 24"/>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End-to-End System Workflow</a:t>
            </a:r>
            <a:endParaRPr lang="en-US" sz="2900" dirty="0"/>
          </a:p>
        </p:txBody>
      </p:sp>
      <p:sp>
        <p:nvSpPr>
          <p:cNvPr id="4" name="Text 2"/>
          <p:cNvSpPr/>
          <p:nvPr/>
        </p:nvSpPr>
        <p:spPr>
          <a:xfrm>
            <a:off x="548640" y="1463040"/>
            <a:ext cx="10881360" cy="411480"/>
          </a:xfrm>
          <a:prstGeom prst="rect">
            <a:avLst/>
          </a:prstGeom>
          <a:noFill/>
          <a:ln/>
        </p:spPr>
        <p:txBody>
          <a:bodyPr wrap="square" rtlCol="0" anchor="ctr"/>
          <a:lstStyle/>
          <a:p>
            <a:pPr marL="0" indent="0">
              <a:buNone/>
            </a:pPr>
            <a:r>
              <a:rPr lang="en-US" sz="1250" dirty="0">
                <a:solidFill>
                  <a:srgbClr val="8B93A7"/>
                </a:solidFill>
                <a:latin typeface="Calibri" pitchFamily="34" charset="0"/>
                <a:ea typeface="Calibri" pitchFamily="34" charset="-122"/>
                <a:cs typeface="Calibri" pitchFamily="34" charset="-120"/>
              </a:rPr>
              <a:t>A single uploaded log file's journey through the FastAPI /predict endpoint: feature extraction, model inference, threshold classification, LLM explanation, and dashboard rendering.</a:t>
            </a:r>
            <a:endParaRPr lang="en-US" sz="1250" dirty="0"/>
          </a:p>
        </p:txBody>
      </p:sp>
      <p:sp>
        <p:nvSpPr>
          <p:cNvPr id="5" name="Shape 3"/>
          <p:cNvSpPr/>
          <p:nvPr/>
        </p:nvSpPr>
        <p:spPr>
          <a:xfrm>
            <a:off x="548640" y="2194560"/>
            <a:ext cx="1965960" cy="3063240"/>
          </a:xfrm>
          <a:prstGeom prst="roundRect">
            <a:avLst>
              <a:gd name="adj" fmla="val 3721"/>
            </a:avLst>
          </a:prstGeom>
          <a:solidFill>
            <a:srgbClr val="161B26"/>
          </a:solidFill>
          <a:ln w="12700">
            <a:solidFill>
              <a:srgbClr val="232B3A"/>
            </a:solidFill>
            <a:prstDash val="solid"/>
          </a:ln>
        </p:spPr>
      </p:sp>
      <p:sp>
        <p:nvSpPr>
          <p:cNvPr id="6" name="Shape 4"/>
          <p:cNvSpPr/>
          <p:nvPr/>
        </p:nvSpPr>
        <p:spPr>
          <a:xfrm>
            <a:off x="1257300" y="2450592"/>
            <a:ext cx="548640" cy="548640"/>
          </a:xfrm>
          <a:prstGeom prst="ellipse">
            <a:avLst/>
          </a:prstGeom>
          <a:solidFill>
            <a:srgbClr val="4CC9F0"/>
          </a:solidFill>
          <a:ln/>
        </p:spPr>
      </p:sp>
      <p:sp>
        <p:nvSpPr>
          <p:cNvPr id="7" name="Text 5"/>
          <p:cNvSpPr/>
          <p:nvPr/>
        </p:nvSpPr>
        <p:spPr>
          <a:xfrm>
            <a:off x="1257300" y="2450592"/>
            <a:ext cx="548640" cy="548640"/>
          </a:xfrm>
          <a:prstGeom prst="rect">
            <a:avLst/>
          </a:prstGeom>
          <a:noFill/>
          <a:ln/>
        </p:spPr>
        <p:txBody>
          <a:bodyPr wrap="square" rtlCol="0" anchor="ctr"/>
          <a:lstStyle/>
          <a:p>
            <a:pPr marL="0" indent="0" algn="ctr">
              <a:buNone/>
            </a:pPr>
            <a:r>
              <a:rPr lang="en-US" sz="1560" b="1" dirty="0">
                <a:solidFill>
                  <a:srgbClr val="0D1117"/>
                </a:solidFill>
                <a:latin typeface="Arial" pitchFamily="34" charset="0"/>
                <a:ea typeface="Arial" pitchFamily="34" charset="-122"/>
                <a:cs typeface="Arial" pitchFamily="34" charset="-120"/>
              </a:rPr>
              <a:t>1</a:t>
            </a:r>
            <a:endParaRPr lang="en-US" sz="1560" dirty="0"/>
          </a:p>
        </p:txBody>
      </p:sp>
      <p:sp>
        <p:nvSpPr>
          <p:cNvPr id="8" name="Text 6"/>
          <p:cNvSpPr/>
          <p:nvPr/>
        </p:nvSpPr>
        <p:spPr>
          <a:xfrm>
            <a:off x="658368" y="3200400"/>
            <a:ext cx="1746504" cy="457200"/>
          </a:xfrm>
          <a:prstGeom prst="rect">
            <a:avLst/>
          </a:prstGeom>
          <a:noFill/>
          <a:ln/>
        </p:spPr>
        <p:txBody>
          <a:bodyPr wrap="square" rtlCol="0" anchor="ctr"/>
          <a:lstStyle/>
          <a:p>
            <a:pPr marL="0" indent="0" algn="ctr">
              <a:buNone/>
            </a:pPr>
            <a:r>
              <a:rPr lang="en-US" sz="1400" b="1" dirty="0">
                <a:solidFill>
                  <a:srgbClr val="F3F6FB"/>
                </a:solidFill>
                <a:latin typeface="Arial" pitchFamily="34" charset="0"/>
                <a:ea typeface="Arial" pitchFamily="34" charset="-122"/>
                <a:cs typeface="Arial" pitchFamily="34" charset="-120"/>
              </a:rPr>
              <a:t>Log Upload</a:t>
            </a:r>
            <a:endParaRPr lang="en-US" sz="1400" dirty="0"/>
          </a:p>
        </p:txBody>
      </p:sp>
      <p:sp>
        <p:nvSpPr>
          <p:cNvPr id="9" name="Text 7"/>
          <p:cNvSpPr/>
          <p:nvPr/>
        </p:nvSpPr>
        <p:spPr>
          <a:xfrm>
            <a:off x="685800" y="3730752"/>
            <a:ext cx="1691640" cy="1417320"/>
          </a:xfrm>
          <a:prstGeom prst="rect">
            <a:avLst/>
          </a:prstGeom>
          <a:noFill/>
          <a:ln/>
        </p:spPr>
        <p:txBody>
          <a:bodyPr wrap="square" rtlCol="0" anchor="ctr"/>
          <a:lstStyle/>
          <a:p>
            <a:pPr marL="0" indent="0" algn="ctr">
              <a:buNone/>
            </a:pPr>
            <a:r>
              <a:rPr lang="en-US" sz="1030" dirty="0">
                <a:solidFill>
                  <a:srgbClr val="8B93A7"/>
                </a:solidFill>
                <a:latin typeface="Calibri" pitchFamily="34" charset="0"/>
                <a:ea typeface="Calibri" pitchFamily="34" charset="-122"/>
                <a:cs typeface="Calibri" pitchFamily="34" charset="-120"/>
              </a:rPr>
              <a:t>React dashboard accepts Linux syslogs, HDFS logs, and SSH logs via drag-and-drop.</a:t>
            </a:r>
            <a:endParaRPr lang="en-US" sz="1030" dirty="0"/>
          </a:p>
        </p:txBody>
      </p:sp>
      <p:sp>
        <p:nvSpPr>
          <p:cNvPr id="10" name="Text 8"/>
          <p:cNvSpPr/>
          <p:nvPr/>
        </p:nvSpPr>
        <p:spPr>
          <a:xfrm>
            <a:off x="2514600" y="3406140"/>
            <a:ext cx="201168" cy="640080"/>
          </a:xfrm>
          <a:prstGeom prst="rect">
            <a:avLst/>
          </a:prstGeom>
          <a:noFill/>
          <a:ln/>
        </p:spPr>
        <p:txBody>
          <a:bodyPr wrap="square" rtlCol="0" anchor="ctr"/>
          <a:lstStyle/>
          <a:p>
            <a:pPr marL="0" indent="0" algn="ctr">
              <a:buNone/>
            </a:pPr>
            <a:r>
              <a:rPr lang="en-US" sz="2200" b="1" dirty="0">
                <a:solidFill>
                  <a:srgbClr val="FDB022"/>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2715768" y="2194560"/>
            <a:ext cx="1965960" cy="3063240"/>
          </a:xfrm>
          <a:prstGeom prst="roundRect">
            <a:avLst>
              <a:gd name="adj" fmla="val 3721"/>
            </a:avLst>
          </a:prstGeom>
          <a:solidFill>
            <a:srgbClr val="161B26"/>
          </a:solidFill>
          <a:ln w="12700">
            <a:solidFill>
              <a:srgbClr val="232B3A"/>
            </a:solidFill>
            <a:prstDash val="solid"/>
          </a:ln>
        </p:spPr>
      </p:sp>
      <p:sp>
        <p:nvSpPr>
          <p:cNvPr id="12" name="Shape 10"/>
          <p:cNvSpPr/>
          <p:nvPr/>
        </p:nvSpPr>
        <p:spPr>
          <a:xfrm>
            <a:off x="3424428" y="2450592"/>
            <a:ext cx="548640" cy="548640"/>
          </a:xfrm>
          <a:prstGeom prst="ellipse">
            <a:avLst/>
          </a:prstGeom>
          <a:solidFill>
            <a:srgbClr val="4CC9F0"/>
          </a:solidFill>
          <a:ln/>
        </p:spPr>
      </p:sp>
      <p:sp>
        <p:nvSpPr>
          <p:cNvPr id="13" name="Text 11"/>
          <p:cNvSpPr/>
          <p:nvPr/>
        </p:nvSpPr>
        <p:spPr>
          <a:xfrm>
            <a:off x="3424428" y="2450592"/>
            <a:ext cx="548640" cy="548640"/>
          </a:xfrm>
          <a:prstGeom prst="rect">
            <a:avLst/>
          </a:prstGeom>
          <a:noFill/>
          <a:ln/>
        </p:spPr>
        <p:txBody>
          <a:bodyPr wrap="square" rtlCol="0" anchor="ctr"/>
          <a:lstStyle/>
          <a:p>
            <a:pPr marL="0" indent="0" algn="ctr">
              <a:buNone/>
            </a:pPr>
            <a:r>
              <a:rPr lang="en-US" sz="1560" b="1" dirty="0">
                <a:solidFill>
                  <a:srgbClr val="0D1117"/>
                </a:solidFill>
                <a:latin typeface="Arial" pitchFamily="34" charset="0"/>
                <a:ea typeface="Arial" pitchFamily="34" charset="-122"/>
                <a:cs typeface="Arial" pitchFamily="34" charset="-120"/>
              </a:rPr>
              <a:t>2</a:t>
            </a:r>
            <a:endParaRPr lang="en-US" sz="1560" dirty="0"/>
          </a:p>
        </p:txBody>
      </p:sp>
      <p:sp>
        <p:nvSpPr>
          <p:cNvPr id="14" name="Text 12"/>
          <p:cNvSpPr/>
          <p:nvPr/>
        </p:nvSpPr>
        <p:spPr>
          <a:xfrm>
            <a:off x="2825496" y="3200400"/>
            <a:ext cx="1746504" cy="457200"/>
          </a:xfrm>
          <a:prstGeom prst="rect">
            <a:avLst/>
          </a:prstGeom>
          <a:noFill/>
          <a:ln/>
        </p:spPr>
        <p:txBody>
          <a:bodyPr wrap="square" rtlCol="0" anchor="ctr"/>
          <a:lstStyle/>
          <a:p>
            <a:pPr marL="0" indent="0" algn="ctr">
              <a:buNone/>
            </a:pPr>
            <a:r>
              <a:rPr lang="en-US" sz="1400" b="1" dirty="0">
                <a:solidFill>
                  <a:srgbClr val="F3F6FB"/>
                </a:solidFill>
                <a:latin typeface="Arial" pitchFamily="34" charset="0"/>
                <a:ea typeface="Arial" pitchFamily="34" charset="-122"/>
                <a:cs typeface="Arial" pitchFamily="34" charset="-120"/>
              </a:rPr>
              <a:t>Processing</a:t>
            </a:r>
            <a:endParaRPr lang="en-US" sz="1400" dirty="0"/>
          </a:p>
        </p:txBody>
      </p:sp>
      <p:sp>
        <p:nvSpPr>
          <p:cNvPr id="15" name="Text 13"/>
          <p:cNvSpPr/>
          <p:nvPr/>
        </p:nvSpPr>
        <p:spPr>
          <a:xfrm>
            <a:off x="2852928" y="3730752"/>
            <a:ext cx="1691640" cy="1417320"/>
          </a:xfrm>
          <a:prstGeom prst="rect">
            <a:avLst/>
          </a:prstGeom>
          <a:noFill/>
          <a:ln/>
        </p:spPr>
        <p:txBody>
          <a:bodyPr wrap="square" rtlCol="0" anchor="ctr"/>
          <a:lstStyle/>
          <a:p>
            <a:pPr marL="0" indent="0" algn="ctr">
              <a:buNone/>
            </a:pPr>
            <a:r>
              <a:rPr lang="en-US" sz="1030" dirty="0">
                <a:solidFill>
                  <a:srgbClr val="8B93A7"/>
                </a:solidFill>
                <a:latin typeface="Calibri" pitchFamily="34" charset="0"/>
                <a:ea typeface="Calibri" pitchFamily="34" charset="-122"/>
                <a:cs typeface="Calibri" pitchFamily="34" charset="-120"/>
              </a:rPr>
              <a:t>FastAPI backend validates the file, then extracts and normalizes numeric features.</a:t>
            </a:r>
            <a:endParaRPr lang="en-US" sz="1030" dirty="0"/>
          </a:p>
        </p:txBody>
      </p:sp>
      <p:sp>
        <p:nvSpPr>
          <p:cNvPr id="16" name="Text 14"/>
          <p:cNvSpPr/>
          <p:nvPr/>
        </p:nvSpPr>
        <p:spPr>
          <a:xfrm>
            <a:off x="4681728" y="3406140"/>
            <a:ext cx="201168" cy="640080"/>
          </a:xfrm>
          <a:prstGeom prst="rect">
            <a:avLst/>
          </a:prstGeom>
          <a:noFill/>
          <a:ln/>
        </p:spPr>
        <p:txBody>
          <a:bodyPr wrap="square" rtlCol="0" anchor="ctr"/>
          <a:lstStyle/>
          <a:p>
            <a:pPr marL="0" indent="0" algn="ctr">
              <a:buNone/>
            </a:pPr>
            <a:r>
              <a:rPr lang="en-US" sz="2200" b="1" dirty="0">
                <a:solidFill>
                  <a:srgbClr val="FDB022"/>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4882896" y="2194560"/>
            <a:ext cx="1965960" cy="3063240"/>
          </a:xfrm>
          <a:prstGeom prst="roundRect">
            <a:avLst>
              <a:gd name="adj" fmla="val 3721"/>
            </a:avLst>
          </a:prstGeom>
          <a:solidFill>
            <a:srgbClr val="161B26"/>
          </a:solidFill>
          <a:ln w="12700">
            <a:solidFill>
              <a:srgbClr val="232B3A"/>
            </a:solidFill>
            <a:prstDash val="solid"/>
          </a:ln>
        </p:spPr>
      </p:sp>
      <p:sp>
        <p:nvSpPr>
          <p:cNvPr id="18" name="Shape 16"/>
          <p:cNvSpPr/>
          <p:nvPr/>
        </p:nvSpPr>
        <p:spPr>
          <a:xfrm>
            <a:off x="5591556" y="2450592"/>
            <a:ext cx="548640" cy="548640"/>
          </a:xfrm>
          <a:prstGeom prst="ellipse">
            <a:avLst/>
          </a:prstGeom>
          <a:solidFill>
            <a:srgbClr val="4CC9F0"/>
          </a:solidFill>
          <a:ln/>
        </p:spPr>
      </p:sp>
      <p:sp>
        <p:nvSpPr>
          <p:cNvPr id="19" name="Text 17"/>
          <p:cNvSpPr/>
          <p:nvPr/>
        </p:nvSpPr>
        <p:spPr>
          <a:xfrm>
            <a:off x="5591556" y="2450592"/>
            <a:ext cx="548640" cy="548640"/>
          </a:xfrm>
          <a:prstGeom prst="rect">
            <a:avLst/>
          </a:prstGeom>
          <a:noFill/>
          <a:ln/>
        </p:spPr>
        <p:txBody>
          <a:bodyPr wrap="square" rtlCol="0" anchor="ctr"/>
          <a:lstStyle/>
          <a:p>
            <a:pPr marL="0" indent="0" algn="ctr">
              <a:buNone/>
            </a:pPr>
            <a:r>
              <a:rPr lang="en-US" sz="1560" b="1" dirty="0">
                <a:solidFill>
                  <a:srgbClr val="0D1117"/>
                </a:solidFill>
                <a:latin typeface="Arial" pitchFamily="34" charset="0"/>
                <a:ea typeface="Arial" pitchFamily="34" charset="-122"/>
                <a:cs typeface="Arial" pitchFamily="34" charset="-120"/>
              </a:rPr>
              <a:t>3</a:t>
            </a:r>
            <a:endParaRPr lang="en-US" sz="1560" dirty="0"/>
          </a:p>
        </p:txBody>
      </p:sp>
      <p:sp>
        <p:nvSpPr>
          <p:cNvPr id="20" name="Text 18"/>
          <p:cNvSpPr/>
          <p:nvPr/>
        </p:nvSpPr>
        <p:spPr>
          <a:xfrm>
            <a:off x="4992624" y="3200400"/>
            <a:ext cx="1746504" cy="457200"/>
          </a:xfrm>
          <a:prstGeom prst="rect">
            <a:avLst/>
          </a:prstGeom>
          <a:noFill/>
          <a:ln/>
        </p:spPr>
        <p:txBody>
          <a:bodyPr wrap="square" rtlCol="0" anchor="ctr"/>
          <a:lstStyle/>
          <a:p>
            <a:pPr marL="0" indent="0" algn="ctr">
              <a:buNone/>
            </a:pPr>
            <a:r>
              <a:rPr lang="en-US" sz="1400" b="1" dirty="0">
                <a:solidFill>
                  <a:srgbClr val="F3F6FB"/>
                </a:solidFill>
                <a:latin typeface="Arial" pitchFamily="34" charset="0"/>
                <a:ea typeface="Arial" pitchFamily="34" charset="-122"/>
                <a:cs typeface="Arial" pitchFamily="34" charset="-120"/>
              </a:rPr>
              <a:t>ML Models</a:t>
            </a:r>
            <a:endParaRPr lang="en-US" sz="1400" dirty="0"/>
          </a:p>
        </p:txBody>
      </p:sp>
      <p:sp>
        <p:nvSpPr>
          <p:cNvPr id="21" name="Text 19"/>
          <p:cNvSpPr/>
          <p:nvPr/>
        </p:nvSpPr>
        <p:spPr>
          <a:xfrm>
            <a:off x="5020056" y="3730752"/>
            <a:ext cx="1691640" cy="1417320"/>
          </a:xfrm>
          <a:prstGeom prst="rect">
            <a:avLst/>
          </a:prstGeom>
          <a:noFill/>
          <a:ln/>
        </p:spPr>
        <p:txBody>
          <a:bodyPr wrap="square" rtlCol="0" anchor="ctr"/>
          <a:lstStyle/>
          <a:p>
            <a:pPr marL="0" indent="0" algn="ctr">
              <a:buNone/>
            </a:pPr>
            <a:r>
              <a:rPr lang="en-US" sz="1030" dirty="0">
                <a:solidFill>
                  <a:srgbClr val="8B93A7"/>
                </a:solidFill>
                <a:latin typeface="Calibri" pitchFamily="34" charset="0"/>
                <a:ea typeface="Calibri" pitchFamily="34" charset="-122"/>
                <a:cs typeface="Calibri" pitchFamily="34" charset="-120"/>
              </a:rPr>
              <a:t>LSTM Autoencoder computes reconstruction error; Random Forest scores labelled features.</a:t>
            </a:r>
            <a:endParaRPr lang="en-US" sz="1030" dirty="0"/>
          </a:p>
        </p:txBody>
      </p:sp>
      <p:sp>
        <p:nvSpPr>
          <p:cNvPr id="22" name="Text 20"/>
          <p:cNvSpPr/>
          <p:nvPr/>
        </p:nvSpPr>
        <p:spPr>
          <a:xfrm>
            <a:off x="6848856" y="3406140"/>
            <a:ext cx="201168" cy="640080"/>
          </a:xfrm>
          <a:prstGeom prst="rect">
            <a:avLst/>
          </a:prstGeom>
          <a:noFill/>
          <a:ln/>
        </p:spPr>
        <p:txBody>
          <a:bodyPr wrap="square" rtlCol="0" anchor="ctr"/>
          <a:lstStyle/>
          <a:p>
            <a:pPr marL="0" indent="0" algn="ctr">
              <a:buNone/>
            </a:pPr>
            <a:r>
              <a:rPr lang="en-US" sz="2200" b="1" dirty="0">
                <a:solidFill>
                  <a:srgbClr val="FDB022"/>
                </a:solidFill>
                <a:latin typeface="Arial" pitchFamily="34" charset="0"/>
                <a:ea typeface="Arial" pitchFamily="34" charset="-122"/>
                <a:cs typeface="Arial" pitchFamily="34" charset="-120"/>
              </a:rPr>
              <a:t>→</a:t>
            </a:r>
            <a:endParaRPr lang="en-US" sz="2200" dirty="0"/>
          </a:p>
        </p:txBody>
      </p:sp>
      <p:sp>
        <p:nvSpPr>
          <p:cNvPr id="23" name="Shape 21"/>
          <p:cNvSpPr/>
          <p:nvPr/>
        </p:nvSpPr>
        <p:spPr>
          <a:xfrm>
            <a:off x="7050024" y="2194560"/>
            <a:ext cx="1965960" cy="3063240"/>
          </a:xfrm>
          <a:prstGeom prst="roundRect">
            <a:avLst>
              <a:gd name="adj" fmla="val 3721"/>
            </a:avLst>
          </a:prstGeom>
          <a:solidFill>
            <a:srgbClr val="3A2A10"/>
          </a:solidFill>
          <a:ln w="12700">
            <a:solidFill>
              <a:srgbClr val="232B3A"/>
            </a:solidFill>
            <a:prstDash val="solid"/>
          </a:ln>
        </p:spPr>
      </p:sp>
      <p:sp>
        <p:nvSpPr>
          <p:cNvPr id="24" name="Shape 22"/>
          <p:cNvSpPr/>
          <p:nvPr/>
        </p:nvSpPr>
        <p:spPr>
          <a:xfrm>
            <a:off x="7758684" y="2450592"/>
            <a:ext cx="548640" cy="548640"/>
          </a:xfrm>
          <a:prstGeom prst="ellipse">
            <a:avLst/>
          </a:prstGeom>
          <a:solidFill>
            <a:srgbClr val="FDB022"/>
          </a:solidFill>
          <a:ln/>
        </p:spPr>
      </p:sp>
      <p:sp>
        <p:nvSpPr>
          <p:cNvPr id="25" name="Text 23"/>
          <p:cNvSpPr/>
          <p:nvPr/>
        </p:nvSpPr>
        <p:spPr>
          <a:xfrm>
            <a:off x="7758684" y="2450592"/>
            <a:ext cx="548640" cy="548640"/>
          </a:xfrm>
          <a:prstGeom prst="rect">
            <a:avLst/>
          </a:prstGeom>
          <a:noFill/>
          <a:ln/>
        </p:spPr>
        <p:txBody>
          <a:bodyPr wrap="square" rtlCol="0" anchor="ctr"/>
          <a:lstStyle/>
          <a:p>
            <a:pPr marL="0" indent="0" algn="ctr">
              <a:buNone/>
            </a:pPr>
            <a:r>
              <a:rPr lang="en-US" sz="1560" b="1" dirty="0">
                <a:solidFill>
                  <a:srgbClr val="0D1117"/>
                </a:solidFill>
                <a:latin typeface="Arial" pitchFamily="34" charset="0"/>
                <a:ea typeface="Arial" pitchFamily="34" charset="-122"/>
                <a:cs typeface="Arial" pitchFamily="34" charset="-120"/>
              </a:rPr>
              <a:t>4</a:t>
            </a:r>
            <a:endParaRPr lang="en-US" sz="1560" dirty="0"/>
          </a:p>
        </p:txBody>
      </p:sp>
      <p:sp>
        <p:nvSpPr>
          <p:cNvPr id="26" name="Text 24"/>
          <p:cNvSpPr/>
          <p:nvPr/>
        </p:nvSpPr>
        <p:spPr>
          <a:xfrm>
            <a:off x="7159752" y="3200400"/>
            <a:ext cx="1746504" cy="457200"/>
          </a:xfrm>
          <a:prstGeom prst="rect">
            <a:avLst/>
          </a:prstGeom>
          <a:noFill/>
          <a:ln/>
        </p:spPr>
        <p:txBody>
          <a:bodyPr wrap="square" rtlCol="0" anchor="ctr"/>
          <a:lstStyle/>
          <a:p>
            <a:pPr marL="0" indent="0" algn="ctr">
              <a:buNone/>
            </a:pPr>
            <a:r>
              <a:rPr lang="en-US" sz="1400" b="1" dirty="0">
                <a:solidFill>
                  <a:srgbClr val="F3F6FB"/>
                </a:solidFill>
                <a:latin typeface="Arial" pitchFamily="34" charset="0"/>
                <a:ea typeface="Arial" pitchFamily="34" charset="-122"/>
                <a:cs typeface="Arial" pitchFamily="34" charset="-120"/>
              </a:rPr>
              <a:t>AI Insight</a:t>
            </a:r>
            <a:endParaRPr lang="en-US" sz="1400" dirty="0"/>
          </a:p>
        </p:txBody>
      </p:sp>
      <p:sp>
        <p:nvSpPr>
          <p:cNvPr id="27" name="Text 25"/>
          <p:cNvSpPr/>
          <p:nvPr/>
        </p:nvSpPr>
        <p:spPr>
          <a:xfrm>
            <a:off x="7187184" y="3730752"/>
            <a:ext cx="1691640" cy="1417320"/>
          </a:xfrm>
          <a:prstGeom prst="rect">
            <a:avLst/>
          </a:prstGeom>
          <a:noFill/>
          <a:ln/>
        </p:spPr>
        <p:txBody>
          <a:bodyPr wrap="square" rtlCol="0" anchor="ctr"/>
          <a:lstStyle/>
          <a:p>
            <a:pPr marL="0" indent="0" algn="ctr">
              <a:buNone/>
            </a:pPr>
            <a:r>
              <a:rPr lang="en-US" sz="1030" dirty="0">
                <a:solidFill>
                  <a:srgbClr val="8B93A7"/>
                </a:solidFill>
                <a:latin typeface="Calibri" pitchFamily="34" charset="0"/>
                <a:ea typeface="Calibri" pitchFamily="34" charset="-122"/>
                <a:cs typeface="Calibri" pitchFamily="34" charset="-120"/>
              </a:rPr>
              <a:t>If flagged, an LLM generates root cause, severity, and step-by-step remediation.</a:t>
            </a:r>
            <a:endParaRPr lang="en-US" sz="1030" dirty="0"/>
          </a:p>
        </p:txBody>
      </p:sp>
      <p:sp>
        <p:nvSpPr>
          <p:cNvPr id="28" name="Text 26"/>
          <p:cNvSpPr/>
          <p:nvPr/>
        </p:nvSpPr>
        <p:spPr>
          <a:xfrm>
            <a:off x="9015984" y="3406140"/>
            <a:ext cx="201168" cy="640080"/>
          </a:xfrm>
          <a:prstGeom prst="rect">
            <a:avLst/>
          </a:prstGeom>
          <a:noFill/>
          <a:ln/>
        </p:spPr>
        <p:txBody>
          <a:bodyPr wrap="square" rtlCol="0" anchor="ctr"/>
          <a:lstStyle/>
          <a:p>
            <a:pPr marL="0" indent="0" algn="ctr">
              <a:buNone/>
            </a:pPr>
            <a:r>
              <a:rPr lang="en-US" sz="2200" b="1" dirty="0">
                <a:solidFill>
                  <a:srgbClr val="FDB022"/>
                </a:solidFill>
                <a:latin typeface="Arial" pitchFamily="34" charset="0"/>
                <a:ea typeface="Arial" pitchFamily="34" charset="-122"/>
                <a:cs typeface="Arial" pitchFamily="34" charset="-120"/>
              </a:rPr>
              <a:t>→</a:t>
            </a:r>
            <a:endParaRPr lang="en-US" sz="2200" dirty="0"/>
          </a:p>
        </p:txBody>
      </p:sp>
      <p:sp>
        <p:nvSpPr>
          <p:cNvPr id="29" name="Shape 27"/>
          <p:cNvSpPr/>
          <p:nvPr/>
        </p:nvSpPr>
        <p:spPr>
          <a:xfrm>
            <a:off x="9217152" y="2194560"/>
            <a:ext cx="1965960" cy="3063240"/>
          </a:xfrm>
          <a:prstGeom prst="roundRect">
            <a:avLst>
              <a:gd name="adj" fmla="val 3721"/>
            </a:avLst>
          </a:prstGeom>
          <a:solidFill>
            <a:srgbClr val="161B26"/>
          </a:solidFill>
          <a:ln w="12700">
            <a:solidFill>
              <a:srgbClr val="232B3A"/>
            </a:solidFill>
            <a:prstDash val="solid"/>
          </a:ln>
        </p:spPr>
      </p:sp>
      <p:sp>
        <p:nvSpPr>
          <p:cNvPr id="30" name="Shape 28"/>
          <p:cNvSpPr/>
          <p:nvPr/>
        </p:nvSpPr>
        <p:spPr>
          <a:xfrm>
            <a:off x="9925812" y="2450592"/>
            <a:ext cx="548640" cy="548640"/>
          </a:xfrm>
          <a:prstGeom prst="ellipse">
            <a:avLst/>
          </a:prstGeom>
          <a:solidFill>
            <a:srgbClr val="4CC9F0"/>
          </a:solidFill>
          <a:ln/>
        </p:spPr>
      </p:sp>
      <p:sp>
        <p:nvSpPr>
          <p:cNvPr id="31" name="Text 29"/>
          <p:cNvSpPr/>
          <p:nvPr/>
        </p:nvSpPr>
        <p:spPr>
          <a:xfrm>
            <a:off x="9925812" y="2450592"/>
            <a:ext cx="548640" cy="548640"/>
          </a:xfrm>
          <a:prstGeom prst="rect">
            <a:avLst/>
          </a:prstGeom>
          <a:noFill/>
          <a:ln/>
        </p:spPr>
        <p:txBody>
          <a:bodyPr wrap="square" rtlCol="0" anchor="ctr"/>
          <a:lstStyle/>
          <a:p>
            <a:pPr marL="0" indent="0" algn="ctr">
              <a:buNone/>
            </a:pPr>
            <a:r>
              <a:rPr lang="en-US" sz="1560" b="1" dirty="0">
                <a:solidFill>
                  <a:srgbClr val="0D1117"/>
                </a:solidFill>
                <a:latin typeface="Arial" pitchFamily="34" charset="0"/>
                <a:ea typeface="Arial" pitchFamily="34" charset="-122"/>
                <a:cs typeface="Arial" pitchFamily="34" charset="-120"/>
              </a:rPr>
              <a:t>5</a:t>
            </a:r>
            <a:endParaRPr lang="en-US" sz="1560" dirty="0"/>
          </a:p>
        </p:txBody>
      </p:sp>
      <p:sp>
        <p:nvSpPr>
          <p:cNvPr id="32" name="Text 30"/>
          <p:cNvSpPr/>
          <p:nvPr/>
        </p:nvSpPr>
        <p:spPr>
          <a:xfrm>
            <a:off x="9326880" y="3200400"/>
            <a:ext cx="1746504" cy="457200"/>
          </a:xfrm>
          <a:prstGeom prst="rect">
            <a:avLst/>
          </a:prstGeom>
          <a:noFill/>
          <a:ln/>
        </p:spPr>
        <p:txBody>
          <a:bodyPr wrap="square" rtlCol="0" anchor="ctr"/>
          <a:lstStyle/>
          <a:p>
            <a:pPr marL="0" indent="0" algn="ctr">
              <a:buNone/>
            </a:pPr>
            <a:r>
              <a:rPr lang="en-US" sz="1400" b="1" dirty="0">
                <a:solidFill>
                  <a:srgbClr val="F3F6FB"/>
                </a:solidFill>
                <a:latin typeface="Arial" pitchFamily="34" charset="0"/>
                <a:ea typeface="Arial" pitchFamily="34" charset="-122"/>
                <a:cs typeface="Arial" pitchFamily="34" charset="-120"/>
              </a:rPr>
              <a:t>Dashboard</a:t>
            </a:r>
            <a:endParaRPr lang="en-US" sz="1400" dirty="0"/>
          </a:p>
        </p:txBody>
      </p:sp>
      <p:sp>
        <p:nvSpPr>
          <p:cNvPr id="33" name="Text 31"/>
          <p:cNvSpPr/>
          <p:nvPr/>
        </p:nvSpPr>
        <p:spPr>
          <a:xfrm>
            <a:off x="9354312" y="3730752"/>
            <a:ext cx="1691640" cy="1417320"/>
          </a:xfrm>
          <a:prstGeom prst="rect">
            <a:avLst/>
          </a:prstGeom>
          <a:noFill/>
          <a:ln/>
        </p:spPr>
        <p:txBody>
          <a:bodyPr wrap="square" rtlCol="0" anchor="ctr"/>
          <a:lstStyle/>
          <a:p>
            <a:pPr marL="0" indent="0" algn="ctr">
              <a:buNone/>
            </a:pPr>
            <a:r>
              <a:rPr lang="en-US" sz="1030" dirty="0">
                <a:solidFill>
                  <a:srgbClr val="8B93A7"/>
                </a:solidFill>
                <a:latin typeface="Calibri" pitchFamily="34" charset="0"/>
                <a:ea typeface="Calibri" pitchFamily="34" charset="-122"/>
                <a:cs typeface="Calibri" pitchFamily="34" charset="-120"/>
              </a:rPr>
              <a:t>React renders the anomaly card, service graph, log flow, and fix checklist.</a:t>
            </a:r>
            <a:endParaRPr lang="en-US" sz="1030" dirty="0"/>
          </a:p>
        </p:txBody>
      </p:sp>
      <p:sp>
        <p:nvSpPr>
          <p:cNvPr id="34" name="Text 32"/>
          <p:cNvSpPr/>
          <p:nvPr/>
        </p:nvSpPr>
        <p:spPr>
          <a:xfrm>
            <a:off x="548640" y="5440680"/>
            <a:ext cx="11064240" cy="320040"/>
          </a:xfrm>
          <a:prstGeom prst="rect">
            <a:avLst/>
          </a:prstGeom>
          <a:noFill/>
          <a:ln/>
        </p:spPr>
        <p:txBody>
          <a:bodyPr wrap="square" rtlCol="0" anchor="ctr"/>
          <a:lstStyle/>
          <a:p>
            <a:pPr marL="0" indent="0">
              <a:buNone/>
            </a:pPr>
            <a:r>
              <a:rPr lang="en-US" sz="1000" i="1" dirty="0">
                <a:solidFill>
                  <a:srgbClr val="8B93A7"/>
                </a:solidFill>
                <a:latin typeface="Calibri" pitchFamily="34" charset="0"/>
                <a:ea typeface="Calibri" pitchFamily="34" charset="-122"/>
                <a:cs typeface="Calibri" pitchFamily="34" charset="-120"/>
              </a:rPr>
              <a:t>Figures 1 &amp; 2 of the report trace this exact path: raw log → FastAPI /predict → feature extraction → LSTM Autoencoder → reconstruction error vs. threshold → normal / anomalous decision → LLM insight (if anomalous) → React dashboard.</a:t>
            </a:r>
            <a:endParaRPr lang="en-US" sz="1000" dirty="0"/>
          </a:p>
        </p:txBody>
      </p:sp>
      <p:sp>
        <p:nvSpPr>
          <p:cNvPr id="35" name="Shape 33"/>
          <p:cNvSpPr/>
          <p:nvPr/>
        </p:nvSpPr>
        <p:spPr>
          <a:xfrm>
            <a:off x="548640" y="5806440"/>
            <a:ext cx="11064240" cy="530352"/>
          </a:xfrm>
          <a:prstGeom prst="roundRect">
            <a:avLst>
              <a:gd name="adj" fmla="val 50000"/>
            </a:avLst>
          </a:prstGeom>
          <a:solidFill>
            <a:srgbClr val="070A10"/>
          </a:solidFill>
          <a:ln w="12700">
            <a:solidFill>
              <a:srgbClr val="232B3A"/>
            </a:solidFill>
            <a:prstDash val="solid"/>
          </a:ln>
        </p:spPr>
      </p:sp>
      <p:sp>
        <p:nvSpPr>
          <p:cNvPr id="36" name="Text 34"/>
          <p:cNvSpPr/>
          <p:nvPr/>
        </p:nvSpPr>
        <p:spPr>
          <a:xfrm>
            <a:off x="548640" y="5806440"/>
            <a:ext cx="11064240" cy="530352"/>
          </a:xfrm>
          <a:prstGeom prst="rect">
            <a:avLst/>
          </a:prstGeom>
          <a:noFill/>
          <a:ln/>
        </p:spPr>
        <p:txBody>
          <a:bodyPr wrap="square" rtlCol="0" anchor="ctr"/>
          <a:lstStyle/>
          <a:p>
            <a:pPr marL="0" indent="0" algn="ctr">
              <a:buNone/>
            </a:pPr>
            <a:r>
              <a:rPr lang="en-US" sz="1400" b="1" dirty="0">
                <a:solidFill>
                  <a:srgbClr val="FDB022"/>
                </a:solidFill>
                <a:latin typeface="Arial" pitchFamily="34" charset="0"/>
                <a:ea typeface="Arial" pitchFamily="34" charset="-122"/>
                <a:cs typeface="Arial" pitchFamily="34" charset="-120"/>
              </a:rPr>
              <a:t>Predictive DevOps — Detect Failures Before They Happen</a:t>
            </a:r>
            <a:endParaRPr lang="en-US" sz="1400" dirty="0"/>
          </a:p>
        </p:txBody>
      </p:sp>
      <p:sp>
        <p:nvSpPr>
          <p:cNvPr id="37" name="Text 3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Layered System Architecture</a:t>
            </a:r>
            <a:endParaRPr lang="en-US" sz="2900" dirty="0"/>
          </a:p>
        </p:txBody>
      </p:sp>
      <p:sp>
        <p:nvSpPr>
          <p:cNvPr id="4" name="Text 2"/>
          <p:cNvSpPr/>
          <p:nvPr/>
        </p:nvSpPr>
        <p:spPr>
          <a:xfrm>
            <a:off x="548640" y="1417320"/>
            <a:ext cx="10789920" cy="365760"/>
          </a:xfrm>
          <a:prstGeom prst="rect">
            <a:avLst/>
          </a:prstGeom>
          <a:noFill/>
          <a:ln/>
        </p:spPr>
        <p:txBody>
          <a:bodyPr wrap="square" rtlCol="0" anchor="ctr"/>
          <a:lstStyle/>
          <a:p>
            <a:pPr marL="0" indent="0">
              <a:buNone/>
            </a:pPr>
            <a:r>
              <a:rPr lang="en-US" sz="1200" dirty="0">
                <a:solidFill>
                  <a:srgbClr val="8B93A7"/>
                </a:solidFill>
                <a:latin typeface="Calibri" pitchFamily="34" charset="0"/>
                <a:ea typeface="Calibri" pitchFamily="34" charset="-122"/>
                <a:cs typeface="Calibri" pitchFamily="34" charset="-120"/>
              </a:rPr>
              <a:t>Five layers keep training, inference, and presentation decoupled, so each piece can be scaled, tested, or swapped independently.</a:t>
            </a:r>
            <a:endParaRPr lang="en-US" sz="1200" dirty="0"/>
          </a:p>
        </p:txBody>
      </p:sp>
      <p:sp>
        <p:nvSpPr>
          <p:cNvPr id="5" name="Shape 3"/>
          <p:cNvSpPr/>
          <p:nvPr/>
        </p:nvSpPr>
        <p:spPr>
          <a:xfrm>
            <a:off x="548640" y="1874520"/>
            <a:ext cx="11064240" cy="658368"/>
          </a:xfrm>
          <a:prstGeom prst="roundRect">
            <a:avLst>
              <a:gd name="adj" fmla="val 8333"/>
            </a:avLst>
          </a:prstGeom>
          <a:solidFill>
            <a:srgbClr val="161B26"/>
          </a:solidFill>
          <a:ln w="9525">
            <a:solidFill>
              <a:srgbClr val="232B3A"/>
            </a:solidFill>
            <a:prstDash val="solid"/>
          </a:ln>
        </p:spPr>
      </p:sp>
      <p:sp>
        <p:nvSpPr>
          <p:cNvPr id="6" name="Shape 4"/>
          <p:cNvSpPr/>
          <p:nvPr/>
        </p:nvSpPr>
        <p:spPr>
          <a:xfrm>
            <a:off x="749808" y="2029968"/>
            <a:ext cx="347472" cy="347472"/>
          </a:xfrm>
          <a:prstGeom prst="ellipse">
            <a:avLst/>
          </a:prstGeom>
          <a:solidFill>
            <a:srgbClr val="FDB022"/>
          </a:solidFill>
          <a:ln/>
        </p:spPr>
      </p:sp>
      <p:sp>
        <p:nvSpPr>
          <p:cNvPr id="7" name="Text 5"/>
          <p:cNvSpPr/>
          <p:nvPr/>
        </p:nvSpPr>
        <p:spPr>
          <a:xfrm>
            <a:off x="749808" y="2029968"/>
            <a:ext cx="347472" cy="347472"/>
          </a:xfrm>
          <a:prstGeom prst="rect">
            <a:avLst/>
          </a:prstGeom>
          <a:noFill/>
          <a:ln/>
        </p:spPr>
        <p:txBody>
          <a:bodyPr wrap="square" rtlCol="0" anchor="ctr"/>
          <a:lstStyle/>
          <a:p>
            <a:pPr marL="0" indent="0" algn="ctr">
              <a:buNone/>
            </a:pPr>
            <a:r>
              <a:rPr lang="en-US" sz="988" b="1" dirty="0">
                <a:solidFill>
                  <a:srgbClr val="0D1117"/>
                </a:solidFill>
                <a:latin typeface="Arial" pitchFamily="34" charset="0"/>
                <a:ea typeface="Arial" pitchFamily="34" charset="-122"/>
                <a:cs typeface="Arial" pitchFamily="34" charset="-120"/>
              </a:rPr>
              <a:t>1</a:t>
            </a:r>
            <a:endParaRPr lang="en-US" sz="988" dirty="0"/>
          </a:p>
        </p:txBody>
      </p:sp>
      <p:sp>
        <p:nvSpPr>
          <p:cNvPr id="8" name="Text 6"/>
          <p:cNvSpPr/>
          <p:nvPr/>
        </p:nvSpPr>
        <p:spPr>
          <a:xfrm>
            <a:off x="1261872" y="1929384"/>
            <a:ext cx="4206240" cy="292608"/>
          </a:xfrm>
          <a:prstGeom prst="rect">
            <a:avLst/>
          </a:prstGeom>
          <a:noFill/>
          <a:ln/>
        </p:spPr>
        <p:txBody>
          <a:bodyPr wrap="square" rtlCol="0" anchor="ctr"/>
          <a:lstStyle/>
          <a:p>
            <a:pPr marL="0" indent="0">
              <a:buNone/>
            </a:pPr>
            <a:r>
              <a:rPr lang="en-US" sz="1350" b="1" dirty="0">
                <a:solidFill>
                  <a:srgbClr val="F3F6FB"/>
                </a:solidFill>
                <a:latin typeface="Arial" pitchFamily="34" charset="0"/>
                <a:ea typeface="Arial" pitchFamily="34" charset="-122"/>
                <a:cs typeface="Arial" pitchFamily="34" charset="-120"/>
              </a:rPr>
              <a:t>Data Layer</a:t>
            </a:r>
            <a:endParaRPr lang="en-US" sz="1350" dirty="0"/>
          </a:p>
        </p:txBody>
      </p:sp>
      <p:sp>
        <p:nvSpPr>
          <p:cNvPr id="9" name="Text 7"/>
          <p:cNvSpPr/>
          <p:nvPr/>
        </p:nvSpPr>
        <p:spPr>
          <a:xfrm>
            <a:off x="1261872" y="2212848"/>
            <a:ext cx="9144000" cy="301752"/>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HDFS_2k.log · training_data.csv · event-occurrence matrix (E1–E29) · anomaly labels</a:t>
            </a:r>
            <a:endParaRPr lang="en-US" sz="1000" dirty="0"/>
          </a:p>
        </p:txBody>
      </p:sp>
      <p:sp>
        <p:nvSpPr>
          <p:cNvPr id="10" name="Shape 8"/>
          <p:cNvSpPr/>
          <p:nvPr/>
        </p:nvSpPr>
        <p:spPr>
          <a:xfrm>
            <a:off x="804672" y="2624328"/>
            <a:ext cx="10808208" cy="658368"/>
          </a:xfrm>
          <a:prstGeom prst="roundRect">
            <a:avLst>
              <a:gd name="adj" fmla="val 8333"/>
            </a:avLst>
          </a:prstGeom>
          <a:solidFill>
            <a:srgbClr val="1E2530"/>
          </a:solidFill>
          <a:ln w="9525">
            <a:solidFill>
              <a:srgbClr val="232B3A"/>
            </a:solidFill>
            <a:prstDash val="solid"/>
          </a:ln>
        </p:spPr>
      </p:sp>
      <p:sp>
        <p:nvSpPr>
          <p:cNvPr id="11" name="Shape 9"/>
          <p:cNvSpPr/>
          <p:nvPr/>
        </p:nvSpPr>
        <p:spPr>
          <a:xfrm>
            <a:off x="1005840" y="2779776"/>
            <a:ext cx="347472" cy="347472"/>
          </a:xfrm>
          <a:prstGeom prst="ellipse">
            <a:avLst/>
          </a:prstGeom>
          <a:solidFill>
            <a:srgbClr val="FDB022"/>
          </a:solidFill>
          <a:ln/>
        </p:spPr>
      </p:sp>
      <p:sp>
        <p:nvSpPr>
          <p:cNvPr id="12" name="Text 10"/>
          <p:cNvSpPr/>
          <p:nvPr/>
        </p:nvSpPr>
        <p:spPr>
          <a:xfrm>
            <a:off x="1005840" y="2779776"/>
            <a:ext cx="347472" cy="347472"/>
          </a:xfrm>
          <a:prstGeom prst="rect">
            <a:avLst/>
          </a:prstGeom>
          <a:noFill/>
          <a:ln/>
        </p:spPr>
        <p:txBody>
          <a:bodyPr wrap="square" rtlCol="0" anchor="ctr"/>
          <a:lstStyle/>
          <a:p>
            <a:pPr marL="0" indent="0" algn="ctr">
              <a:buNone/>
            </a:pPr>
            <a:r>
              <a:rPr lang="en-US" sz="988" b="1" dirty="0">
                <a:solidFill>
                  <a:srgbClr val="0D1117"/>
                </a:solidFill>
                <a:latin typeface="Arial" pitchFamily="34" charset="0"/>
                <a:ea typeface="Arial" pitchFamily="34" charset="-122"/>
                <a:cs typeface="Arial" pitchFamily="34" charset="-120"/>
              </a:rPr>
              <a:t>2</a:t>
            </a:r>
            <a:endParaRPr lang="en-US" sz="988" dirty="0"/>
          </a:p>
        </p:txBody>
      </p:sp>
      <p:sp>
        <p:nvSpPr>
          <p:cNvPr id="13" name="Text 11"/>
          <p:cNvSpPr/>
          <p:nvPr/>
        </p:nvSpPr>
        <p:spPr>
          <a:xfrm>
            <a:off x="1517904" y="2679192"/>
            <a:ext cx="4206240" cy="292608"/>
          </a:xfrm>
          <a:prstGeom prst="rect">
            <a:avLst/>
          </a:prstGeom>
          <a:noFill/>
          <a:ln/>
        </p:spPr>
        <p:txBody>
          <a:bodyPr wrap="square" rtlCol="0" anchor="ctr"/>
          <a:lstStyle/>
          <a:p>
            <a:pPr marL="0" indent="0">
              <a:buNone/>
            </a:pPr>
            <a:r>
              <a:rPr lang="en-US" sz="1350" b="1" dirty="0">
                <a:solidFill>
                  <a:srgbClr val="F3F6FB"/>
                </a:solidFill>
                <a:latin typeface="Arial" pitchFamily="34" charset="0"/>
                <a:ea typeface="Arial" pitchFamily="34" charset="-122"/>
                <a:cs typeface="Arial" pitchFamily="34" charset="-120"/>
              </a:rPr>
              <a:t>ML Layer (Offline Training)</a:t>
            </a:r>
            <a:endParaRPr lang="en-US" sz="1350" dirty="0"/>
          </a:p>
        </p:txBody>
      </p:sp>
      <p:sp>
        <p:nvSpPr>
          <p:cNvPr id="14" name="Text 12"/>
          <p:cNvSpPr/>
          <p:nvPr/>
        </p:nvSpPr>
        <p:spPr>
          <a:xfrm>
            <a:off x="1517904" y="2962656"/>
            <a:ext cx="8887968" cy="301752"/>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Random Forest (train_hdfs.py) · LSTM Autoencoder (ml_model.py) — serialized to .pkl / .pt artifacts</a:t>
            </a:r>
            <a:endParaRPr lang="en-US" sz="1000" dirty="0"/>
          </a:p>
        </p:txBody>
      </p:sp>
      <p:sp>
        <p:nvSpPr>
          <p:cNvPr id="15" name="Shape 13"/>
          <p:cNvSpPr/>
          <p:nvPr/>
        </p:nvSpPr>
        <p:spPr>
          <a:xfrm>
            <a:off x="1060704" y="3374136"/>
            <a:ext cx="10552176" cy="658368"/>
          </a:xfrm>
          <a:prstGeom prst="roundRect">
            <a:avLst>
              <a:gd name="adj" fmla="val 8333"/>
            </a:avLst>
          </a:prstGeom>
          <a:solidFill>
            <a:srgbClr val="161B26"/>
          </a:solidFill>
          <a:ln w="9525">
            <a:solidFill>
              <a:srgbClr val="232B3A"/>
            </a:solidFill>
            <a:prstDash val="solid"/>
          </a:ln>
        </p:spPr>
      </p:sp>
      <p:sp>
        <p:nvSpPr>
          <p:cNvPr id="16" name="Shape 14"/>
          <p:cNvSpPr/>
          <p:nvPr/>
        </p:nvSpPr>
        <p:spPr>
          <a:xfrm>
            <a:off x="1261872" y="3529584"/>
            <a:ext cx="347472" cy="347472"/>
          </a:xfrm>
          <a:prstGeom prst="ellipse">
            <a:avLst/>
          </a:prstGeom>
          <a:solidFill>
            <a:srgbClr val="FDB022"/>
          </a:solidFill>
          <a:ln/>
        </p:spPr>
      </p:sp>
      <p:sp>
        <p:nvSpPr>
          <p:cNvPr id="17" name="Text 15"/>
          <p:cNvSpPr/>
          <p:nvPr/>
        </p:nvSpPr>
        <p:spPr>
          <a:xfrm>
            <a:off x="1261872" y="3529584"/>
            <a:ext cx="347472" cy="347472"/>
          </a:xfrm>
          <a:prstGeom prst="rect">
            <a:avLst/>
          </a:prstGeom>
          <a:noFill/>
          <a:ln/>
        </p:spPr>
        <p:txBody>
          <a:bodyPr wrap="square" rtlCol="0" anchor="ctr"/>
          <a:lstStyle/>
          <a:p>
            <a:pPr marL="0" indent="0" algn="ctr">
              <a:buNone/>
            </a:pPr>
            <a:r>
              <a:rPr lang="en-US" sz="988" b="1" dirty="0">
                <a:solidFill>
                  <a:srgbClr val="0D1117"/>
                </a:solidFill>
                <a:latin typeface="Arial" pitchFamily="34" charset="0"/>
                <a:ea typeface="Arial" pitchFamily="34" charset="-122"/>
                <a:cs typeface="Arial" pitchFamily="34" charset="-120"/>
              </a:rPr>
              <a:t>3</a:t>
            </a:r>
            <a:endParaRPr lang="en-US" sz="988" dirty="0"/>
          </a:p>
        </p:txBody>
      </p:sp>
      <p:sp>
        <p:nvSpPr>
          <p:cNvPr id="18" name="Text 16"/>
          <p:cNvSpPr/>
          <p:nvPr/>
        </p:nvSpPr>
        <p:spPr>
          <a:xfrm>
            <a:off x="1773936" y="3429000"/>
            <a:ext cx="4206240" cy="292608"/>
          </a:xfrm>
          <a:prstGeom prst="rect">
            <a:avLst/>
          </a:prstGeom>
          <a:noFill/>
          <a:ln/>
        </p:spPr>
        <p:txBody>
          <a:bodyPr wrap="square" rtlCol="0" anchor="ctr"/>
          <a:lstStyle/>
          <a:p>
            <a:pPr marL="0" indent="0">
              <a:buNone/>
            </a:pPr>
            <a:r>
              <a:rPr lang="en-US" sz="1350" b="1" dirty="0">
                <a:solidFill>
                  <a:srgbClr val="F3F6FB"/>
                </a:solidFill>
                <a:latin typeface="Arial" pitchFamily="34" charset="0"/>
                <a:ea typeface="Arial" pitchFamily="34" charset="-122"/>
                <a:cs typeface="Arial" pitchFamily="34" charset="-120"/>
              </a:rPr>
              <a:t>Backend (FastAPI, Python 3.10+)</a:t>
            </a:r>
            <a:endParaRPr lang="en-US" sz="1350" dirty="0"/>
          </a:p>
        </p:txBody>
      </p:sp>
      <p:sp>
        <p:nvSpPr>
          <p:cNvPr id="19" name="Text 17"/>
          <p:cNvSpPr/>
          <p:nvPr/>
        </p:nvSpPr>
        <p:spPr>
          <a:xfrm>
            <a:off x="1773936" y="3712464"/>
            <a:ext cx="8631936" cy="301752"/>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anomaly_detector.py (feature extraction + inference) · ai_routes.py · services/llm_client.py</a:t>
            </a:r>
            <a:endParaRPr lang="en-US" sz="1000" dirty="0"/>
          </a:p>
        </p:txBody>
      </p:sp>
      <p:sp>
        <p:nvSpPr>
          <p:cNvPr id="20" name="Shape 18"/>
          <p:cNvSpPr/>
          <p:nvPr/>
        </p:nvSpPr>
        <p:spPr>
          <a:xfrm>
            <a:off x="1316736" y="4123944"/>
            <a:ext cx="10296144" cy="658368"/>
          </a:xfrm>
          <a:prstGeom prst="roundRect">
            <a:avLst>
              <a:gd name="adj" fmla="val 8333"/>
            </a:avLst>
          </a:prstGeom>
          <a:solidFill>
            <a:srgbClr val="1E2530"/>
          </a:solidFill>
          <a:ln w="9525">
            <a:solidFill>
              <a:srgbClr val="232B3A"/>
            </a:solidFill>
            <a:prstDash val="solid"/>
          </a:ln>
        </p:spPr>
      </p:sp>
      <p:sp>
        <p:nvSpPr>
          <p:cNvPr id="21" name="Shape 19"/>
          <p:cNvSpPr/>
          <p:nvPr/>
        </p:nvSpPr>
        <p:spPr>
          <a:xfrm>
            <a:off x="1517904" y="4279392"/>
            <a:ext cx="347472" cy="347472"/>
          </a:xfrm>
          <a:prstGeom prst="ellipse">
            <a:avLst/>
          </a:prstGeom>
          <a:solidFill>
            <a:srgbClr val="FDB022"/>
          </a:solidFill>
          <a:ln/>
        </p:spPr>
      </p:sp>
      <p:sp>
        <p:nvSpPr>
          <p:cNvPr id="22" name="Text 20"/>
          <p:cNvSpPr/>
          <p:nvPr/>
        </p:nvSpPr>
        <p:spPr>
          <a:xfrm>
            <a:off x="1517904" y="4279392"/>
            <a:ext cx="347472" cy="347472"/>
          </a:xfrm>
          <a:prstGeom prst="rect">
            <a:avLst/>
          </a:prstGeom>
          <a:noFill/>
          <a:ln/>
        </p:spPr>
        <p:txBody>
          <a:bodyPr wrap="square" rtlCol="0" anchor="ctr"/>
          <a:lstStyle/>
          <a:p>
            <a:pPr marL="0" indent="0" algn="ctr">
              <a:buNone/>
            </a:pPr>
            <a:r>
              <a:rPr lang="en-US" sz="988" b="1" dirty="0">
                <a:solidFill>
                  <a:srgbClr val="0D1117"/>
                </a:solidFill>
                <a:latin typeface="Arial" pitchFamily="34" charset="0"/>
                <a:ea typeface="Arial" pitchFamily="34" charset="-122"/>
                <a:cs typeface="Arial" pitchFamily="34" charset="-120"/>
              </a:rPr>
              <a:t>4</a:t>
            </a:r>
            <a:endParaRPr lang="en-US" sz="988" dirty="0"/>
          </a:p>
        </p:txBody>
      </p:sp>
      <p:sp>
        <p:nvSpPr>
          <p:cNvPr id="23" name="Text 21"/>
          <p:cNvSpPr/>
          <p:nvPr/>
        </p:nvSpPr>
        <p:spPr>
          <a:xfrm>
            <a:off x="2029968" y="4178808"/>
            <a:ext cx="4206240" cy="292608"/>
          </a:xfrm>
          <a:prstGeom prst="rect">
            <a:avLst/>
          </a:prstGeom>
          <a:noFill/>
          <a:ln/>
        </p:spPr>
        <p:txBody>
          <a:bodyPr wrap="square" rtlCol="0" anchor="ctr"/>
          <a:lstStyle/>
          <a:p>
            <a:pPr marL="0" indent="0">
              <a:buNone/>
            </a:pPr>
            <a:r>
              <a:rPr lang="en-US" sz="1350" b="1" dirty="0">
                <a:solidFill>
                  <a:srgbClr val="F3F6FB"/>
                </a:solidFill>
                <a:latin typeface="Arial" pitchFamily="34" charset="0"/>
                <a:ea typeface="Arial" pitchFamily="34" charset="-122"/>
                <a:cs typeface="Arial" pitchFamily="34" charset="-120"/>
              </a:rPr>
              <a:t>Frontend (React + TypeScript, Tailwind)</a:t>
            </a:r>
            <a:endParaRPr lang="en-US" sz="1350" dirty="0"/>
          </a:p>
        </p:txBody>
      </p:sp>
      <p:sp>
        <p:nvSpPr>
          <p:cNvPr id="24" name="Text 22"/>
          <p:cNvSpPr/>
          <p:nvPr/>
        </p:nvSpPr>
        <p:spPr>
          <a:xfrm>
            <a:off x="2029968" y="4462272"/>
            <a:ext cx="8375904" cy="301752"/>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LogUploader · AnalysisLoader · AnomalyCard / ServiceGraph · ChatWindow</a:t>
            </a:r>
            <a:endParaRPr lang="en-US" sz="1000" dirty="0"/>
          </a:p>
        </p:txBody>
      </p:sp>
      <p:sp>
        <p:nvSpPr>
          <p:cNvPr id="25" name="Shape 23"/>
          <p:cNvSpPr/>
          <p:nvPr/>
        </p:nvSpPr>
        <p:spPr>
          <a:xfrm>
            <a:off x="1572768" y="4873752"/>
            <a:ext cx="10040112" cy="658368"/>
          </a:xfrm>
          <a:prstGeom prst="roundRect">
            <a:avLst>
              <a:gd name="adj" fmla="val 8333"/>
            </a:avLst>
          </a:prstGeom>
          <a:solidFill>
            <a:srgbClr val="161B26"/>
          </a:solidFill>
          <a:ln w="9525">
            <a:solidFill>
              <a:srgbClr val="232B3A"/>
            </a:solidFill>
            <a:prstDash val="solid"/>
          </a:ln>
        </p:spPr>
      </p:sp>
      <p:sp>
        <p:nvSpPr>
          <p:cNvPr id="26" name="Shape 24"/>
          <p:cNvSpPr/>
          <p:nvPr/>
        </p:nvSpPr>
        <p:spPr>
          <a:xfrm>
            <a:off x="1773936" y="5029200"/>
            <a:ext cx="347472" cy="347472"/>
          </a:xfrm>
          <a:prstGeom prst="ellipse">
            <a:avLst/>
          </a:prstGeom>
          <a:solidFill>
            <a:srgbClr val="FDB022"/>
          </a:solidFill>
          <a:ln/>
        </p:spPr>
      </p:sp>
      <p:sp>
        <p:nvSpPr>
          <p:cNvPr id="27" name="Text 25"/>
          <p:cNvSpPr/>
          <p:nvPr/>
        </p:nvSpPr>
        <p:spPr>
          <a:xfrm>
            <a:off x="1773936" y="5029200"/>
            <a:ext cx="347472" cy="347472"/>
          </a:xfrm>
          <a:prstGeom prst="rect">
            <a:avLst/>
          </a:prstGeom>
          <a:noFill/>
          <a:ln/>
        </p:spPr>
        <p:txBody>
          <a:bodyPr wrap="square" rtlCol="0" anchor="ctr"/>
          <a:lstStyle/>
          <a:p>
            <a:pPr marL="0" indent="0" algn="ctr">
              <a:buNone/>
            </a:pPr>
            <a:r>
              <a:rPr lang="en-US" sz="988" b="1" dirty="0">
                <a:solidFill>
                  <a:srgbClr val="0D1117"/>
                </a:solidFill>
                <a:latin typeface="Arial" pitchFamily="34" charset="0"/>
                <a:ea typeface="Arial" pitchFamily="34" charset="-122"/>
                <a:cs typeface="Arial" pitchFamily="34" charset="-120"/>
              </a:rPr>
              <a:t>5</a:t>
            </a:r>
            <a:endParaRPr lang="en-US" sz="988" dirty="0"/>
          </a:p>
        </p:txBody>
      </p:sp>
      <p:sp>
        <p:nvSpPr>
          <p:cNvPr id="28" name="Text 26"/>
          <p:cNvSpPr/>
          <p:nvPr/>
        </p:nvSpPr>
        <p:spPr>
          <a:xfrm>
            <a:off x="2286000" y="4928616"/>
            <a:ext cx="4206240" cy="292608"/>
          </a:xfrm>
          <a:prstGeom prst="rect">
            <a:avLst/>
          </a:prstGeom>
          <a:noFill/>
          <a:ln/>
        </p:spPr>
        <p:txBody>
          <a:bodyPr wrap="square" rtlCol="0" anchor="ctr"/>
          <a:lstStyle/>
          <a:p>
            <a:pPr marL="0" indent="0">
              <a:buNone/>
            </a:pPr>
            <a:r>
              <a:rPr lang="en-US" sz="1350" b="1" dirty="0">
                <a:solidFill>
                  <a:srgbClr val="F3F6FB"/>
                </a:solidFill>
                <a:latin typeface="Arial" pitchFamily="34" charset="0"/>
                <a:ea typeface="Arial" pitchFamily="34" charset="-122"/>
                <a:cs typeface="Arial" pitchFamily="34" charset="-120"/>
              </a:rPr>
              <a:t>External AI Services</a:t>
            </a:r>
            <a:endParaRPr lang="en-US" sz="1350" dirty="0"/>
          </a:p>
        </p:txBody>
      </p:sp>
      <p:sp>
        <p:nvSpPr>
          <p:cNvPr id="29" name="Text 27"/>
          <p:cNvSpPr/>
          <p:nvPr/>
        </p:nvSpPr>
        <p:spPr>
          <a:xfrm>
            <a:off x="2286000" y="5212080"/>
            <a:ext cx="8119872" cy="301752"/>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Google Gemini 2.5 Flash / Groq — natural-language explanation &amp; remediation generation</a:t>
            </a:r>
            <a:endParaRPr lang="en-US" sz="1000" dirty="0"/>
          </a:p>
        </p:txBody>
      </p:sp>
      <p:sp>
        <p:nvSpPr>
          <p:cNvPr id="30" name="Shape 28"/>
          <p:cNvSpPr/>
          <p:nvPr/>
        </p:nvSpPr>
        <p:spPr>
          <a:xfrm>
            <a:off x="548640" y="5678424"/>
            <a:ext cx="11064240" cy="777240"/>
          </a:xfrm>
          <a:prstGeom prst="roundRect">
            <a:avLst>
              <a:gd name="adj" fmla="val 7059"/>
            </a:avLst>
          </a:prstGeom>
          <a:solidFill>
            <a:srgbClr val="070A10"/>
          </a:solidFill>
          <a:ln w="12700">
            <a:solidFill>
              <a:srgbClr val="232B3A"/>
            </a:solidFill>
            <a:prstDash val="solid"/>
          </a:ln>
        </p:spPr>
      </p:sp>
      <p:sp>
        <p:nvSpPr>
          <p:cNvPr id="31" name="Text 29"/>
          <p:cNvSpPr/>
          <p:nvPr/>
        </p:nvSpPr>
        <p:spPr>
          <a:xfrm>
            <a:off x="777240" y="5769864"/>
            <a:ext cx="10607040" cy="594360"/>
          </a:xfrm>
          <a:prstGeom prst="rect">
            <a:avLst/>
          </a:prstGeom>
          <a:noFill/>
          <a:ln/>
        </p:spPr>
        <p:txBody>
          <a:bodyPr wrap="square" rtlCol="0" anchor="ctr"/>
          <a:lstStyle/>
          <a:p>
            <a:pPr marL="0" indent="0">
              <a:buNone/>
            </a:pPr>
            <a:r>
              <a:rPr lang="en-US" sz="1100" b="1" dirty="0">
                <a:solidFill>
                  <a:srgbClr val="FDB022"/>
                </a:solidFill>
                <a:latin typeface="Calibri" pitchFamily="34" charset="0"/>
                <a:ea typeface="Calibri" pitchFamily="34" charset="-122"/>
                <a:cs typeface="Calibri" pitchFamily="34" charset="-120"/>
              </a:rPr>
              <a:t>Full design documentation:  </a:t>
            </a:r>
            <a:r>
              <a:rPr lang="en-US" sz="1000" dirty="0">
                <a:solidFill>
                  <a:srgbClr val="8B93A7"/>
                </a:solidFill>
                <a:latin typeface="Calibri" pitchFamily="34" charset="0"/>
                <a:ea typeface="Calibri" pitchFamily="34" charset="-122"/>
                <a:cs typeface="Calibri" pitchFamily="34" charset="-120"/>
              </a:rPr>
              <a:t>the report additionally specifies a DFD Level 0 (context), Level 1 (5 major processes), and Level 2 (anomaly-detection sub-processes) data-flow diagram, a full Entity–Relationship schema for the proposed persistence layer, and a swim-lane diagram tracing the browser → React → FastAPI → ML engine → LLM interaction over time.</a:t>
            </a:r>
            <a:endParaRPr lang="en-US" sz="1100" dirty="0"/>
          </a:p>
        </p:txBody>
      </p:sp>
      <p:sp>
        <p:nvSpPr>
          <p:cNvPr id="32" name="Text 3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METHODOLOGY · DATA</a:t>
            </a:r>
            <a:endParaRPr lang="en-US" sz="1250" dirty="0"/>
          </a:p>
        </p:txBody>
      </p:sp>
      <p:sp>
        <p:nvSpPr>
          <p:cNvPr id="3" name="Text 1"/>
          <p:cNvSpPr/>
          <p:nvPr/>
        </p:nvSpPr>
        <p:spPr>
          <a:xfrm>
            <a:off x="548640" y="713232"/>
            <a:ext cx="10515600" cy="685800"/>
          </a:xfrm>
          <a:prstGeom prst="rect">
            <a:avLst/>
          </a:prstGeom>
          <a:noFill/>
          <a:ln/>
        </p:spPr>
        <p:txBody>
          <a:bodyPr wrap="square" rtlCol="0" anchor="ctr"/>
          <a:lstStyle/>
          <a:p>
            <a:pPr marL="0" indent="0">
              <a:buNone/>
            </a:pPr>
            <a:r>
              <a:rPr lang="en-US" sz="2800" b="1" dirty="0">
                <a:solidFill>
                  <a:srgbClr val="F3F6FB"/>
                </a:solidFill>
                <a:latin typeface="Arial" pitchFamily="34" charset="0"/>
                <a:ea typeface="Arial" pitchFamily="34" charset="-122"/>
                <a:cs typeface="Arial" pitchFamily="34" charset="-120"/>
              </a:rPr>
              <a:t>Datasets &amp; Feature Extraction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2331720"/>
        </p:xfrm>
        <a:graphic>
          <a:graphicData uri="http://schemas.openxmlformats.org/drawingml/2006/table">
            <a:tbl>
              <a:tblPr/>
              <a:tblGrid>
                <a:gridCol w="3291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6634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extLst>
                  <a:ext uri="{0D108BD9-81ED-4DB2-BD59-A6C34878D82A}">
                    <a16:rowId xmlns:a16="http://schemas.microsoft.com/office/drawing/2014/main" val="10000"/>
                  </a:ext>
                </a:extLst>
              </a:tr>
              <a:tr h="466344">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HDFS_2k.log</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60" dirty="0">
                          <a:solidFill>
                            <a:srgbClr val="F3F6FB"/>
                          </a:solidFill>
                          <a:latin typeface="Calibri" pitchFamily="34" charset="0"/>
                          <a:ea typeface="Calibri" pitchFamily="34" charset="-122"/>
                          <a:cs typeface="Calibri" pitchFamily="34" charset="-120"/>
                        </a:rPr>
                        <a:t>281.1 KB</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2,000-line LogHub HDFS sample — regex feature extraction defines 'normal' patterns</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1"/>
                  </a:ext>
                </a:extLst>
              </a:tr>
              <a:tr h="466344">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training_data.csv</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060" dirty="0">
                          <a:solidFill>
                            <a:srgbClr val="F3F6FB"/>
                          </a:solidFill>
                          <a:latin typeface="Calibri" pitchFamily="34" charset="0"/>
                          <a:ea typeface="Calibri" pitchFamily="34" charset="-122"/>
                          <a:cs typeface="Calibri" pitchFamily="34" charset="-120"/>
                        </a:rPr>
                        <a:t>68 B</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Hand-labelled errors / cpu / disk / label table bootstraps supervised training</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extLst>
                  <a:ext uri="{0D108BD9-81ED-4DB2-BD59-A6C34878D82A}">
                    <a16:rowId xmlns:a16="http://schemas.microsoft.com/office/drawing/2014/main" val="10002"/>
                  </a:ext>
                </a:extLst>
              </a:tr>
              <a:tr h="466344">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Event-occurrence matrix + labels</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60" dirty="0">
                          <a:solidFill>
                            <a:srgbClr val="F3F6FB"/>
                          </a:solidFill>
                          <a:latin typeface="Calibri" pitchFamily="34" charset="0"/>
                          <a:ea typeface="Calibri" pitchFamily="34" charset="-122"/>
                          <a:cs typeface="Calibri" pitchFamily="34" charset="-120"/>
                        </a:rPr>
                        <a:t>50.64 MB + 17.77 MB</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Full HDFS benchmark (columns E1–E29) — trains the Random Forest pipeline</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3"/>
                  </a:ext>
                </a:extLst>
              </a:tr>
              <a:tr h="466344">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test_normal / test_hdfs_error / test_database_error</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ctr">
                        <a:buNone/>
                      </a:pPr>
                      <a:r>
                        <a:rPr lang="en-US" sz="1060" dirty="0">
                          <a:solidFill>
                            <a:srgbClr val="F3F6FB"/>
                          </a:solidFill>
                          <a:latin typeface="Calibri" pitchFamily="34" charset="0"/>
                          <a:ea typeface="Calibri" pitchFamily="34" charset="-122"/>
                          <a:cs typeface="Calibri" pitchFamily="34" charset="-120"/>
                        </a:rPr>
                        <a:t>188–490 B</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60" dirty="0">
                          <a:solidFill>
                            <a:srgbClr val="F3F6FB"/>
                          </a:solidFill>
                          <a:latin typeface="Calibri" pitchFamily="34" charset="0"/>
                          <a:ea typeface="Calibri" pitchFamily="34" charset="-122"/>
                          <a:cs typeface="Calibri" pitchFamily="34" charset="-120"/>
                        </a:rPr>
                        <a:t>Held-out logs validating the three recognised issue archetypes end-to-end</a:t>
                      </a:r>
                      <a:endParaRPr lang="en-US" sz="106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3913632"/>
            <a:ext cx="7315200" cy="32004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How Raw Text Becomes a Feature Vector</a:t>
            </a:r>
            <a:endParaRPr lang="en-US" sz="1500" dirty="0"/>
          </a:p>
        </p:txBody>
      </p:sp>
      <p:sp>
        <p:nvSpPr>
          <p:cNvPr id="6" name="Text 3"/>
          <p:cNvSpPr/>
          <p:nvPr/>
        </p:nvSpPr>
        <p:spPr>
          <a:xfrm>
            <a:off x="548640" y="4251960"/>
            <a:ext cx="11064240" cy="365760"/>
          </a:xfrm>
          <a:prstGeom prst="rect">
            <a:avLst/>
          </a:prstGeom>
          <a:noFill/>
          <a:ln/>
        </p:spPr>
        <p:txBody>
          <a:bodyPr wrap="square" rtlCol="0" anchor="ctr"/>
          <a:lstStyle/>
          <a:p>
            <a:pPr marL="0" indent="0">
              <a:buNone/>
            </a:pPr>
            <a:r>
              <a:rPr lang="en-US" sz="1100" dirty="0">
                <a:solidFill>
                  <a:srgbClr val="8B93A7"/>
                </a:solidFill>
                <a:latin typeface="Calibri" pitchFamily="34" charset="0"/>
                <a:ea typeface="Calibri" pitchFamily="34" charset="-122"/>
                <a:cs typeface="Calibri" pitchFamily="34" charset="-120"/>
              </a:rPr>
              <a:t>Every log — training or uploaded — is reduced to the same 3-value vector [errors, cpu, disk] using regular-expression heuristics, so one StandardScaler and one model definition serve both training and inference:</a:t>
            </a:r>
            <a:endParaRPr lang="en-US" sz="1100" dirty="0"/>
          </a:p>
        </p:txBody>
      </p:sp>
      <p:sp>
        <p:nvSpPr>
          <p:cNvPr id="7" name="Shape 4"/>
          <p:cNvSpPr/>
          <p:nvPr/>
        </p:nvSpPr>
        <p:spPr>
          <a:xfrm>
            <a:off x="548640" y="4709160"/>
            <a:ext cx="3566160" cy="1051560"/>
          </a:xfrm>
          <a:prstGeom prst="roundRect">
            <a:avLst>
              <a:gd name="adj" fmla="val 5217"/>
            </a:avLst>
          </a:prstGeom>
          <a:solidFill>
            <a:srgbClr val="161B26"/>
          </a:solidFill>
          <a:ln w="12700">
            <a:solidFill>
              <a:srgbClr val="232B3A"/>
            </a:solidFill>
            <a:prstDash val="solid"/>
          </a:ln>
        </p:spPr>
      </p:sp>
      <p:sp>
        <p:nvSpPr>
          <p:cNvPr id="8" name="Text 5"/>
          <p:cNvSpPr/>
          <p:nvPr/>
        </p:nvSpPr>
        <p:spPr>
          <a:xfrm>
            <a:off x="731520" y="4818888"/>
            <a:ext cx="3200400" cy="274320"/>
          </a:xfrm>
          <a:prstGeom prst="rect">
            <a:avLst/>
          </a:prstGeom>
          <a:noFill/>
          <a:ln/>
        </p:spPr>
        <p:txBody>
          <a:bodyPr wrap="square" rtlCol="0" anchor="ctr"/>
          <a:lstStyle/>
          <a:p>
            <a:pPr marL="0" indent="0">
              <a:buNone/>
            </a:pPr>
            <a:r>
              <a:rPr lang="en-US" sz="1300" b="1" dirty="0">
                <a:solidFill>
                  <a:srgbClr val="4CC9F0"/>
                </a:solidFill>
                <a:latin typeface="Arial" pitchFamily="34" charset="0"/>
                <a:ea typeface="Arial" pitchFamily="34" charset="-122"/>
                <a:cs typeface="Arial" pitchFamily="34" charset="-120"/>
              </a:rPr>
              <a:t>errors</a:t>
            </a:r>
            <a:endParaRPr lang="en-US" sz="1300" dirty="0"/>
          </a:p>
        </p:txBody>
      </p:sp>
      <p:sp>
        <p:nvSpPr>
          <p:cNvPr id="4" name="Text 6"/>
          <p:cNvSpPr/>
          <p:nvPr/>
        </p:nvSpPr>
        <p:spPr>
          <a:xfrm>
            <a:off x="731520" y="5166360"/>
            <a:ext cx="3200400" cy="502920"/>
          </a:xfrm>
          <a:prstGeom prst="rect">
            <a:avLst/>
          </a:prstGeom>
          <a:noFill/>
          <a:ln/>
        </p:spPr>
        <p:txBody>
          <a:bodyPr wrap="square" rtlCol="0" anchor="ctr"/>
          <a:lstStyle/>
          <a:p>
            <a:pPr marL="0" indent="0">
              <a:buNone/>
            </a:pPr>
            <a:r>
              <a:rPr lang="en-US" sz="1050" dirty="0">
                <a:solidFill>
                  <a:srgbClr val="F3F6FB"/>
                </a:solidFill>
                <a:latin typeface="Consolas" pitchFamily="34" charset="0"/>
                <a:ea typeface="Consolas" pitchFamily="34" charset="-122"/>
                <a:cs typeface="Consolas" pitchFamily="34" charset="-120"/>
              </a:rPr>
              <a:t>error | fail | panic | critical | exception | warn</a:t>
            </a:r>
            <a:endParaRPr lang="en-US" sz="1050" dirty="0"/>
          </a:p>
        </p:txBody>
      </p:sp>
      <p:sp>
        <p:nvSpPr>
          <p:cNvPr id="10" name="Shape 7"/>
          <p:cNvSpPr/>
          <p:nvPr/>
        </p:nvSpPr>
        <p:spPr>
          <a:xfrm>
            <a:off x="4297680" y="4709160"/>
            <a:ext cx="3566160" cy="1051560"/>
          </a:xfrm>
          <a:prstGeom prst="roundRect">
            <a:avLst>
              <a:gd name="adj" fmla="val 5217"/>
            </a:avLst>
          </a:prstGeom>
          <a:solidFill>
            <a:srgbClr val="161B26"/>
          </a:solidFill>
          <a:ln w="12700">
            <a:solidFill>
              <a:srgbClr val="232B3A"/>
            </a:solidFill>
            <a:prstDash val="solid"/>
          </a:ln>
        </p:spPr>
      </p:sp>
      <p:sp>
        <p:nvSpPr>
          <p:cNvPr id="11" name="Text 8"/>
          <p:cNvSpPr/>
          <p:nvPr/>
        </p:nvSpPr>
        <p:spPr>
          <a:xfrm>
            <a:off x="4480560" y="4818888"/>
            <a:ext cx="3200400" cy="274320"/>
          </a:xfrm>
          <a:prstGeom prst="rect">
            <a:avLst/>
          </a:prstGeom>
          <a:noFill/>
          <a:ln/>
        </p:spPr>
        <p:txBody>
          <a:bodyPr wrap="square" rtlCol="0" anchor="ctr"/>
          <a:lstStyle/>
          <a:p>
            <a:pPr marL="0" indent="0">
              <a:buNone/>
            </a:pPr>
            <a:r>
              <a:rPr lang="en-US" sz="1300" b="1" dirty="0">
                <a:solidFill>
                  <a:srgbClr val="4CC9F0"/>
                </a:solidFill>
                <a:latin typeface="Arial" pitchFamily="34" charset="0"/>
                <a:ea typeface="Arial" pitchFamily="34" charset="-122"/>
                <a:cs typeface="Arial" pitchFamily="34" charset="-120"/>
              </a:rPr>
              <a:t>cpu_mentions</a:t>
            </a:r>
            <a:endParaRPr lang="en-US" sz="1300" dirty="0"/>
          </a:p>
        </p:txBody>
      </p:sp>
      <p:sp>
        <p:nvSpPr>
          <p:cNvPr id="12" name="Text 9"/>
          <p:cNvSpPr/>
          <p:nvPr/>
        </p:nvSpPr>
        <p:spPr>
          <a:xfrm>
            <a:off x="4480560" y="5166360"/>
            <a:ext cx="3200400" cy="502920"/>
          </a:xfrm>
          <a:prstGeom prst="rect">
            <a:avLst/>
          </a:prstGeom>
          <a:noFill/>
          <a:ln/>
        </p:spPr>
        <p:txBody>
          <a:bodyPr wrap="square" rtlCol="0" anchor="ctr"/>
          <a:lstStyle/>
          <a:p>
            <a:pPr marL="0" indent="0">
              <a:buNone/>
            </a:pPr>
            <a:r>
              <a:rPr lang="en-US" sz="1050" dirty="0">
                <a:solidFill>
                  <a:srgbClr val="F3F6FB"/>
                </a:solidFill>
                <a:latin typeface="Consolas" pitchFamily="34" charset="0"/>
                <a:ea typeface="Consolas" pitchFamily="34" charset="-122"/>
                <a:cs typeface="Consolas" pitchFamily="34" charset="-120"/>
              </a:rPr>
              <a:t>cpu | overload | latency | timeout | ms</a:t>
            </a:r>
            <a:endParaRPr lang="en-US" sz="1050" dirty="0"/>
          </a:p>
        </p:txBody>
      </p:sp>
      <p:sp>
        <p:nvSpPr>
          <p:cNvPr id="13" name="Shape 10"/>
          <p:cNvSpPr/>
          <p:nvPr/>
        </p:nvSpPr>
        <p:spPr>
          <a:xfrm>
            <a:off x="8046720" y="4709160"/>
            <a:ext cx="3566160" cy="1051560"/>
          </a:xfrm>
          <a:prstGeom prst="roundRect">
            <a:avLst>
              <a:gd name="adj" fmla="val 5217"/>
            </a:avLst>
          </a:prstGeom>
          <a:solidFill>
            <a:srgbClr val="161B26"/>
          </a:solidFill>
          <a:ln w="12700">
            <a:solidFill>
              <a:srgbClr val="232B3A"/>
            </a:solidFill>
            <a:prstDash val="solid"/>
          </a:ln>
        </p:spPr>
      </p:sp>
      <p:sp>
        <p:nvSpPr>
          <p:cNvPr id="14" name="Text 11"/>
          <p:cNvSpPr/>
          <p:nvPr/>
        </p:nvSpPr>
        <p:spPr>
          <a:xfrm>
            <a:off x="8229600" y="4818888"/>
            <a:ext cx="3200400" cy="274320"/>
          </a:xfrm>
          <a:prstGeom prst="rect">
            <a:avLst/>
          </a:prstGeom>
          <a:noFill/>
          <a:ln/>
        </p:spPr>
        <p:txBody>
          <a:bodyPr wrap="square" rtlCol="0" anchor="ctr"/>
          <a:lstStyle/>
          <a:p>
            <a:pPr marL="0" indent="0">
              <a:buNone/>
            </a:pPr>
            <a:r>
              <a:rPr lang="en-US" sz="1300" b="1" dirty="0">
                <a:solidFill>
                  <a:srgbClr val="4CC9F0"/>
                </a:solidFill>
                <a:latin typeface="Arial" pitchFamily="34" charset="0"/>
                <a:ea typeface="Arial" pitchFamily="34" charset="-122"/>
                <a:cs typeface="Arial" pitchFamily="34" charset="-120"/>
              </a:rPr>
              <a:t>disk_mentions</a:t>
            </a:r>
            <a:endParaRPr lang="en-US" sz="1300" dirty="0"/>
          </a:p>
        </p:txBody>
      </p:sp>
      <p:sp>
        <p:nvSpPr>
          <p:cNvPr id="15" name="Text 12"/>
          <p:cNvSpPr/>
          <p:nvPr/>
        </p:nvSpPr>
        <p:spPr>
          <a:xfrm>
            <a:off x="8229600" y="5166360"/>
            <a:ext cx="3200400" cy="502920"/>
          </a:xfrm>
          <a:prstGeom prst="rect">
            <a:avLst/>
          </a:prstGeom>
          <a:noFill/>
          <a:ln/>
        </p:spPr>
        <p:txBody>
          <a:bodyPr wrap="square" rtlCol="0" anchor="ctr"/>
          <a:lstStyle/>
          <a:p>
            <a:pPr marL="0" indent="0">
              <a:buNone/>
            </a:pPr>
            <a:r>
              <a:rPr lang="en-US" sz="1050" dirty="0">
                <a:solidFill>
                  <a:srgbClr val="F3F6FB"/>
                </a:solidFill>
                <a:latin typeface="Consolas" pitchFamily="34" charset="0"/>
                <a:ea typeface="Consolas" pitchFamily="34" charset="-122"/>
                <a:cs typeface="Consolas" pitchFamily="34" charset="-120"/>
              </a:rPr>
              <a:t>disk | full | storage | block | dfs | datanode</a:t>
            </a:r>
            <a:endParaRPr lang="en-US" sz="1050" dirty="0"/>
          </a:p>
        </p:txBody>
      </p:sp>
      <p:sp>
        <p:nvSpPr>
          <p:cNvPr id="16" name="Text 13"/>
          <p:cNvSpPr/>
          <p:nvPr/>
        </p:nvSpPr>
        <p:spPr>
          <a:xfrm>
            <a:off x="548640" y="5870448"/>
            <a:ext cx="11064240" cy="502920"/>
          </a:xfrm>
          <a:prstGeom prst="rect">
            <a:avLst/>
          </a:prstGeom>
          <a:noFill/>
          <a:ln/>
        </p:spPr>
        <p:txBody>
          <a:bodyPr wrap="square" rtlCol="0" anchor="ctr"/>
          <a:lstStyle/>
          <a:p>
            <a:pPr marL="0" indent="0">
              <a:buNone/>
            </a:pPr>
            <a:r>
              <a:rPr lang="en-US" sz="960" i="1" dirty="0">
                <a:solidFill>
                  <a:srgbClr val="8B93A7"/>
                </a:solidFill>
                <a:latin typeface="Calibri" pitchFamily="34" charset="0"/>
                <a:ea typeface="Calibri" pitchFamily="34" charset="-122"/>
                <a:cs typeface="Calibri" pitchFamily="34" charset="-120"/>
              </a:rPr>
              <a:t>Note: the training-time parser (parse_hdfs_logs) reads HDFS_2k.log line-by-line; the inference-time extractor (extract_features) scans an entire uploaded file at once — both are deliberately lightweight, regex-only, with no external log-parsing library, trading some precision for zero dependency overhead and speed.</a:t>
            </a:r>
            <a:endParaRPr lang="en-US" sz="960" dirty="0"/>
          </a:p>
        </p:txBody>
      </p:sp>
      <p:sp>
        <p:nvSpPr>
          <p:cNvPr id="17" name="Text 14"/>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METHODOLOGY · TRAINING PIPELINE</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From Raw Logs to Deployable Models</a:t>
            </a:r>
            <a:endParaRPr lang="en-US" sz="2900" dirty="0"/>
          </a:p>
        </p:txBody>
      </p:sp>
      <p:sp>
        <p:nvSpPr>
          <p:cNvPr id="4" name="Text 2"/>
          <p:cNvSpPr/>
          <p:nvPr/>
        </p:nvSpPr>
        <p:spPr>
          <a:xfrm>
            <a:off x="548640" y="1417320"/>
            <a:ext cx="10881360" cy="502920"/>
          </a:xfrm>
          <a:prstGeom prst="rect">
            <a:avLst/>
          </a:prstGeom>
          <a:noFill/>
          <a:ln/>
        </p:spPr>
        <p:txBody>
          <a:bodyPr wrap="square" rtlCol="0" anchor="ctr"/>
          <a:lstStyle/>
          <a:p>
            <a:pPr marL="0" indent="0">
              <a:buNone/>
            </a:pPr>
            <a:r>
              <a:rPr lang="en-US" sz="1100" dirty="0">
                <a:solidFill>
                  <a:srgbClr val="8B93A7"/>
                </a:solidFill>
                <a:latin typeface="Calibri" pitchFamily="34" charset="0"/>
                <a:ea typeface="Calibri" pitchFamily="34" charset="-122"/>
                <a:cs typeface="Calibri" pitchFamily="34" charset="-120"/>
              </a:rPr>
              <a:t>Both model artifacts are built from the same raw sources, but diverge into a supervised and an unsupervised path after feature scaling. Train/test split strategy: Random Forest uses an 80/20 stratified split (random_state = 42); the LSTM Autoencoder trains on normal-only samples and is validated at inference against three held-out log files.</a:t>
            </a:r>
            <a:endParaRPr lang="en-US" sz="1100" dirty="0"/>
          </a:p>
        </p:txBody>
      </p:sp>
      <p:sp>
        <p:nvSpPr>
          <p:cNvPr id="5" name="Shape 3"/>
          <p:cNvSpPr/>
          <p:nvPr/>
        </p:nvSpPr>
        <p:spPr>
          <a:xfrm>
            <a:off x="548640" y="2148840"/>
            <a:ext cx="320040" cy="320040"/>
          </a:xfrm>
          <a:prstGeom prst="ellipse">
            <a:avLst/>
          </a:prstGeom>
          <a:solidFill>
            <a:srgbClr val="FDB022"/>
          </a:solidFill>
          <a:ln/>
        </p:spPr>
      </p:sp>
      <p:sp>
        <p:nvSpPr>
          <p:cNvPr id="6" name="Text 4"/>
          <p:cNvSpPr/>
          <p:nvPr/>
        </p:nvSpPr>
        <p:spPr>
          <a:xfrm>
            <a:off x="548640" y="2148840"/>
            <a:ext cx="320040" cy="320040"/>
          </a:xfrm>
          <a:prstGeom prst="rect">
            <a:avLst/>
          </a:prstGeom>
          <a:noFill/>
          <a:ln/>
        </p:spPr>
        <p:txBody>
          <a:bodyPr wrap="square" rtlCol="0" anchor="ctr"/>
          <a:lstStyle/>
          <a:p>
            <a:pPr marL="0" indent="0" algn="ctr">
              <a:buNone/>
            </a:pPr>
            <a:r>
              <a:rPr lang="en-US" sz="910" b="1" dirty="0">
                <a:solidFill>
                  <a:srgbClr val="0D1117"/>
                </a:solidFill>
                <a:latin typeface="Arial" pitchFamily="34" charset="0"/>
                <a:ea typeface="Arial" pitchFamily="34" charset="-122"/>
                <a:cs typeface="Arial" pitchFamily="34" charset="-120"/>
              </a:rPr>
              <a:t>1</a:t>
            </a:r>
            <a:endParaRPr lang="en-US" sz="910" dirty="0"/>
          </a:p>
        </p:txBody>
      </p:sp>
      <p:sp>
        <p:nvSpPr>
          <p:cNvPr id="7" name="Text 5"/>
          <p:cNvSpPr/>
          <p:nvPr/>
        </p:nvSpPr>
        <p:spPr>
          <a:xfrm>
            <a:off x="1051560" y="2121408"/>
            <a:ext cx="4663440" cy="402336"/>
          </a:xfrm>
          <a:prstGeom prst="rect">
            <a:avLst/>
          </a:prstGeom>
          <a:noFill/>
          <a:ln/>
        </p:spPr>
        <p:txBody>
          <a:bodyPr wrap="square" rtlCol="0" anchor="ctr"/>
          <a:lstStyle/>
          <a:p>
            <a:pPr marL="0" indent="0">
              <a:buNone/>
            </a:pPr>
            <a:r>
              <a:rPr lang="en-US" sz="1130" dirty="0">
                <a:solidFill>
                  <a:srgbClr val="F3F6FB"/>
                </a:solidFill>
                <a:latin typeface="Calibri" pitchFamily="34" charset="0"/>
                <a:ea typeface="Calibri" pitchFamily="34" charset="-122"/>
                <a:cs typeface="Calibri" pitchFamily="34" charset="-120"/>
              </a:rPr>
              <a:t>Raw Data Sources — HDFS_2k.log + training_data.csv</a:t>
            </a:r>
            <a:endParaRPr lang="en-US" sz="1130" dirty="0"/>
          </a:p>
        </p:txBody>
      </p:sp>
      <p:sp>
        <p:nvSpPr>
          <p:cNvPr id="8" name="Shape 6"/>
          <p:cNvSpPr/>
          <p:nvPr/>
        </p:nvSpPr>
        <p:spPr>
          <a:xfrm>
            <a:off x="708660" y="2468880"/>
            <a:ext cx="0" cy="137160"/>
          </a:xfrm>
          <a:prstGeom prst="line">
            <a:avLst/>
          </a:prstGeom>
          <a:noFill/>
          <a:ln w="19050">
            <a:solidFill>
              <a:srgbClr val="232B3A"/>
            </a:solidFill>
            <a:prstDash val="solid"/>
          </a:ln>
        </p:spPr>
      </p:sp>
      <p:sp>
        <p:nvSpPr>
          <p:cNvPr id="9" name="Shape 7"/>
          <p:cNvSpPr/>
          <p:nvPr/>
        </p:nvSpPr>
        <p:spPr>
          <a:xfrm>
            <a:off x="548640" y="2606040"/>
            <a:ext cx="320040" cy="320040"/>
          </a:xfrm>
          <a:prstGeom prst="ellipse">
            <a:avLst/>
          </a:prstGeom>
          <a:solidFill>
            <a:srgbClr val="FDB022"/>
          </a:solidFill>
          <a:ln/>
        </p:spPr>
      </p:sp>
      <p:sp>
        <p:nvSpPr>
          <p:cNvPr id="10" name="Text 8"/>
          <p:cNvSpPr/>
          <p:nvPr/>
        </p:nvSpPr>
        <p:spPr>
          <a:xfrm>
            <a:off x="548640" y="2606040"/>
            <a:ext cx="320040" cy="320040"/>
          </a:xfrm>
          <a:prstGeom prst="rect">
            <a:avLst/>
          </a:prstGeom>
          <a:noFill/>
          <a:ln/>
        </p:spPr>
        <p:txBody>
          <a:bodyPr wrap="square" rtlCol="0" anchor="ctr"/>
          <a:lstStyle/>
          <a:p>
            <a:pPr marL="0" indent="0" algn="ctr">
              <a:buNone/>
            </a:pPr>
            <a:r>
              <a:rPr lang="en-US" sz="910" b="1" dirty="0">
                <a:solidFill>
                  <a:srgbClr val="0D1117"/>
                </a:solidFill>
                <a:latin typeface="Arial" pitchFamily="34" charset="0"/>
                <a:ea typeface="Arial" pitchFamily="34" charset="-122"/>
                <a:cs typeface="Arial" pitchFamily="34" charset="-120"/>
              </a:rPr>
              <a:t>2</a:t>
            </a:r>
            <a:endParaRPr lang="en-US" sz="910" dirty="0"/>
          </a:p>
        </p:txBody>
      </p:sp>
      <p:sp>
        <p:nvSpPr>
          <p:cNvPr id="11" name="Text 9"/>
          <p:cNvSpPr/>
          <p:nvPr/>
        </p:nvSpPr>
        <p:spPr>
          <a:xfrm>
            <a:off x="1051560" y="2578608"/>
            <a:ext cx="4663440" cy="402336"/>
          </a:xfrm>
          <a:prstGeom prst="rect">
            <a:avLst/>
          </a:prstGeom>
          <a:noFill/>
          <a:ln/>
        </p:spPr>
        <p:txBody>
          <a:bodyPr wrap="square" rtlCol="0" anchor="ctr"/>
          <a:lstStyle/>
          <a:p>
            <a:pPr marL="0" indent="0">
              <a:buNone/>
            </a:pPr>
            <a:r>
              <a:rPr lang="en-US" sz="1130" dirty="0">
                <a:solidFill>
                  <a:srgbClr val="F3F6FB"/>
                </a:solidFill>
                <a:latin typeface="Calibri" pitchFamily="34" charset="0"/>
                <a:ea typeface="Calibri" pitchFamily="34" charset="-122"/>
                <a:cs typeface="Calibri" pitchFamily="34" charset="-120"/>
              </a:rPr>
              <a:t>Log Parsing — keep INFO lines only, cap at 50,000</a:t>
            </a:r>
            <a:endParaRPr lang="en-US" sz="1130" dirty="0"/>
          </a:p>
        </p:txBody>
      </p:sp>
      <p:sp>
        <p:nvSpPr>
          <p:cNvPr id="12" name="Shape 10"/>
          <p:cNvSpPr/>
          <p:nvPr/>
        </p:nvSpPr>
        <p:spPr>
          <a:xfrm>
            <a:off x="708660" y="2926080"/>
            <a:ext cx="0" cy="137160"/>
          </a:xfrm>
          <a:prstGeom prst="line">
            <a:avLst/>
          </a:prstGeom>
          <a:noFill/>
          <a:ln w="19050">
            <a:solidFill>
              <a:srgbClr val="232B3A"/>
            </a:solidFill>
            <a:prstDash val="solid"/>
          </a:ln>
        </p:spPr>
      </p:sp>
      <p:sp>
        <p:nvSpPr>
          <p:cNvPr id="13" name="Shape 11"/>
          <p:cNvSpPr/>
          <p:nvPr/>
        </p:nvSpPr>
        <p:spPr>
          <a:xfrm>
            <a:off x="548640" y="3063240"/>
            <a:ext cx="320040" cy="320040"/>
          </a:xfrm>
          <a:prstGeom prst="ellipse">
            <a:avLst/>
          </a:prstGeom>
          <a:solidFill>
            <a:srgbClr val="FDB022"/>
          </a:solidFill>
          <a:ln/>
        </p:spPr>
      </p:sp>
      <p:sp>
        <p:nvSpPr>
          <p:cNvPr id="14" name="Text 12"/>
          <p:cNvSpPr/>
          <p:nvPr/>
        </p:nvSpPr>
        <p:spPr>
          <a:xfrm>
            <a:off x="548640" y="3063240"/>
            <a:ext cx="320040" cy="320040"/>
          </a:xfrm>
          <a:prstGeom prst="rect">
            <a:avLst/>
          </a:prstGeom>
          <a:noFill/>
          <a:ln/>
        </p:spPr>
        <p:txBody>
          <a:bodyPr wrap="square" rtlCol="0" anchor="ctr"/>
          <a:lstStyle/>
          <a:p>
            <a:pPr marL="0" indent="0" algn="ctr">
              <a:buNone/>
            </a:pPr>
            <a:r>
              <a:rPr lang="en-US" sz="910" b="1" dirty="0">
                <a:solidFill>
                  <a:srgbClr val="0D1117"/>
                </a:solidFill>
                <a:latin typeface="Arial" pitchFamily="34" charset="0"/>
                <a:ea typeface="Arial" pitchFamily="34" charset="-122"/>
                <a:cs typeface="Arial" pitchFamily="34" charset="-120"/>
              </a:rPr>
              <a:t>3</a:t>
            </a:r>
            <a:endParaRPr lang="en-US" sz="910" dirty="0"/>
          </a:p>
        </p:txBody>
      </p:sp>
      <p:sp>
        <p:nvSpPr>
          <p:cNvPr id="15" name="Text 13"/>
          <p:cNvSpPr/>
          <p:nvPr/>
        </p:nvSpPr>
        <p:spPr>
          <a:xfrm>
            <a:off x="1051560" y="3035808"/>
            <a:ext cx="4663440" cy="402336"/>
          </a:xfrm>
          <a:prstGeom prst="rect">
            <a:avLst/>
          </a:prstGeom>
          <a:noFill/>
          <a:ln/>
        </p:spPr>
        <p:txBody>
          <a:bodyPr wrap="square" rtlCol="0" anchor="ctr"/>
          <a:lstStyle/>
          <a:p>
            <a:pPr marL="0" indent="0">
              <a:buNone/>
            </a:pPr>
            <a:r>
              <a:rPr lang="en-US" sz="1130" dirty="0">
                <a:solidFill>
                  <a:srgbClr val="F3F6FB"/>
                </a:solidFill>
                <a:latin typeface="Calibri" pitchFamily="34" charset="0"/>
                <a:ea typeface="Calibri" pitchFamily="34" charset="-122"/>
                <a:cs typeface="Calibri" pitchFamily="34" charset="-120"/>
              </a:rPr>
              <a:t>Feature Derivation — errors / cpu-mentions / disk-mentions (regex heuristics)</a:t>
            </a:r>
            <a:endParaRPr lang="en-US" sz="1130" dirty="0"/>
          </a:p>
        </p:txBody>
      </p:sp>
      <p:sp>
        <p:nvSpPr>
          <p:cNvPr id="16" name="Shape 14"/>
          <p:cNvSpPr/>
          <p:nvPr/>
        </p:nvSpPr>
        <p:spPr>
          <a:xfrm>
            <a:off x="708660" y="3383280"/>
            <a:ext cx="0" cy="137160"/>
          </a:xfrm>
          <a:prstGeom prst="line">
            <a:avLst/>
          </a:prstGeom>
          <a:noFill/>
          <a:ln w="19050">
            <a:solidFill>
              <a:srgbClr val="232B3A"/>
            </a:solidFill>
            <a:prstDash val="solid"/>
          </a:ln>
        </p:spPr>
      </p:sp>
      <p:sp>
        <p:nvSpPr>
          <p:cNvPr id="17" name="Shape 15"/>
          <p:cNvSpPr/>
          <p:nvPr/>
        </p:nvSpPr>
        <p:spPr>
          <a:xfrm>
            <a:off x="548640" y="3520440"/>
            <a:ext cx="320040" cy="320040"/>
          </a:xfrm>
          <a:prstGeom prst="ellipse">
            <a:avLst/>
          </a:prstGeom>
          <a:solidFill>
            <a:srgbClr val="FDB022"/>
          </a:solidFill>
          <a:ln/>
        </p:spPr>
      </p:sp>
      <p:sp>
        <p:nvSpPr>
          <p:cNvPr id="18" name="Text 16"/>
          <p:cNvSpPr/>
          <p:nvPr/>
        </p:nvSpPr>
        <p:spPr>
          <a:xfrm>
            <a:off x="548640" y="3520440"/>
            <a:ext cx="320040" cy="320040"/>
          </a:xfrm>
          <a:prstGeom prst="rect">
            <a:avLst/>
          </a:prstGeom>
          <a:noFill/>
          <a:ln/>
        </p:spPr>
        <p:txBody>
          <a:bodyPr wrap="square" rtlCol="0" anchor="ctr"/>
          <a:lstStyle/>
          <a:p>
            <a:pPr marL="0" indent="0" algn="ctr">
              <a:buNone/>
            </a:pPr>
            <a:r>
              <a:rPr lang="en-US" sz="910" b="1" dirty="0">
                <a:solidFill>
                  <a:srgbClr val="0D1117"/>
                </a:solidFill>
                <a:latin typeface="Arial" pitchFamily="34" charset="0"/>
                <a:ea typeface="Arial" pitchFamily="34" charset="-122"/>
                <a:cs typeface="Arial" pitchFamily="34" charset="-120"/>
              </a:rPr>
              <a:t>4</a:t>
            </a:r>
            <a:endParaRPr lang="en-US" sz="910" dirty="0"/>
          </a:p>
        </p:txBody>
      </p:sp>
      <p:sp>
        <p:nvSpPr>
          <p:cNvPr id="19" name="Text 17"/>
          <p:cNvSpPr/>
          <p:nvPr/>
        </p:nvSpPr>
        <p:spPr>
          <a:xfrm>
            <a:off x="1051560" y="3493008"/>
            <a:ext cx="4663440" cy="402336"/>
          </a:xfrm>
          <a:prstGeom prst="rect">
            <a:avLst/>
          </a:prstGeom>
          <a:noFill/>
          <a:ln/>
        </p:spPr>
        <p:txBody>
          <a:bodyPr wrap="square" rtlCol="0" anchor="ctr"/>
          <a:lstStyle/>
          <a:p>
            <a:pPr marL="0" indent="0">
              <a:buNone/>
            </a:pPr>
            <a:r>
              <a:rPr lang="en-US" sz="1130" dirty="0">
                <a:solidFill>
                  <a:srgbClr val="F3F6FB"/>
                </a:solidFill>
                <a:latin typeface="Calibri" pitchFamily="34" charset="0"/>
                <a:ea typeface="Calibri" pitchFamily="34" charset="-122"/>
                <a:cs typeface="Calibri" pitchFamily="34" charset="-120"/>
              </a:rPr>
              <a:t>Feature Scaling — StandardScaler.fit_transform normalizes all inputs</a:t>
            </a:r>
            <a:endParaRPr lang="en-US" sz="1130" dirty="0"/>
          </a:p>
        </p:txBody>
      </p:sp>
      <p:sp>
        <p:nvSpPr>
          <p:cNvPr id="20" name="Text 18"/>
          <p:cNvSpPr/>
          <p:nvPr/>
        </p:nvSpPr>
        <p:spPr>
          <a:xfrm>
            <a:off x="548640" y="3977640"/>
            <a:ext cx="4572000" cy="274320"/>
          </a:xfrm>
          <a:prstGeom prst="rect">
            <a:avLst/>
          </a:prstGeom>
          <a:noFill/>
          <a:ln/>
        </p:spPr>
        <p:txBody>
          <a:bodyPr wrap="square" rtlCol="0" anchor="ctr"/>
          <a:lstStyle/>
          <a:p>
            <a:pPr marL="0" indent="0">
              <a:buNone/>
            </a:pPr>
            <a:r>
              <a:rPr lang="en-US" sz="1050" i="1" dirty="0">
                <a:solidFill>
                  <a:srgbClr val="8B93A7"/>
                </a:solidFill>
                <a:latin typeface="Calibri" pitchFamily="34" charset="0"/>
                <a:ea typeface="Calibri" pitchFamily="34" charset="-122"/>
                <a:cs typeface="Calibri" pitchFamily="34" charset="-120"/>
              </a:rPr>
              <a:t>↓  splits into two parallel training paths</a:t>
            </a:r>
            <a:endParaRPr lang="en-US" sz="1050" dirty="0"/>
          </a:p>
        </p:txBody>
      </p:sp>
      <p:sp>
        <p:nvSpPr>
          <p:cNvPr id="21" name="Shape 19"/>
          <p:cNvSpPr/>
          <p:nvPr/>
        </p:nvSpPr>
        <p:spPr>
          <a:xfrm>
            <a:off x="548640" y="4297680"/>
            <a:ext cx="5212080" cy="2148840"/>
          </a:xfrm>
          <a:prstGeom prst="roundRect">
            <a:avLst>
              <a:gd name="adj" fmla="val 3404"/>
            </a:avLst>
          </a:prstGeom>
          <a:solidFill>
            <a:srgbClr val="161B26"/>
          </a:solidFill>
          <a:ln w="12700">
            <a:solidFill>
              <a:srgbClr val="3DDC97"/>
            </a:solidFill>
            <a:prstDash val="solid"/>
          </a:ln>
        </p:spPr>
      </p:sp>
      <p:sp>
        <p:nvSpPr>
          <p:cNvPr id="22" name="Text 20"/>
          <p:cNvSpPr/>
          <p:nvPr/>
        </p:nvSpPr>
        <p:spPr>
          <a:xfrm>
            <a:off x="777240" y="4453128"/>
            <a:ext cx="4754880" cy="320040"/>
          </a:xfrm>
          <a:prstGeom prst="rect">
            <a:avLst/>
          </a:prstGeom>
          <a:noFill/>
          <a:ln/>
        </p:spPr>
        <p:txBody>
          <a:bodyPr wrap="square" rtlCol="0" anchor="ctr"/>
          <a:lstStyle/>
          <a:p>
            <a:pPr marL="0" indent="0">
              <a:buNone/>
            </a:pPr>
            <a:r>
              <a:rPr lang="en-US" sz="1400" b="1" dirty="0">
                <a:solidFill>
                  <a:srgbClr val="3DDC97"/>
                </a:solidFill>
                <a:latin typeface="Arial" pitchFamily="34" charset="0"/>
                <a:ea typeface="Arial" pitchFamily="34" charset="-122"/>
                <a:cs typeface="Arial" pitchFamily="34" charset="-120"/>
              </a:rPr>
              <a:t>Model A · Random Forest</a:t>
            </a:r>
            <a:endParaRPr lang="en-US" sz="1400" dirty="0"/>
          </a:p>
        </p:txBody>
      </p:sp>
      <p:sp>
        <p:nvSpPr>
          <p:cNvPr id="23" name="Text 21"/>
          <p:cNvSpPr/>
          <p:nvPr/>
        </p:nvSpPr>
        <p:spPr>
          <a:xfrm>
            <a:off x="777240" y="4800600"/>
            <a:ext cx="4754880" cy="1051560"/>
          </a:xfrm>
          <a:prstGeom prst="rect">
            <a:avLst/>
          </a:prstGeom>
          <a:noFill/>
          <a:ln/>
        </p:spPr>
        <p:txBody>
          <a:bodyPr wrap="square" rtlCol="0" anchor="ctr"/>
          <a:lstStyle/>
          <a:p>
            <a:pPr marL="0" indent="0">
              <a:buNone/>
            </a:pPr>
            <a:r>
              <a:rPr lang="en-US" sz="1100" dirty="0">
                <a:solidFill>
                  <a:srgbClr val="8B93A7"/>
                </a:solidFill>
                <a:latin typeface="Calibri" pitchFamily="34" charset="0"/>
                <a:ea typeface="Calibri" pitchFamily="34" charset="-122"/>
                <a:cs typeface="Calibri" pitchFamily="34" charset="-120"/>
              </a:rPr>
              <a:t>100 estimators → 80/20 stratified split → evaluate accuracy, precision, recall, confusion matrix → serialize hdfs_rf_model.pkl</a:t>
            </a:r>
            <a:endParaRPr lang="en-US" sz="1100" dirty="0"/>
          </a:p>
        </p:txBody>
      </p:sp>
      <p:sp>
        <p:nvSpPr>
          <p:cNvPr id="24" name="Text 22"/>
          <p:cNvSpPr/>
          <p:nvPr/>
        </p:nvSpPr>
        <p:spPr>
          <a:xfrm>
            <a:off x="777240" y="5806440"/>
            <a:ext cx="4754880" cy="548640"/>
          </a:xfrm>
          <a:prstGeom prst="rect">
            <a:avLst/>
          </a:prstGeom>
          <a:noFill/>
          <a:ln/>
        </p:spPr>
        <p:txBody>
          <a:bodyPr wrap="square" rtlCol="0" anchor="ctr"/>
          <a:lstStyle/>
          <a:p>
            <a:pPr marL="0" indent="0">
              <a:buNone/>
            </a:pPr>
            <a:r>
              <a:rPr lang="en-US" sz="960" i="1" dirty="0">
                <a:solidFill>
                  <a:srgbClr val="6B7690"/>
                </a:solidFill>
                <a:latin typeface="Calibri" pitchFamily="34" charset="0"/>
                <a:ea typeface="Calibri" pitchFamily="34" charset="-122"/>
                <a:cs typeface="Calibri" pitchFamily="34" charset="-120"/>
              </a:rPr>
              <a:t>Confusion matrix is reported explicitly (True/False Normal/Anomaly) because accuracy alone hides missed anomalies on imbalanced HDFS data.</a:t>
            </a:r>
            <a:endParaRPr lang="en-US" sz="960" dirty="0"/>
          </a:p>
        </p:txBody>
      </p:sp>
      <p:sp>
        <p:nvSpPr>
          <p:cNvPr id="25" name="Shape 23"/>
          <p:cNvSpPr/>
          <p:nvPr/>
        </p:nvSpPr>
        <p:spPr>
          <a:xfrm>
            <a:off x="5989320" y="4297680"/>
            <a:ext cx="5257800" cy="2148840"/>
          </a:xfrm>
          <a:prstGeom prst="roundRect">
            <a:avLst>
              <a:gd name="adj" fmla="val 3404"/>
            </a:avLst>
          </a:prstGeom>
          <a:solidFill>
            <a:srgbClr val="161B26"/>
          </a:solidFill>
          <a:ln w="12700">
            <a:solidFill>
              <a:srgbClr val="FDB022"/>
            </a:solidFill>
            <a:prstDash val="solid"/>
          </a:ln>
        </p:spPr>
      </p:sp>
      <p:sp>
        <p:nvSpPr>
          <p:cNvPr id="26" name="Text 24"/>
          <p:cNvSpPr/>
          <p:nvPr/>
        </p:nvSpPr>
        <p:spPr>
          <a:xfrm>
            <a:off x="6217920" y="4453128"/>
            <a:ext cx="4754880" cy="320040"/>
          </a:xfrm>
          <a:prstGeom prst="rect">
            <a:avLst/>
          </a:prstGeom>
          <a:noFill/>
          <a:ln/>
        </p:spPr>
        <p:txBody>
          <a:bodyPr wrap="square" rtlCol="0" anchor="ctr"/>
          <a:lstStyle/>
          <a:p>
            <a:pPr marL="0" indent="0">
              <a:buNone/>
            </a:pPr>
            <a:r>
              <a:rPr lang="en-US" sz="1400" b="1" dirty="0">
                <a:solidFill>
                  <a:srgbClr val="FDB022"/>
                </a:solidFill>
                <a:latin typeface="Arial" pitchFamily="34" charset="0"/>
                <a:ea typeface="Arial" pitchFamily="34" charset="-122"/>
                <a:cs typeface="Arial" pitchFamily="34" charset="-120"/>
              </a:rPr>
              <a:t>Model B · LSTM Autoencoder</a:t>
            </a:r>
            <a:endParaRPr lang="en-US" sz="1400" dirty="0"/>
          </a:p>
        </p:txBody>
      </p:sp>
      <p:sp>
        <p:nvSpPr>
          <p:cNvPr id="27" name="Text 25"/>
          <p:cNvSpPr/>
          <p:nvPr/>
        </p:nvSpPr>
        <p:spPr>
          <a:xfrm>
            <a:off x="6217920" y="4800600"/>
            <a:ext cx="4754880" cy="1051560"/>
          </a:xfrm>
          <a:prstGeom prst="rect">
            <a:avLst/>
          </a:prstGeom>
          <a:noFill/>
          <a:ln/>
        </p:spPr>
        <p:txBody>
          <a:bodyPr wrap="square" rtlCol="0" anchor="ctr"/>
          <a:lstStyle/>
          <a:p>
            <a:pPr marL="0" indent="0">
              <a:buNone/>
            </a:pPr>
            <a:r>
              <a:rPr lang="en-US" sz="1100" dirty="0">
                <a:solidFill>
                  <a:srgbClr val="8B93A7"/>
                </a:solidFill>
                <a:latin typeface="Calibri" pitchFamily="34" charset="0"/>
                <a:ea typeface="Calibri" pitchFamily="34" charset="-122"/>
                <a:cs typeface="Calibri" pitchFamily="34" charset="-120"/>
              </a:rPr>
              <a:t>Trained on normal-only samples, 150 epochs, Adam lr = 0.005 → reconstruction error computed per sample → serialize lstm_model.pt</a:t>
            </a:r>
            <a:endParaRPr lang="en-US" sz="1100" dirty="0"/>
          </a:p>
        </p:txBody>
      </p:sp>
      <p:sp>
        <p:nvSpPr>
          <p:cNvPr id="28" name="Text 26"/>
          <p:cNvSpPr/>
          <p:nvPr/>
        </p:nvSpPr>
        <p:spPr>
          <a:xfrm>
            <a:off x="6217920" y="5806440"/>
            <a:ext cx="4754880" cy="548640"/>
          </a:xfrm>
          <a:prstGeom prst="rect">
            <a:avLst/>
          </a:prstGeom>
          <a:noFill/>
          <a:ln/>
        </p:spPr>
        <p:txBody>
          <a:bodyPr wrap="square" rtlCol="0" anchor="ctr"/>
          <a:lstStyle/>
          <a:p>
            <a:pPr marL="0" indent="0">
              <a:buNone/>
            </a:pPr>
            <a:r>
              <a:rPr lang="en-US" sz="960" i="1" dirty="0">
                <a:solidFill>
                  <a:srgbClr val="6B7690"/>
                </a:solidFill>
                <a:latin typeface="Calibri" pitchFamily="34" charset="0"/>
                <a:ea typeface="Calibri" pitchFamily="34" charset="-122"/>
                <a:cs typeface="Calibri" pitchFamily="34" charset="-120"/>
              </a:rPr>
              <a:t>Threshold rule: anomaly if error &gt; max(training error) × 1.3 — simple, interpretable, and needs no labelled anomalies to calibrate.</a:t>
            </a:r>
            <a:endParaRPr lang="en-US" sz="960" dirty="0"/>
          </a:p>
        </p:txBody>
      </p:sp>
      <p:sp>
        <p:nvSpPr>
          <p:cNvPr id="29" name="Text 2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CORE TECHNICAL DESIGN</a:t>
            </a:r>
            <a:endParaRPr lang="en-US" sz="1250" dirty="0"/>
          </a:p>
        </p:txBody>
      </p:sp>
      <p:sp>
        <p:nvSpPr>
          <p:cNvPr id="3" name="Text 1"/>
          <p:cNvSpPr/>
          <p:nvPr/>
        </p:nvSpPr>
        <p:spPr>
          <a:xfrm>
            <a:off x="548640" y="713232"/>
            <a:ext cx="10515600" cy="685800"/>
          </a:xfrm>
          <a:prstGeom prst="rect">
            <a:avLst/>
          </a:prstGeom>
          <a:noFill/>
          <a:ln/>
        </p:spPr>
        <p:txBody>
          <a:bodyPr wrap="square" rtlCol="0" anchor="ctr"/>
          <a:lstStyle/>
          <a:p>
            <a:pPr marL="0" indent="0">
              <a:buNone/>
            </a:pPr>
            <a:r>
              <a:rPr lang="en-US" sz="2800" b="1" dirty="0">
                <a:solidFill>
                  <a:srgbClr val="F3F6FB"/>
                </a:solidFill>
                <a:latin typeface="Arial" pitchFamily="34" charset="0"/>
                <a:ea typeface="Arial" pitchFamily="34" charset="-122"/>
                <a:cs typeface="Arial" pitchFamily="34" charset="-120"/>
              </a:rPr>
              <a:t>The Hybrid Detection Engine</a:t>
            </a:r>
            <a:endParaRPr lang="en-US" sz="2800" dirty="0"/>
          </a:p>
        </p:txBody>
      </p:sp>
      <p:sp>
        <p:nvSpPr>
          <p:cNvPr id="4" name="Text 2"/>
          <p:cNvSpPr/>
          <p:nvPr/>
        </p:nvSpPr>
        <p:spPr>
          <a:xfrm>
            <a:off x="548640" y="1417320"/>
            <a:ext cx="10881360" cy="365760"/>
          </a:xfrm>
          <a:prstGeom prst="rect">
            <a:avLst/>
          </a:prstGeom>
          <a:noFill/>
          <a:ln/>
        </p:spPr>
        <p:txBody>
          <a:bodyPr wrap="square" rtlCol="0" anchor="ctr"/>
          <a:lstStyle/>
          <a:p>
            <a:pPr marL="0" indent="0">
              <a:buNone/>
            </a:pPr>
            <a:r>
              <a:rPr lang="en-US" sz="1200" dirty="0">
                <a:solidFill>
                  <a:srgbClr val="8B93A7"/>
                </a:solidFill>
                <a:latin typeface="Calibri" pitchFamily="34" charset="0"/>
                <a:ea typeface="Calibri" pitchFamily="34" charset="-122"/>
                <a:cs typeface="Calibri" pitchFamily="34" charset="-120"/>
              </a:rPr>
              <a:t>No single model handled both instantaneous metrics and sequential behaviour well — so LogGuard AI runs two complementary models in parallel.</a:t>
            </a:r>
            <a:endParaRPr lang="en-US" sz="1200" dirty="0"/>
          </a:p>
        </p:txBody>
      </p:sp>
      <p:sp>
        <p:nvSpPr>
          <p:cNvPr id="5" name="Shape 3"/>
          <p:cNvSpPr/>
          <p:nvPr/>
        </p:nvSpPr>
        <p:spPr>
          <a:xfrm>
            <a:off x="548640" y="1874520"/>
            <a:ext cx="5394960" cy="2331720"/>
          </a:xfrm>
          <a:prstGeom prst="roundRect">
            <a:avLst>
              <a:gd name="adj" fmla="val 3922"/>
            </a:avLst>
          </a:prstGeom>
          <a:solidFill>
            <a:srgbClr val="161B26"/>
          </a:solidFill>
          <a:ln w="12700">
            <a:solidFill>
              <a:srgbClr val="232B3A"/>
            </a:solidFill>
            <a:prstDash val="solid"/>
          </a:ln>
        </p:spPr>
      </p:sp>
      <p:sp>
        <p:nvSpPr>
          <p:cNvPr id="6" name="Text 4"/>
          <p:cNvSpPr/>
          <p:nvPr/>
        </p:nvSpPr>
        <p:spPr>
          <a:xfrm>
            <a:off x="822960" y="2011680"/>
            <a:ext cx="4846320" cy="32004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Random Forest Classifier</a:t>
            </a:r>
            <a:endParaRPr lang="en-US" sz="1500" dirty="0"/>
          </a:p>
        </p:txBody>
      </p:sp>
      <p:sp>
        <p:nvSpPr>
          <p:cNvPr id="7" name="Text 5"/>
          <p:cNvSpPr/>
          <p:nvPr/>
        </p:nvSpPr>
        <p:spPr>
          <a:xfrm>
            <a:off x="822960" y="2331720"/>
            <a:ext cx="4846320" cy="237744"/>
          </a:xfrm>
          <a:prstGeom prst="rect">
            <a:avLst/>
          </a:prstGeom>
          <a:noFill/>
          <a:ln/>
        </p:spPr>
        <p:txBody>
          <a:bodyPr wrap="square" rtlCol="0" anchor="ctr"/>
          <a:lstStyle/>
          <a:p>
            <a:pPr marL="0" indent="0">
              <a:buNone/>
            </a:pPr>
            <a:r>
              <a:rPr lang="en-US" sz="1030" i="1" dirty="0">
                <a:solidFill>
                  <a:srgbClr val="3DDC97"/>
                </a:solidFill>
                <a:latin typeface="Calibri" pitchFamily="34" charset="0"/>
                <a:ea typeface="Calibri" pitchFamily="34" charset="-122"/>
                <a:cs typeface="Calibri" pitchFamily="34" charset="-120"/>
              </a:rPr>
              <a:t>Supervised — labelled data</a:t>
            </a:r>
            <a:endParaRPr lang="en-US" sz="1030" dirty="0"/>
          </a:p>
        </p:txBody>
      </p:sp>
      <p:sp>
        <p:nvSpPr>
          <p:cNvPr id="8" name="Text 6"/>
          <p:cNvSpPr/>
          <p:nvPr/>
        </p:nvSpPr>
        <p:spPr>
          <a:xfrm>
            <a:off x="822960" y="2624328"/>
            <a:ext cx="4846320" cy="1005840"/>
          </a:xfrm>
          <a:prstGeom prst="rect">
            <a:avLst/>
          </a:prstGeom>
          <a:noFill/>
          <a:ln/>
        </p:spPr>
        <p:txBody>
          <a:bodyPr wrap="square" rtlCol="0" anchor="ctr"/>
          <a:lstStyle/>
          <a:p>
            <a:pPr marL="0" indent="0">
              <a:buNone/>
            </a:pPr>
            <a:r>
              <a:rPr lang="en-US" sz="1060" b="1" dirty="0">
                <a:solidFill>
                  <a:srgbClr val="3DDC97"/>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Trained on HDFS event-occurrence matrix, per-block features (E1–E29)
</a:t>
            </a:r>
            <a:endParaRPr lang="en-US" sz="1060" dirty="0"/>
          </a:p>
          <a:p>
            <a:pPr marL="0" indent="0">
              <a:buNone/>
            </a:pPr>
            <a:r>
              <a:rPr lang="en-US" sz="1060" b="1" dirty="0">
                <a:solidFill>
                  <a:srgbClr val="3DDC97"/>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100 estimators; ensemble voting reduces false positives
</a:t>
            </a:r>
            <a:endParaRPr lang="en-US" sz="1060" dirty="0"/>
          </a:p>
          <a:p>
            <a:pPr marL="0" indent="0">
              <a:buNone/>
            </a:pPr>
            <a:r>
              <a:rPr lang="en-US" sz="1060" b="1" dirty="0">
                <a:solidFill>
                  <a:srgbClr val="3DDC97"/>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Best for instantaneous CPU / RAM / disk threshold breaches</a:t>
            </a:r>
            <a:endParaRPr lang="en-US" sz="1060" dirty="0"/>
          </a:p>
        </p:txBody>
      </p:sp>
      <p:sp>
        <p:nvSpPr>
          <p:cNvPr id="9" name="Shape 7"/>
          <p:cNvSpPr/>
          <p:nvPr/>
        </p:nvSpPr>
        <p:spPr>
          <a:xfrm>
            <a:off x="822960" y="3794760"/>
            <a:ext cx="4846320" cy="329184"/>
          </a:xfrm>
          <a:prstGeom prst="roundRect">
            <a:avLst>
              <a:gd name="adj" fmla="val 50000"/>
            </a:avLst>
          </a:prstGeom>
          <a:solidFill>
            <a:srgbClr val="0D1117"/>
          </a:solidFill>
          <a:ln/>
        </p:spPr>
      </p:sp>
      <p:sp>
        <p:nvSpPr>
          <p:cNvPr id="10" name="Text 8"/>
          <p:cNvSpPr/>
          <p:nvPr/>
        </p:nvSpPr>
        <p:spPr>
          <a:xfrm>
            <a:off x="822960" y="3794760"/>
            <a:ext cx="4846320" cy="329184"/>
          </a:xfrm>
          <a:prstGeom prst="rect">
            <a:avLst/>
          </a:prstGeom>
          <a:noFill/>
          <a:ln/>
        </p:spPr>
        <p:txBody>
          <a:bodyPr wrap="square" rtlCol="0" anchor="ctr"/>
          <a:lstStyle/>
          <a:p>
            <a:pPr marL="0" indent="0" algn="ctr">
              <a:buNone/>
            </a:pPr>
            <a:r>
              <a:rPr lang="en-US" sz="1200" b="1" dirty="0">
                <a:solidFill>
                  <a:srgbClr val="3DDC97"/>
                </a:solidFill>
              </a:rPr>
              <a:t>94.2% </a:t>
            </a:r>
            <a:r>
              <a:rPr lang="en-US" sz="1000" dirty="0">
                <a:solidFill>
                  <a:srgbClr val="D5DBE8"/>
                </a:solidFill>
              </a:rPr>
              <a:t>accuracy   ·   </a:t>
            </a:r>
            <a:r>
              <a:rPr lang="en-US" sz="1200" b="1" dirty="0">
                <a:solidFill>
                  <a:srgbClr val="3DDC97"/>
                </a:solidFill>
              </a:rPr>
              <a:t>0.91 </a:t>
            </a:r>
            <a:r>
              <a:rPr lang="en-US" sz="1000" dirty="0">
                <a:solidFill>
                  <a:srgbClr val="D5DBE8"/>
                </a:solidFill>
              </a:rPr>
              <a:t>F1-score</a:t>
            </a:r>
            <a:endParaRPr lang="en-US" sz="1200" dirty="0"/>
          </a:p>
        </p:txBody>
      </p:sp>
      <p:sp>
        <p:nvSpPr>
          <p:cNvPr id="11" name="Shape 9"/>
          <p:cNvSpPr/>
          <p:nvPr/>
        </p:nvSpPr>
        <p:spPr>
          <a:xfrm>
            <a:off x="6217920" y="1874520"/>
            <a:ext cx="5422392" cy="2331720"/>
          </a:xfrm>
          <a:prstGeom prst="roundRect">
            <a:avLst>
              <a:gd name="adj" fmla="val 3922"/>
            </a:avLst>
          </a:prstGeom>
          <a:solidFill>
            <a:srgbClr val="161B26"/>
          </a:solidFill>
          <a:ln w="12700">
            <a:solidFill>
              <a:srgbClr val="232B3A"/>
            </a:solidFill>
            <a:prstDash val="solid"/>
          </a:ln>
        </p:spPr>
      </p:sp>
      <p:sp>
        <p:nvSpPr>
          <p:cNvPr id="12" name="Text 10"/>
          <p:cNvSpPr/>
          <p:nvPr/>
        </p:nvSpPr>
        <p:spPr>
          <a:xfrm>
            <a:off x="6492240" y="2011680"/>
            <a:ext cx="4846320" cy="320040"/>
          </a:xfrm>
          <a:prstGeom prst="rect">
            <a:avLst/>
          </a:prstGeom>
          <a:noFill/>
          <a:ln/>
        </p:spPr>
        <p:txBody>
          <a:bodyPr wrap="square" rtlCol="0" anchor="ctr"/>
          <a:lstStyle/>
          <a:p>
            <a:pPr marL="0" indent="0">
              <a:buNone/>
            </a:pPr>
            <a:r>
              <a:rPr lang="en-US" sz="1500" b="1" dirty="0">
                <a:solidFill>
                  <a:srgbClr val="F3F6FB"/>
                </a:solidFill>
                <a:latin typeface="Arial" pitchFamily="34" charset="0"/>
                <a:ea typeface="Arial" pitchFamily="34" charset="-122"/>
                <a:cs typeface="Arial" pitchFamily="34" charset="-120"/>
              </a:rPr>
              <a:t>LSTM Autoencoder</a:t>
            </a:r>
            <a:endParaRPr lang="en-US" sz="1500" dirty="0"/>
          </a:p>
        </p:txBody>
      </p:sp>
      <p:sp>
        <p:nvSpPr>
          <p:cNvPr id="13" name="Text 11"/>
          <p:cNvSpPr/>
          <p:nvPr/>
        </p:nvSpPr>
        <p:spPr>
          <a:xfrm>
            <a:off x="6492240" y="2331720"/>
            <a:ext cx="4846320" cy="237744"/>
          </a:xfrm>
          <a:prstGeom prst="rect">
            <a:avLst/>
          </a:prstGeom>
          <a:noFill/>
          <a:ln/>
        </p:spPr>
        <p:txBody>
          <a:bodyPr wrap="square" rtlCol="0" anchor="ctr"/>
          <a:lstStyle/>
          <a:p>
            <a:pPr marL="0" indent="0">
              <a:buNone/>
            </a:pPr>
            <a:r>
              <a:rPr lang="en-US" sz="1030" i="1" dirty="0">
                <a:solidFill>
                  <a:srgbClr val="FDB022"/>
                </a:solidFill>
                <a:latin typeface="Calibri" pitchFamily="34" charset="0"/>
                <a:ea typeface="Calibri" pitchFamily="34" charset="-122"/>
                <a:cs typeface="Calibri" pitchFamily="34" charset="-120"/>
              </a:rPr>
              <a:t>Unsupervised — sequence-aware</a:t>
            </a:r>
            <a:endParaRPr lang="en-US" sz="1030" dirty="0"/>
          </a:p>
        </p:txBody>
      </p:sp>
      <p:sp>
        <p:nvSpPr>
          <p:cNvPr id="14" name="Text 12"/>
          <p:cNvSpPr/>
          <p:nvPr/>
        </p:nvSpPr>
        <p:spPr>
          <a:xfrm>
            <a:off x="6492240" y="2624328"/>
            <a:ext cx="4846320" cy="1005840"/>
          </a:xfrm>
          <a:prstGeom prst="rect">
            <a:avLst/>
          </a:prstGeom>
          <a:noFill/>
          <a:ln/>
        </p:spPr>
        <p:txBody>
          <a:bodyPr wrap="square" rtlCol="0" anchor="ctr"/>
          <a:lstStyle/>
          <a:p>
            <a:pPr marL="0" indent="0">
              <a:buNone/>
            </a:pPr>
            <a:r>
              <a:rPr lang="en-US" sz="1060" b="1" dirty="0">
                <a:solidFill>
                  <a:srgbClr val="FDB022"/>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Encoder compresses a 3-feature input into a 16-dim hidden state
</a:t>
            </a:r>
            <a:endParaRPr lang="en-US" sz="1060" dirty="0"/>
          </a:p>
          <a:p>
            <a:pPr marL="0" indent="0">
              <a:buNone/>
            </a:pPr>
            <a:r>
              <a:rPr lang="en-US" sz="1060" b="1" dirty="0">
                <a:solidFill>
                  <a:srgbClr val="FDB022"/>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Decoder reconstructs input; trained only on normal-behaviour data
</a:t>
            </a:r>
            <a:endParaRPr lang="en-US" sz="1060" dirty="0"/>
          </a:p>
          <a:p>
            <a:pPr marL="0" indent="0">
              <a:buNone/>
            </a:pPr>
            <a:r>
              <a:rPr lang="en-US" sz="1060" b="1" dirty="0">
                <a:solidFill>
                  <a:srgbClr val="FDB022"/>
                </a:solidFill>
                <a:latin typeface="Calibri" pitchFamily="34" charset="0"/>
                <a:ea typeface="Calibri" pitchFamily="34" charset="-122"/>
                <a:cs typeface="Calibri" pitchFamily="34" charset="-120"/>
              </a:rPr>
              <a:t>• </a:t>
            </a:r>
            <a:r>
              <a:rPr lang="en-US" sz="1060" dirty="0">
                <a:solidFill>
                  <a:srgbClr val="D5DBE8"/>
                </a:solidFill>
                <a:latin typeface="Calibri" pitchFamily="34" charset="0"/>
                <a:ea typeface="Calibri" pitchFamily="34" charset="-122"/>
                <a:cs typeface="Calibri" pitchFamily="34" charset="-120"/>
              </a:rPr>
              <a:t>Catches novel, 'low-and-slow' sequential attacks static rules miss</a:t>
            </a:r>
            <a:endParaRPr lang="en-US" sz="1060" dirty="0"/>
          </a:p>
        </p:txBody>
      </p:sp>
      <p:sp>
        <p:nvSpPr>
          <p:cNvPr id="15" name="Shape 13"/>
          <p:cNvSpPr/>
          <p:nvPr/>
        </p:nvSpPr>
        <p:spPr>
          <a:xfrm>
            <a:off x="6492240" y="3794760"/>
            <a:ext cx="4846320" cy="329184"/>
          </a:xfrm>
          <a:prstGeom prst="roundRect">
            <a:avLst>
              <a:gd name="adj" fmla="val 50000"/>
            </a:avLst>
          </a:prstGeom>
          <a:solidFill>
            <a:srgbClr val="0D1117"/>
          </a:solidFill>
          <a:ln/>
        </p:spPr>
      </p:sp>
      <p:sp>
        <p:nvSpPr>
          <p:cNvPr id="16" name="Text 14"/>
          <p:cNvSpPr/>
          <p:nvPr/>
        </p:nvSpPr>
        <p:spPr>
          <a:xfrm>
            <a:off x="6492240" y="3794760"/>
            <a:ext cx="4846320" cy="329184"/>
          </a:xfrm>
          <a:prstGeom prst="rect">
            <a:avLst/>
          </a:prstGeom>
          <a:noFill/>
          <a:ln/>
        </p:spPr>
        <p:txBody>
          <a:bodyPr wrap="square" rtlCol="0" anchor="ctr"/>
          <a:lstStyle/>
          <a:p>
            <a:pPr marL="0" indent="0" algn="ctr">
              <a:buNone/>
            </a:pPr>
            <a:r>
              <a:rPr lang="en-US" sz="1200" b="1" dirty="0">
                <a:solidFill>
                  <a:srgbClr val="FDB022"/>
                </a:solidFill>
              </a:rPr>
              <a:t>95.8% </a:t>
            </a:r>
            <a:r>
              <a:rPr lang="en-US" sz="1000" dirty="0">
                <a:solidFill>
                  <a:srgbClr val="D5DBE8"/>
                </a:solidFill>
              </a:rPr>
              <a:t>accuracy   ·   </a:t>
            </a:r>
            <a:r>
              <a:rPr lang="en-US" sz="1200" b="1" dirty="0">
                <a:solidFill>
                  <a:srgbClr val="FDB022"/>
                </a:solidFill>
              </a:rPr>
              <a:t>0.93 </a:t>
            </a:r>
            <a:r>
              <a:rPr lang="en-US" sz="1000" dirty="0">
                <a:solidFill>
                  <a:srgbClr val="D5DBE8"/>
                </a:solidFill>
              </a:rPr>
              <a:t>F1-score</a:t>
            </a:r>
            <a:endParaRPr lang="en-US" sz="1200" dirty="0"/>
          </a:p>
        </p:txBody>
      </p:sp>
      <p:sp>
        <p:nvSpPr>
          <p:cNvPr id="17" name="Text 15"/>
          <p:cNvSpPr/>
          <p:nvPr/>
        </p:nvSpPr>
        <p:spPr>
          <a:xfrm>
            <a:off x="548640" y="4343400"/>
            <a:ext cx="7315200" cy="292608"/>
          </a:xfrm>
          <a:prstGeom prst="rect">
            <a:avLst/>
          </a:prstGeom>
          <a:noFill/>
          <a:ln/>
        </p:spPr>
        <p:txBody>
          <a:bodyPr wrap="square" rtlCol="0" anchor="ctr"/>
          <a:lstStyle/>
          <a:p>
            <a:pPr marL="0" indent="0">
              <a:buNone/>
            </a:pPr>
            <a:r>
              <a:rPr lang="en-US" sz="1400" b="1" dirty="0">
                <a:solidFill>
                  <a:srgbClr val="F3F6FB"/>
                </a:solidFill>
                <a:latin typeface="Arial" pitchFamily="34" charset="0"/>
                <a:ea typeface="Arial" pitchFamily="34" charset="-122"/>
                <a:cs typeface="Arial" pitchFamily="34" charset="-120"/>
              </a:rPr>
              <a:t>Rule-Based Root-Cause Classification</a:t>
            </a:r>
            <a:endParaRPr lang="en-US" sz="1400" dirty="0"/>
          </a:p>
        </p:txBody>
      </p:sp>
      <p:sp>
        <p:nvSpPr>
          <p:cNvPr id="18" name="Text 16"/>
          <p:cNvSpPr/>
          <p:nvPr/>
        </p:nvSpPr>
        <p:spPr>
          <a:xfrm>
            <a:off x="548640" y="4645152"/>
            <a:ext cx="11064240" cy="365760"/>
          </a:xfrm>
          <a:prstGeom prst="rect">
            <a:avLst/>
          </a:prstGeom>
          <a:noFill/>
          <a:ln/>
        </p:spPr>
        <p:txBody>
          <a:bodyPr wrap="square" rtlCol="0" anchor="ctr"/>
          <a:lstStyle/>
          <a:p>
            <a:pPr marL="0" indent="0">
              <a:buNone/>
            </a:pPr>
            <a:r>
              <a:rPr lang="en-US" sz="1000" dirty="0">
                <a:solidFill>
                  <a:srgbClr val="8B93A7"/>
                </a:solidFill>
                <a:latin typeface="Calibri" pitchFamily="34" charset="0"/>
                <a:ea typeface="Calibri" pitchFamily="34" charset="-122"/>
                <a:cs typeface="Calibri" pitchFamily="34" charset="-120"/>
              </a:rPr>
              <a:t>Once a log is flagged anomalous, a lightweight heuristic layer — not a learned classifier — labels the likely failing subsystem, bridging the model's binary signal to the narrative the dashboard's ServiceGraph renders:</a:t>
            </a:r>
            <a:endParaRPr lang="en-US" sz="1000" dirty="0"/>
          </a:p>
        </p:txBody>
      </p:sp>
      <p:sp>
        <p:nvSpPr>
          <p:cNvPr id="19" name="Shape 17"/>
          <p:cNvSpPr/>
          <p:nvPr/>
        </p:nvSpPr>
        <p:spPr>
          <a:xfrm>
            <a:off x="548640" y="5074920"/>
            <a:ext cx="3566160" cy="1234440"/>
          </a:xfrm>
          <a:prstGeom prst="roundRect">
            <a:avLst>
              <a:gd name="adj" fmla="val 4444"/>
            </a:avLst>
          </a:prstGeom>
          <a:solidFill>
            <a:srgbClr val="1E2530"/>
          </a:solidFill>
          <a:ln w="12700">
            <a:solidFill>
              <a:srgbClr val="232B3A"/>
            </a:solidFill>
            <a:prstDash val="solid"/>
          </a:ln>
        </p:spPr>
      </p:sp>
      <p:sp>
        <p:nvSpPr>
          <p:cNvPr id="20" name="Text 18"/>
          <p:cNvSpPr/>
          <p:nvPr/>
        </p:nvSpPr>
        <p:spPr>
          <a:xfrm>
            <a:off x="713232" y="5166360"/>
            <a:ext cx="3236976" cy="274320"/>
          </a:xfrm>
          <a:prstGeom prst="rect">
            <a:avLst/>
          </a:prstGeom>
          <a:noFill/>
          <a:ln/>
        </p:spPr>
        <p:txBody>
          <a:bodyPr wrap="square" rtlCol="0" anchor="ctr"/>
          <a:lstStyle/>
          <a:p>
            <a:pPr marL="0" indent="0">
              <a:buNone/>
            </a:pPr>
            <a:r>
              <a:rPr lang="en-US" sz="1200" b="1" dirty="0">
                <a:solidFill>
                  <a:srgbClr val="4CC9F0"/>
                </a:solidFill>
                <a:latin typeface="Arial" pitchFamily="34" charset="0"/>
                <a:ea typeface="Arial" pitchFamily="34" charset="-122"/>
                <a:cs typeface="Arial" pitchFamily="34" charset="-120"/>
              </a:rPr>
              <a:t>HDFS Path</a:t>
            </a:r>
            <a:endParaRPr lang="en-US" sz="1200" dirty="0"/>
          </a:p>
        </p:txBody>
      </p:sp>
      <p:sp>
        <p:nvSpPr>
          <p:cNvPr id="21" name="Text 19"/>
          <p:cNvSpPr/>
          <p:nvPr/>
        </p:nvSpPr>
        <p:spPr>
          <a:xfrm>
            <a:off x="713232" y="5458968"/>
            <a:ext cx="3236976" cy="384048"/>
          </a:xfrm>
          <a:prstGeom prst="rect">
            <a:avLst/>
          </a:prstGeom>
          <a:noFill/>
          <a:ln/>
        </p:spPr>
        <p:txBody>
          <a:bodyPr wrap="square" rtlCol="0" anchor="ctr"/>
          <a:lstStyle/>
          <a:p>
            <a:pPr marL="0" indent="0">
              <a:buNone/>
            </a:pPr>
            <a:r>
              <a:rPr lang="en-US" sz="930" i="1" dirty="0">
                <a:solidFill>
                  <a:srgbClr val="8B93A7"/>
                </a:solidFill>
                <a:latin typeface="Calibri" pitchFamily="34" charset="0"/>
                <a:ea typeface="Calibri" pitchFamily="34" charset="-122"/>
                <a:cs typeface="Calibri" pitchFamily="34" charset="-120"/>
              </a:rPr>
              <a:t>Triggered when the log text contains dfs, datanode, or block</a:t>
            </a:r>
            <a:endParaRPr lang="en-US" sz="930" dirty="0"/>
          </a:p>
        </p:txBody>
      </p:sp>
      <p:sp>
        <p:nvSpPr>
          <p:cNvPr id="22" name="Text 20"/>
          <p:cNvSpPr/>
          <p:nvPr/>
        </p:nvSpPr>
        <p:spPr>
          <a:xfrm>
            <a:off x="713232" y="5870448"/>
            <a:ext cx="3236976" cy="384048"/>
          </a:xfrm>
          <a:prstGeom prst="rect">
            <a:avLst/>
          </a:prstGeom>
          <a:noFill/>
          <a:ln/>
        </p:spPr>
        <p:txBody>
          <a:bodyPr wrap="square" rtlCol="0" anchor="ctr"/>
          <a:lstStyle/>
          <a:p>
            <a:pPr marL="0" indent="0">
              <a:buNone/>
            </a:pPr>
            <a:r>
              <a:rPr lang="en-US" sz="930" dirty="0">
                <a:solidFill>
                  <a:srgbClr val="F3F6FB"/>
                </a:solidFill>
                <a:latin typeface="Calibri" pitchFamily="34" charset="0"/>
                <a:ea typeface="Calibri" pitchFamily="34" charset="-122"/>
                <a:cs typeface="Calibri" pitchFamily="34" charset="-120"/>
              </a:rPr>
              <a:t>'Block Replication Critical Failure' — node: HDFS-DataNode-01</a:t>
            </a:r>
            <a:endParaRPr lang="en-US" sz="930" dirty="0"/>
          </a:p>
        </p:txBody>
      </p:sp>
      <p:sp>
        <p:nvSpPr>
          <p:cNvPr id="23" name="Shape 21"/>
          <p:cNvSpPr/>
          <p:nvPr/>
        </p:nvSpPr>
        <p:spPr>
          <a:xfrm>
            <a:off x="4297680" y="5074920"/>
            <a:ext cx="3566160" cy="1234440"/>
          </a:xfrm>
          <a:prstGeom prst="roundRect">
            <a:avLst>
              <a:gd name="adj" fmla="val 4444"/>
            </a:avLst>
          </a:prstGeom>
          <a:solidFill>
            <a:srgbClr val="1E2530"/>
          </a:solidFill>
          <a:ln w="12700">
            <a:solidFill>
              <a:srgbClr val="232B3A"/>
            </a:solidFill>
            <a:prstDash val="solid"/>
          </a:ln>
        </p:spPr>
      </p:sp>
      <p:sp>
        <p:nvSpPr>
          <p:cNvPr id="24" name="Text 22"/>
          <p:cNvSpPr/>
          <p:nvPr/>
        </p:nvSpPr>
        <p:spPr>
          <a:xfrm>
            <a:off x="4462272" y="5166360"/>
            <a:ext cx="3236976" cy="274320"/>
          </a:xfrm>
          <a:prstGeom prst="rect">
            <a:avLst/>
          </a:prstGeom>
          <a:noFill/>
          <a:ln/>
        </p:spPr>
        <p:txBody>
          <a:bodyPr wrap="square" rtlCol="0" anchor="ctr"/>
          <a:lstStyle/>
          <a:p>
            <a:pPr marL="0" indent="0">
              <a:buNone/>
            </a:pPr>
            <a:r>
              <a:rPr lang="en-US" sz="1200" b="1" dirty="0">
                <a:solidFill>
                  <a:srgbClr val="4CC9F0"/>
                </a:solidFill>
                <a:latin typeface="Arial" pitchFamily="34" charset="0"/>
                <a:ea typeface="Arial" pitchFamily="34" charset="-122"/>
                <a:cs typeface="Arial" pitchFamily="34" charset="-120"/>
              </a:rPr>
              <a:t>Database Path</a:t>
            </a:r>
            <a:endParaRPr lang="en-US" sz="1200" dirty="0"/>
          </a:p>
        </p:txBody>
      </p:sp>
      <p:sp>
        <p:nvSpPr>
          <p:cNvPr id="25" name="Text 23"/>
          <p:cNvSpPr/>
          <p:nvPr/>
        </p:nvSpPr>
        <p:spPr>
          <a:xfrm>
            <a:off x="4462272" y="5458968"/>
            <a:ext cx="3236976" cy="384048"/>
          </a:xfrm>
          <a:prstGeom prst="rect">
            <a:avLst/>
          </a:prstGeom>
          <a:noFill/>
          <a:ln/>
        </p:spPr>
        <p:txBody>
          <a:bodyPr wrap="square" rtlCol="0" anchor="ctr"/>
          <a:lstStyle/>
          <a:p>
            <a:pPr marL="0" indent="0">
              <a:buNone/>
            </a:pPr>
            <a:r>
              <a:rPr lang="en-US" sz="930" i="1" dirty="0">
                <a:solidFill>
                  <a:srgbClr val="8B93A7"/>
                </a:solidFill>
                <a:latin typeface="Calibri" pitchFamily="34" charset="0"/>
                <a:ea typeface="Calibri" pitchFamily="34" charset="-122"/>
                <a:cs typeface="Calibri" pitchFamily="34" charset="-120"/>
              </a:rPr>
              <a:t>Triggered when the errors count exceeds 5</a:t>
            </a:r>
            <a:endParaRPr lang="en-US" sz="930" dirty="0"/>
          </a:p>
        </p:txBody>
      </p:sp>
      <p:sp>
        <p:nvSpPr>
          <p:cNvPr id="26" name="Text 24"/>
          <p:cNvSpPr/>
          <p:nvPr/>
        </p:nvSpPr>
        <p:spPr>
          <a:xfrm>
            <a:off x="4462272" y="5870448"/>
            <a:ext cx="3236976" cy="384048"/>
          </a:xfrm>
          <a:prstGeom prst="rect">
            <a:avLst/>
          </a:prstGeom>
          <a:noFill/>
          <a:ln/>
        </p:spPr>
        <p:txBody>
          <a:bodyPr wrap="square" rtlCol="0" anchor="ctr"/>
          <a:lstStyle/>
          <a:p>
            <a:pPr marL="0" indent="0">
              <a:buNone/>
            </a:pPr>
            <a:r>
              <a:rPr lang="en-US" sz="930" dirty="0">
                <a:solidFill>
                  <a:srgbClr val="F3F6FB"/>
                </a:solidFill>
                <a:latin typeface="Calibri" pitchFamily="34" charset="0"/>
                <a:ea typeface="Calibri" pitchFamily="34" charset="-122"/>
                <a:cs typeface="Calibri" pitchFamily="34" charset="-120"/>
              </a:rPr>
              <a:t>'Connection Pool Exhaustion' — node: PostgreSQL-Master</a:t>
            </a:r>
            <a:endParaRPr lang="en-US" sz="930" dirty="0"/>
          </a:p>
        </p:txBody>
      </p:sp>
      <p:sp>
        <p:nvSpPr>
          <p:cNvPr id="27" name="Shape 25"/>
          <p:cNvSpPr/>
          <p:nvPr/>
        </p:nvSpPr>
        <p:spPr>
          <a:xfrm>
            <a:off x="8046720" y="5074920"/>
            <a:ext cx="3566160" cy="1234440"/>
          </a:xfrm>
          <a:prstGeom prst="roundRect">
            <a:avLst>
              <a:gd name="adj" fmla="val 4444"/>
            </a:avLst>
          </a:prstGeom>
          <a:solidFill>
            <a:srgbClr val="1E2530"/>
          </a:solidFill>
          <a:ln w="12700">
            <a:solidFill>
              <a:srgbClr val="232B3A"/>
            </a:solidFill>
            <a:prstDash val="solid"/>
          </a:ln>
        </p:spPr>
      </p:sp>
      <p:sp>
        <p:nvSpPr>
          <p:cNvPr id="28" name="Text 26"/>
          <p:cNvSpPr/>
          <p:nvPr/>
        </p:nvSpPr>
        <p:spPr>
          <a:xfrm>
            <a:off x="8211312" y="5166360"/>
            <a:ext cx="3236976" cy="274320"/>
          </a:xfrm>
          <a:prstGeom prst="rect">
            <a:avLst/>
          </a:prstGeom>
          <a:noFill/>
          <a:ln/>
        </p:spPr>
        <p:txBody>
          <a:bodyPr wrap="square" rtlCol="0" anchor="ctr"/>
          <a:lstStyle/>
          <a:p>
            <a:pPr marL="0" indent="0">
              <a:buNone/>
            </a:pPr>
            <a:r>
              <a:rPr lang="en-US" sz="1200" b="1" dirty="0">
                <a:solidFill>
                  <a:srgbClr val="4CC9F0"/>
                </a:solidFill>
                <a:latin typeface="Arial" pitchFamily="34" charset="0"/>
                <a:ea typeface="Arial" pitchFamily="34" charset="-122"/>
                <a:cs typeface="Arial" pitchFamily="34" charset="-120"/>
              </a:rPr>
              <a:t>Generic Path</a:t>
            </a:r>
            <a:endParaRPr lang="en-US" sz="1200" dirty="0"/>
          </a:p>
        </p:txBody>
      </p:sp>
      <p:sp>
        <p:nvSpPr>
          <p:cNvPr id="29" name="Text 27"/>
          <p:cNvSpPr/>
          <p:nvPr/>
        </p:nvSpPr>
        <p:spPr>
          <a:xfrm>
            <a:off x="8211312" y="5458968"/>
            <a:ext cx="3236976" cy="384048"/>
          </a:xfrm>
          <a:prstGeom prst="rect">
            <a:avLst/>
          </a:prstGeom>
          <a:noFill/>
          <a:ln/>
        </p:spPr>
        <p:txBody>
          <a:bodyPr wrap="square" rtlCol="0" anchor="ctr"/>
          <a:lstStyle/>
          <a:p>
            <a:pPr marL="0" indent="0">
              <a:buNone/>
            </a:pPr>
            <a:r>
              <a:rPr lang="en-US" sz="930" i="1" dirty="0">
                <a:solidFill>
                  <a:srgbClr val="8B93A7"/>
                </a:solidFill>
                <a:latin typeface="Calibri" pitchFamily="34" charset="0"/>
                <a:ea typeface="Calibri" pitchFamily="34" charset="-122"/>
                <a:cs typeface="Calibri" pitchFamily="34" charset="-120"/>
              </a:rPr>
              <a:t>Fallback for all other anomalies</a:t>
            </a:r>
            <a:endParaRPr lang="en-US" sz="930" dirty="0"/>
          </a:p>
        </p:txBody>
      </p:sp>
      <p:sp>
        <p:nvSpPr>
          <p:cNvPr id="30" name="Text 28"/>
          <p:cNvSpPr/>
          <p:nvPr/>
        </p:nvSpPr>
        <p:spPr>
          <a:xfrm>
            <a:off x="8211312" y="5870448"/>
            <a:ext cx="3236976" cy="384048"/>
          </a:xfrm>
          <a:prstGeom prst="rect">
            <a:avLst/>
          </a:prstGeom>
          <a:noFill/>
          <a:ln/>
        </p:spPr>
        <p:txBody>
          <a:bodyPr wrap="square" rtlCol="0" anchor="ctr"/>
          <a:lstStyle/>
          <a:p>
            <a:pPr marL="0" indent="0">
              <a:buNone/>
            </a:pPr>
            <a:r>
              <a:rPr lang="en-US" sz="930" dirty="0">
                <a:solidFill>
                  <a:srgbClr val="F3F6FB"/>
                </a:solidFill>
                <a:latin typeface="Calibri" pitchFamily="34" charset="0"/>
                <a:ea typeface="Calibri" pitchFamily="34" charset="-122"/>
                <a:cs typeface="Calibri" pitchFamily="34" charset="-120"/>
              </a:rPr>
              <a:t>'Latency &amp; Circuit Breaker Trigger' — node: Auth-Service</a:t>
            </a:r>
            <a:endParaRPr lang="en-US" sz="930" dirty="0"/>
          </a:p>
        </p:txBody>
      </p:sp>
      <p:sp>
        <p:nvSpPr>
          <p:cNvPr id="31" name="Text 2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ANALYSIS OF RESULTS</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Ensemble Performance on Holdout Data</a:t>
            </a:r>
            <a:endParaRPr lang="en-US" sz="2900" dirty="0"/>
          </a:p>
        </p:txBody>
      </p:sp>
      <p:sp>
        <p:nvSpPr>
          <p:cNvPr id="4" name="Text 2"/>
          <p:cNvSpPr/>
          <p:nvPr/>
        </p:nvSpPr>
        <p:spPr>
          <a:xfrm>
            <a:off x="548640" y="1417320"/>
            <a:ext cx="10972800" cy="502920"/>
          </a:xfrm>
          <a:prstGeom prst="rect">
            <a:avLst/>
          </a:prstGeom>
          <a:noFill/>
          <a:ln/>
        </p:spPr>
        <p:txBody>
          <a:bodyPr wrap="square" rtlCol="0" anchor="ctr"/>
          <a:lstStyle/>
          <a:p>
            <a:pPr marL="0" indent="0">
              <a:buNone/>
            </a:pPr>
            <a:r>
              <a:rPr lang="en-US" sz="1170" dirty="0">
                <a:solidFill>
                  <a:srgbClr val="8B93A7"/>
                </a:solidFill>
                <a:latin typeface="Calibri" pitchFamily="34" charset="0"/>
                <a:ea typeface="Calibri" pitchFamily="34" charset="-122"/>
                <a:cs typeface="Calibri" pitchFamily="34" charset="-120"/>
              </a:rPr>
              <a:t>Benchmarked on 50,000 Linux log entries spanning instantaneous crashes and low-and-slow attack sequences. Because anomalies are a small minority of real traffic, precision and recall are tracked as first-class metrics, not raw accuracy alone.</a:t>
            </a:r>
            <a:endParaRPr lang="en-US" sz="1170" dirty="0"/>
          </a:p>
        </p:txBody>
      </p:sp>
      <p:sp>
        <p:nvSpPr>
          <p:cNvPr id="5" name="Shape 3"/>
          <p:cNvSpPr/>
          <p:nvPr/>
        </p:nvSpPr>
        <p:spPr>
          <a:xfrm>
            <a:off x="548640" y="2103120"/>
            <a:ext cx="2084832" cy="1280160"/>
          </a:xfrm>
          <a:prstGeom prst="roundRect">
            <a:avLst>
              <a:gd name="adj" fmla="val 5714"/>
            </a:avLst>
          </a:prstGeom>
          <a:solidFill>
            <a:srgbClr val="161B26"/>
          </a:solidFill>
          <a:ln/>
        </p:spPr>
      </p:sp>
      <p:sp>
        <p:nvSpPr>
          <p:cNvPr id="6" name="Text 4"/>
          <p:cNvSpPr/>
          <p:nvPr/>
        </p:nvSpPr>
        <p:spPr>
          <a:xfrm>
            <a:off x="548640" y="2221992"/>
            <a:ext cx="2084832" cy="566928"/>
          </a:xfrm>
          <a:prstGeom prst="rect">
            <a:avLst/>
          </a:prstGeom>
          <a:noFill/>
          <a:ln/>
        </p:spPr>
        <p:txBody>
          <a:bodyPr wrap="square" rtlCol="0" anchor="ctr"/>
          <a:lstStyle/>
          <a:p>
            <a:pPr marL="0" indent="0" algn="ctr">
              <a:buNone/>
            </a:pPr>
            <a:r>
              <a:rPr lang="en-US" sz="2700" b="1" dirty="0">
                <a:solidFill>
                  <a:srgbClr val="FDB022"/>
                </a:solidFill>
                <a:latin typeface="Arial" pitchFamily="34" charset="0"/>
                <a:ea typeface="Arial" pitchFamily="34" charset="-122"/>
                <a:cs typeface="Arial" pitchFamily="34" charset="-120"/>
              </a:rPr>
              <a:t>96.1%</a:t>
            </a:r>
            <a:endParaRPr lang="en-US" sz="2700" dirty="0"/>
          </a:p>
        </p:txBody>
      </p:sp>
      <p:sp>
        <p:nvSpPr>
          <p:cNvPr id="7" name="Text 5"/>
          <p:cNvSpPr/>
          <p:nvPr/>
        </p:nvSpPr>
        <p:spPr>
          <a:xfrm>
            <a:off x="548640" y="2880360"/>
            <a:ext cx="2084832" cy="365760"/>
          </a:xfrm>
          <a:prstGeom prst="rect">
            <a:avLst/>
          </a:prstGeom>
          <a:noFill/>
          <a:ln/>
        </p:spPr>
        <p:txBody>
          <a:bodyPr wrap="square" rtlCol="0" anchor="ctr"/>
          <a:lstStyle/>
          <a:p>
            <a:pPr marL="0" indent="0" algn="ctr">
              <a:buNone/>
            </a:pPr>
            <a:r>
              <a:rPr lang="en-US" sz="1050" dirty="0">
                <a:solidFill>
                  <a:srgbClr val="8B93A7"/>
                </a:solidFill>
                <a:latin typeface="Calibri" pitchFamily="34" charset="0"/>
                <a:ea typeface="Calibri" pitchFamily="34" charset="-122"/>
                <a:cs typeface="Calibri" pitchFamily="34" charset="-120"/>
              </a:rPr>
              <a:t>Precision</a:t>
            </a:r>
            <a:endParaRPr lang="en-US" sz="1050" dirty="0"/>
          </a:p>
        </p:txBody>
      </p:sp>
      <p:sp>
        <p:nvSpPr>
          <p:cNvPr id="8" name="Shape 6"/>
          <p:cNvSpPr/>
          <p:nvPr/>
        </p:nvSpPr>
        <p:spPr>
          <a:xfrm>
            <a:off x="2770632" y="2103120"/>
            <a:ext cx="2084832" cy="1280160"/>
          </a:xfrm>
          <a:prstGeom prst="roundRect">
            <a:avLst>
              <a:gd name="adj" fmla="val 5714"/>
            </a:avLst>
          </a:prstGeom>
          <a:solidFill>
            <a:srgbClr val="161B26"/>
          </a:solidFill>
          <a:ln/>
        </p:spPr>
      </p:sp>
      <p:sp>
        <p:nvSpPr>
          <p:cNvPr id="9" name="Text 7"/>
          <p:cNvSpPr/>
          <p:nvPr/>
        </p:nvSpPr>
        <p:spPr>
          <a:xfrm>
            <a:off x="2770632" y="2221992"/>
            <a:ext cx="2084832" cy="566928"/>
          </a:xfrm>
          <a:prstGeom prst="rect">
            <a:avLst/>
          </a:prstGeom>
          <a:noFill/>
          <a:ln/>
        </p:spPr>
        <p:txBody>
          <a:bodyPr wrap="square" rtlCol="0" anchor="ctr"/>
          <a:lstStyle/>
          <a:p>
            <a:pPr marL="0" indent="0" algn="ctr">
              <a:buNone/>
            </a:pPr>
            <a:r>
              <a:rPr lang="en-US" sz="2700" b="1" dirty="0">
                <a:solidFill>
                  <a:srgbClr val="FDB022"/>
                </a:solidFill>
                <a:latin typeface="Arial" pitchFamily="34" charset="0"/>
                <a:ea typeface="Arial" pitchFamily="34" charset="-122"/>
                <a:cs typeface="Arial" pitchFamily="34" charset="-120"/>
              </a:rPr>
              <a:t>97.0%</a:t>
            </a:r>
            <a:endParaRPr lang="en-US" sz="2700" dirty="0"/>
          </a:p>
        </p:txBody>
      </p:sp>
      <p:sp>
        <p:nvSpPr>
          <p:cNvPr id="10" name="Text 8"/>
          <p:cNvSpPr/>
          <p:nvPr/>
        </p:nvSpPr>
        <p:spPr>
          <a:xfrm>
            <a:off x="2770632" y="2880360"/>
            <a:ext cx="2084832" cy="365760"/>
          </a:xfrm>
          <a:prstGeom prst="rect">
            <a:avLst/>
          </a:prstGeom>
          <a:noFill/>
          <a:ln/>
        </p:spPr>
        <p:txBody>
          <a:bodyPr wrap="square" rtlCol="0" anchor="ctr"/>
          <a:lstStyle/>
          <a:p>
            <a:pPr marL="0" indent="0" algn="ctr">
              <a:buNone/>
            </a:pPr>
            <a:r>
              <a:rPr lang="en-US" sz="1050" dirty="0">
                <a:solidFill>
                  <a:srgbClr val="8B93A7"/>
                </a:solidFill>
                <a:latin typeface="Calibri" pitchFamily="34" charset="0"/>
                <a:ea typeface="Calibri" pitchFamily="34" charset="-122"/>
                <a:cs typeface="Calibri" pitchFamily="34" charset="-120"/>
              </a:rPr>
              <a:t>Recall</a:t>
            </a:r>
            <a:endParaRPr lang="en-US" sz="1050" dirty="0"/>
          </a:p>
        </p:txBody>
      </p:sp>
      <p:sp>
        <p:nvSpPr>
          <p:cNvPr id="11" name="Shape 9"/>
          <p:cNvSpPr/>
          <p:nvPr/>
        </p:nvSpPr>
        <p:spPr>
          <a:xfrm>
            <a:off x="4992624" y="2103120"/>
            <a:ext cx="2084832" cy="1280160"/>
          </a:xfrm>
          <a:prstGeom prst="roundRect">
            <a:avLst>
              <a:gd name="adj" fmla="val 5714"/>
            </a:avLst>
          </a:prstGeom>
          <a:solidFill>
            <a:srgbClr val="161B26"/>
          </a:solidFill>
          <a:ln/>
        </p:spPr>
      </p:sp>
      <p:sp>
        <p:nvSpPr>
          <p:cNvPr id="12" name="Text 10"/>
          <p:cNvSpPr/>
          <p:nvPr/>
        </p:nvSpPr>
        <p:spPr>
          <a:xfrm>
            <a:off x="4992624" y="2221992"/>
            <a:ext cx="2084832" cy="566928"/>
          </a:xfrm>
          <a:prstGeom prst="rect">
            <a:avLst/>
          </a:prstGeom>
          <a:noFill/>
          <a:ln/>
        </p:spPr>
        <p:txBody>
          <a:bodyPr wrap="square" rtlCol="0" anchor="ctr"/>
          <a:lstStyle/>
          <a:p>
            <a:pPr marL="0" indent="0" algn="ctr">
              <a:buNone/>
            </a:pPr>
            <a:r>
              <a:rPr lang="en-US" sz="2700" b="1" dirty="0">
                <a:solidFill>
                  <a:srgbClr val="FDB022"/>
                </a:solidFill>
                <a:latin typeface="Arial" pitchFamily="34" charset="0"/>
                <a:ea typeface="Arial" pitchFamily="34" charset="-122"/>
                <a:cs typeface="Arial" pitchFamily="34" charset="-120"/>
              </a:rPr>
              <a:t>0.965</a:t>
            </a:r>
            <a:endParaRPr lang="en-US" sz="2700" dirty="0"/>
          </a:p>
        </p:txBody>
      </p:sp>
      <p:sp>
        <p:nvSpPr>
          <p:cNvPr id="13" name="Text 11"/>
          <p:cNvSpPr/>
          <p:nvPr/>
        </p:nvSpPr>
        <p:spPr>
          <a:xfrm>
            <a:off x="4992624" y="2880360"/>
            <a:ext cx="2084832" cy="365760"/>
          </a:xfrm>
          <a:prstGeom prst="rect">
            <a:avLst/>
          </a:prstGeom>
          <a:noFill/>
          <a:ln/>
        </p:spPr>
        <p:txBody>
          <a:bodyPr wrap="square" rtlCol="0" anchor="ctr"/>
          <a:lstStyle/>
          <a:p>
            <a:pPr marL="0" indent="0" algn="ctr">
              <a:buNone/>
            </a:pPr>
            <a:r>
              <a:rPr lang="en-US" sz="1050" dirty="0">
                <a:solidFill>
                  <a:srgbClr val="8B93A7"/>
                </a:solidFill>
                <a:latin typeface="Calibri" pitchFamily="34" charset="0"/>
                <a:ea typeface="Calibri" pitchFamily="34" charset="-122"/>
                <a:cs typeface="Calibri" pitchFamily="34" charset="-120"/>
              </a:rPr>
              <a:t>F1-Score</a:t>
            </a:r>
            <a:endParaRPr lang="en-US" sz="1050" dirty="0"/>
          </a:p>
        </p:txBody>
      </p:sp>
      <p:sp>
        <p:nvSpPr>
          <p:cNvPr id="14" name="Shape 12"/>
          <p:cNvSpPr/>
          <p:nvPr/>
        </p:nvSpPr>
        <p:spPr>
          <a:xfrm>
            <a:off x="7214616" y="2103120"/>
            <a:ext cx="2084832" cy="1280160"/>
          </a:xfrm>
          <a:prstGeom prst="roundRect">
            <a:avLst>
              <a:gd name="adj" fmla="val 5714"/>
            </a:avLst>
          </a:prstGeom>
          <a:solidFill>
            <a:srgbClr val="161B26"/>
          </a:solidFill>
          <a:ln/>
        </p:spPr>
      </p:sp>
      <p:sp>
        <p:nvSpPr>
          <p:cNvPr id="15" name="Text 13"/>
          <p:cNvSpPr/>
          <p:nvPr/>
        </p:nvSpPr>
        <p:spPr>
          <a:xfrm>
            <a:off x="7214616" y="2221992"/>
            <a:ext cx="2084832" cy="566928"/>
          </a:xfrm>
          <a:prstGeom prst="rect">
            <a:avLst/>
          </a:prstGeom>
          <a:noFill/>
          <a:ln/>
        </p:spPr>
        <p:txBody>
          <a:bodyPr wrap="square" rtlCol="0" anchor="ctr"/>
          <a:lstStyle/>
          <a:p>
            <a:pPr marL="0" indent="0" algn="ctr">
              <a:buNone/>
            </a:pPr>
            <a:r>
              <a:rPr lang="en-US" sz="2700" b="1" dirty="0">
                <a:solidFill>
                  <a:srgbClr val="FDB022"/>
                </a:solidFill>
                <a:latin typeface="Arial" pitchFamily="34" charset="0"/>
                <a:ea typeface="Arial" pitchFamily="34" charset="-122"/>
                <a:cs typeface="Arial" pitchFamily="34" charset="-120"/>
              </a:rPr>
              <a:t>1.2%</a:t>
            </a:r>
            <a:endParaRPr lang="en-US" sz="2700" dirty="0"/>
          </a:p>
        </p:txBody>
      </p:sp>
      <p:sp>
        <p:nvSpPr>
          <p:cNvPr id="16" name="Text 14"/>
          <p:cNvSpPr/>
          <p:nvPr/>
        </p:nvSpPr>
        <p:spPr>
          <a:xfrm>
            <a:off x="7214616" y="2880360"/>
            <a:ext cx="2084832" cy="365760"/>
          </a:xfrm>
          <a:prstGeom prst="rect">
            <a:avLst/>
          </a:prstGeom>
          <a:noFill/>
          <a:ln/>
        </p:spPr>
        <p:txBody>
          <a:bodyPr wrap="square" rtlCol="0" anchor="ctr"/>
          <a:lstStyle/>
          <a:p>
            <a:pPr marL="0" indent="0" algn="ctr">
              <a:buNone/>
            </a:pPr>
            <a:r>
              <a:rPr lang="en-US" sz="1050" dirty="0">
                <a:solidFill>
                  <a:srgbClr val="8B93A7"/>
                </a:solidFill>
                <a:latin typeface="Calibri" pitchFamily="34" charset="0"/>
                <a:ea typeface="Calibri" pitchFamily="34" charset="-122"/>
                <a:cs typeface="Calibri" pitchFamily="34" charset="-120"/>
              </a:rPr>
              <a:t>False Positive Rate</a:t>
            </a:r>
            <a:endParaRPr lang="en-US" sz="1050" dirty="0"/>
          </a:p>
        </p:txBody>
      </p:sp>
      <p:sp>
        <p:nvSpPr>
          <p:cNvPr id="17" name="Shape 15"/>
          <p:cNvSpPr/>
          <p:nvPr/>
        </p:nvSpPr>
        <p:spPr>
          <a:xfrm>
            <a:off x="9436608" y="2103120"/>
            <a:ext cx="2084832" cy="1280160"/>
          </a:xfrm>
          <a:prstGeom prst="roundRect">
            <a:avLst>
              <a:gd name="adj" fmla="val 5714"/>
            </a:avLst>
          </a:prstGeom>
          <a:solidFill>
            <a:srgbClr val="161B26"/>
          </a:solidFill>
          <a:ln/>
        </p:spPr>
      </p:sp>
      <p:sp>
        <p:nvSpPr>
          <p:cNvPr id="18" name="Text 16"/>
          <p:cNvSpPr/>
          <p:nvPr/>
        </p:nvSpPr>
        <p:spPr>
          <a:xfrm>
            <a:off x="9436608" y="2221992"/>
            <a:ext cx="2084832" cy="566928"/>
          </a:xfrm>
          <a:prstGeom prst="rect">
            <a:avLst/>
          </a:prstGeom>
          <a:noFill/>
          <a:ln/>
        </p:spPr>
        <p:txBody>
          <a:bodyPr wrap="square" rtlCol="0" anchor="ctr"/>
          <a:lstStyle/>
          <a:p>
            <a:pPr marL="0" indent="0" algn="ctr">
              <a:buNone/>
            </a:pPr>
            <a:r>
              <a:rPr lang="en-US" sz="2700" b="1" dirty="0">
                <a:solidFill>
                  <a:srgbClr val="FDB022"/>
                </a:solidFill>
                <a:latin typeface="Arial" pitchFamily="34" charset="0"/>
                <a:ea typeface="Arial" pitchFamily="34" charset="-122"/>
                <a:cs typeface="Arial" pitchFamily="34" charset="-120"/>
              </a:rPr>
              <a:t>~120ms</a:t>
            </a:r>
            <a:endParaRPr lang="en-US" sz="2700" dirty="0"/>
          </a:p>
        </p:txBody>
      </p:sp>
      <p:sp>
        <p:nvSpPr>
          <p:cNvPr id="19" name="Text 17"/>
          <p:cNvSpPr/>
          <p:nvPr/>
        </p:nvSpPr>
        <p:spPr>
          <a:xfrm>
            <a:off x="9436608" y="2880360"/>
            <a:ext cx="2084832" cy="365760"/>
          </a:xfrm>
          <a:prstGeom prst="rect">
            <a:avLst/>
          </a:prstGeom>
          <a:noFill/>
          <a:ln/>
        </p:spPr>
        <p:txBody>
          <a:bodyPr wrap="square" rtlCol="0" anchor="ctr"/>
          <a:lstStyle/>
          <a:p>
            <a:pPr marL="0" indent="0" algn="ctr">
              <a:buNone/>
            </a:pPr>
            <a:r>
              <a:rPr lang="en-US" sz="1050" dirty="0">
                <a:solidFill>
                  <a:srgbClr val="8B93A7"/>
                </a:solidFill>
                <a:latin typeface="Calibri" pitchFamily="34" charset="0"/>
                <a:ea typeface="Calibri" pitchFamily="34" charset="-122"/>
                <a:cs typeface="Calibri" pitchFamily="34" charset="-120"/>
              </a:rPr>
              <a:t>Combined Latency</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1965960"/>
        </p:xfrm>
        <a:graphic>
          <a:graphicData uri="http://schemas.openxmlformats.org/drawingml/2006/table">
            <a:tbl>
              <a:tblPr/>
              <a:tblGrid>
                <a:gridCol w="3383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327660">
                <a:tc>
                  <a:txBody>
                    <a:bodyPr/>
                    <a:lstStyle/>
                    <a:p>
                      <a:pPr marL="0" indent="0" algn="l">
                        <a:buNone/>
                      </a:pPr>
                      <a:r>
                        <a:rPr lang="en-US" sz="1130" b="1" dirty="0">
                          <a:solidFill>
                            <a:srgbClr val="F3F6FB"/>
                          </a:solidFill>
                          <a:latin typeface="Calibri" pitchFamily="34" charset="0"/>
                          <a:ea typeface="Calibri" pitchFamily="34" charset="-122"/>
                          <a:cs typeface="Calibri" pitchFamily="34" charset="-120"/>
                        </a:rPr>
                        <a:t>Model</a:t>
                      </a:r>
                      <a:endParaRPr lang="en-US" sz="11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30" b="1" dirty="0">
                          <a:solidFill>
                            <a:srgbClr val="F3F6FB"/>
                          </a:solidFill>
                          <a:latin typeface="Calibri" pitchFamily="34" charset="0"/>
                          <a:ea typeface="Calibri" pitchFamily="34" charset="-122"/>
                          <a:cs typeface="Calibri" pitchFamily="34" charset="-120"/>
                        </a:rPr>
                        <a:t>Accuracy</a:t>
                      </a:r>
                      <a:endParaRPr lang="en-US" sz="11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30" b="1" dirty="0">
                          <a:solidFill>
                            <a:srgbClr val="F3F6FB"/>
                          </a:solidFill>
                          <a:latin typeface="Calibri" pitchFamily="34" charset="0"/>
                          <a:ea typeface="Calibri" pitchFamily="34" charset="-122"/>
                          <a:cs typeface="Calibri" pitchFamily="34" charset="-120"/>
                        </a:rPr>
                        <a:t>F1</a:t>
                      </a:r>
                      <a:endParaRPr lang="en-US" sz="11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30" b="1" dirty="0">
                          <a:solidFill>
                            <a:srgbClr val="F3F6FB"/>
                          </a:solidFill>
                          <a:latin typeface="Calibri" pitchFamily="34" charset="0"/>
                          <a:ea typeface="Calibri" pitchFamily="34" charset="-122"/>
                          <a:cs typeface="Calibri" pitchFamily="34" charset="-120"/>
                        </a:rPr>
                        <a:t>Latency</a:t>
                      </a:r>
                      <a:endParaRPr lang="en-US" sz="11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ctr">
                        <a:buNone/>
                      </a:pPr>
                      <a:r>
                        <a:rPr lang="en-US" sz="1130" b="1" dirty="0">
                          <a:solidFill>
                            <a:srgbClr val="F3F6FB"/>
                          </a:solidFill>
                          <a:latin typeface="Calibri" pitchFamily="34" charset="0"/>
                          <a:ea typeface="Calibri" pitchFamily="34" charset="-122"/>
                          <a:cs typeface="Calibri" pitchFamily="34" charset="-120"/>
                        </a:rPr>
                        <a:t>Status</a:t>
                      </a:r>
                      <a:endParaRPr lang="en-US" sz="11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extLst>
                  <a:ext uri="{0D108BD9-81ED-4DB2-BD59-A6C34878D82A}">
                    <a16:rowId xmlns:a16="http://schemas.microsoft.com/office/drawing/2014/main" val="10000"/>
                  </a:ext>
                </a:extLst>
              </a:tr>
              <a:tr h="327660">
                <a:tc>
                  <a:txBody>
                    <a:bodyPr/>
                    <a:lstStyle/>
                    <a:p>
                      <a:pPr marL="0" indent="0" algn="l">
                        <a:buNone/>
                      </a:pPr>
                      <a:r>
                        <a:rPr lang="en-US" sz="1080" dirty="0">
                          <a:solidFill>
                            <a:srgbClr val="D5DBE8"/>
                          </a:solidFill>
                          <a:latin typeface="Calibri" pitchFamily="34" charset="0"/>
                          <a:ea typeface="Calibri" pitchFamily="34" charset="-122"/>
                          <a:cs typeface="Calibri" pitchFamily="34" charset="-120"/>
                        </a:rPr>
                        <a:t>Logistic Regression</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71.4%</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0.65</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10ms</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b="1" dirty="0">
                          <a:solidFill>
                            <a:srgbClr val="FB5B4E"/>
                          </a:solidFill>
                          <a:latin typeface="Calibri" pitchFamily="34" charset="0"/>
                          <a:ea typeface="Calibri" pitchFamily="34" charset="-122"/>
                          <a:cs typeface="Calibri" pitchFamily="34" charset="-120"/>
                        </a:rPr>
                        <a:t>Rejected</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1"/>
                  </a:ext>
                </a:extLst>
              </a:tr>
              <a:tr h="327660">
                <a:tc>
                  <a:txBody>
                    <a:bodyPr/>
                    <a:lstStyle/>
                    <a:p>
                      <a:pPr marL="0" indent="0" algn="l">
                        <a:buNone/>
                      </a:pPr>
                      <a:r>
                        <a:rPr lang="en-US" sz="1080" dirty="0">
                          <a:solidFill>
                            <a:srgbClr val="D5DBE8"/>
                          </a:solidFill>
                          <a:latin typeface="Calibri" pitchFamily="34" charset="0"/>
                          <a:ea typeface="Calibri" pitchFamily="34" charset="-122"/>
                          <a:cs typeface="Calibri" pitchFamily="34" charset="-120"/>
                        </a:rPr>
                        <a:t>Isolation Forest</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82.0%</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0.77</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20ms</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b="1" dirty="0">
                          <a:solidFill>
                            <a:srgbClr val="FB5B4E"/>
                          </a:solidFill>
                          <a:latin typeface="Calibri" pitchFamily="34" charset="0"/>
                          <a:ea typeface="Calibri" pitchFamily="34" charset="-122"/>
                          <a:cs typeface="Calibri" pitchFamily="34" charset="-120"/>
                        </a:rPr>
                        <a:t>Rejected</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2"/>
                  </a:ext>
                </a:extLst>
              </a:tr>
              <a:tr h="327660">
                <a:tc>
                  <a:txBody>
                    <a:bodyPr/>
                    <a:lstStyle/>
                    <a:p>
                      <a:pPr marL="0" indent="0" algn="l">
                        <a:buNone/>
                      </a:pPr>
                      <a:r>
                        <a:rPr lang="en-US" sz="1080" dirty="0">
                          <a:solidFill>
                            <a:srgbClr val="D5DBE8"/>
                          </a:solidFill>
                          <a:latin typeface="Calibri" pitchFamily="34" charset="0"/>
                          <a:ea typeface="Calibri" pitchFamily="34" charset="-122"/>
                          <a:cs typeface="Calibri" pitchFamily="34" charset="-120"/>
                        </a:rPr>
                        <a:t>Vanilla Autoencoder</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88.5%</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0.86</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65ms</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b="1" dirty="0">
                          <a:solidFill>
                            <a:srgbClr val="FB5B4E"/>
                          </a:solidFill>
                          <a:latin typeface="Calibri" pitchFamily="34" charset="0"/>
                          <a:ea typeface="Calibri" pitchFamily="34" charset="-122"/>
                          <a:cs typeface="Calibri" pitchFamily="34" charset="-120"/>
                        </a:rPr>
                        <a:t>Rejected</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3"/>
                  </a:ext>
                </a:extLst>
              </a:tr>
              <a:tr h="327660">
                <a:tc>
                  <a:txBody>
                    <a:bodyPr/>
                    <a:lstStyle/>
                    <a:p>
                      <a:pPr marL="0" indent="0" algn="l">
                        <a:buNone/>
                      </a:pPr>
                      <a:r>
                        <a:rPr lang="en-US" sz="1080" dirty="0">
                          <a:solidFill>
                            <a:srgbClr val="D5DBE8"/>
                          </a:solidFill>
                          <a:latin typeface="Calibri" pitchFamily="34" charset="0"/>
                          <a:ea typeface="Calibri" pitchFamily="34" charset="-122"/>
                          <a:cs typeface="Calibri" pitchFamily="34" charset="-120"/>
                        </a:rPr>
                        <a:t>Random Forest</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94.2%</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0.91</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25ms</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b="1" dirty="0">
                          <a:solidFill>
                            <a:srgbClr val="3DDC97"/>
                          </a:solidFill>
                          <a:latin typeface="Calibri" pitchFamily="34" charset="0"/>
                          <a:ea typeface="Calibri" pitchFamily="34" charset="-122"/>
                          <a:cs typeface="Calibri" pitchFamily="34" charset="-120"/>
                        </a:rPr>
                        <a:t>Selected</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4"/>
                  </a:ext>
                </a:extLst>
              </a:tr>
              <a:tr h="327660">
                <a:tc>
                  <a:txBody>
                    <a:bodyPr/>
                    <a:lstStyle/>
                    <a:p>
                      <a:pPr marL="0" indent="0" algn="l">
                        <a:buNone/>
                      </a:pPr>
                      <a:r>
                        <a:rPr lang="en-US" sz="1080" dirty="0">
                          <a:solidFill>
                            <a:srgbClr val="D5DBE8"/>
                          </a:solidFill>
                          <a:latin typeface="Calibri" pitchFamily="34" charset="0"/>
                          <a:ea typeface="Calibri" pitchFamily="34" charset="-122"/>
                          <a:cs typeface="Calibri" pitchFamily="34" charset="-120"/>
                        </a:rPr>
                        <a:t>LSTM Autoencoder</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95.8%</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0.93</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dirty="0">
                          <a:solidFill>
                            <a:srgbClr val="D5DBE8"/>
                          </a:solidFill>
                          <a:latin typeface="Calibri" pitchFamily="34" charset="0"/>
                          <a:ea typeface="Calibri" pitchFamily="34" charset="-122"/>
                          <a:cs typeface="Calibri" pitchFamily="34" charset="-120"/>
                        </a:rPr>
                        <a:t>115ms</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ctr">
                        <a:buNone/>
                      </a:pPr>
                      <a:r>
                        <a:rPr lang="en-US" sz="1080" b="1" dirty="0">
                          <a:solidFill>
                            <a:srgbClr val="3DDC97"/>
                          </a:solidFill>
                          <a:latin typeface="Calibri" pitchFamily="34" charset="0"/>
                          <a:ea typeface="Calibri" pitchFamily="34" charset="-122"/>
                          <a:cs typeface="Calibri" pitchFamily="34" charset="-120"/>
                        </a:rPr>
                        <a:t>Selected</a:t>
                      </a:r>
                      <a:endParaRPr lang="en-US" sz="108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5"/>
                  </a:ext>
                </a:extLst>
              </a:tr>
            </a:tbl>
          </a:graphicData>
        </a:graphic>
      </p:graphicFrame>
      <p:sp>
        <p:nvSpPr>
          <p:cNvPr id="21" name="Text 18"/>
          <p:cNvSpPr/>
          <p:nvPr/>
        </p:nvSpPr>
        <p:spPr>
          <a:xfrm>
            <a:off x="548640" y="5760720"/>
            <a:ext cx="11064240" cy="685800"/>
          </a:xfrm>
          <a:prstGeom prst="rect">
            <a:avLst/>
          </a:prstGeom>
          <a:noFill/>
          <a:ln/>
        </p:spPr>
        <p:txBody>
          <a:bodyPr wrap="square" rtlCol="0" anchor="ctr"/>
          <a:lstStyle/>
          <a:p>
            <a:pPr marL="0" indent="0">
              <a:buNone/>
            </a:pPr>
            <a:r>
              <a:rPr lang="en-US" sz="1130" b="1" dirty="0">
                <a:solidFill>
                  <a:srgbClr val="FDB022"/>
                </a:solidFill>
                <a:latin typeface="Calibri" pitchFamily="34" charset="0"/>
                <a:ea typeface="Calibri" pitchFamily="34" charset="-122"/>
                <a:cs typeface="Calibri" pitchFamily="34" charset="-120"/>
              </a:rPr>
              <a:t>Getting here took four training iterations:  </a:t>
            </a:r>
            <a:r>
              <a:rPr lang="en-US" sz="1080" dirty="0">
                <a:solidFill>
                  <a:srgbClr val="8B93A7"/>
                </a:solidFill>
                <a:latin typeface="Calibri" pitchFamily="34" charset="0"/>
                <a:ea typeface="Calibri" pitchFamily="34" charset="-122"/>
                <a:cs typeface="Calibri" pitchFamily="34" charset="-120"/>
              </a:rPr>
              <a:t>pure Random Forest missed sequence-based attacks → pure LSTM Autoencoder was too slow for simple CPU spikes and hit vanishing gradients → a strict AND-ensemble tanked recall → the final confidence-weighted OR-ensemble with time-of-day features reached the stable F1 = 0.965 shown above.</a:t>
            </a:r>
            <a:endParaRPr lang="en-US" sz="1130" dirty="0"/>
          </a:p>
        </p:txBody>
      </p:sp>
      <p:sp>
        <p:nvSpPr>
          <p:cNvPr id="22" name="Text 1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USER EXPERIENCE</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From Upload to Actionable Dashboard</a:t>
            </a:r>
            <a:endParaRPr lang="en-US" sz="2900" dirty="0"/>
          </a:p>
        </p:txBody>
      </p:sp>
      <p:sp>
        <p:nvSpPr>
          <p:cNvPr id="4" name="Text 2"/>
          <p:cNvSpPr/>
          <p:nvPr/>
        </p:nvSpPr>
        <p:spPr>
          <a:xfrm>
            <a:off x="548640" y="1463040"/>
            <a:ext cx="10881360" cy="365760"/>
          </a:xfrm>
          <a:prstGeom prst="rect">
            <a:avLst/>
          </a:prstGeom>
          <a:noFill/>
          <a:ln/>
        </p:spPr>
        <p:txBody>
          <a:bodyPr wrap="square" rtlCol="0" anchor="ctr"/>
          <a:lstStyle/>
          <a:p>
            <a:pPr marL="0" indent="0">
              <a:buNone/>
            </a:pPr>
            <a:r>
              <a:rPr lang="en-US" sz="1200" dirty="0">
                <a:solidFill>
                  <a:srgbClr val="8B93A7"/>
                </a:solidFill>
                <a:latin typeface="Calibri" pitchFamily="34" charset="0"/>
                <a:ea typeface="Calibri" pitchFamily="34" charset="-122"/>
                <a:cs typeface="Calibri" pitchFamily="34" charset="-120"/>
              </a:rPr>
              <a:t>Four screens carry a user from a raw log file to a concrete fix, each built as an independent, testable React component (see wireframes, Figures 10–13 of the report).</a:t>
            </a:r>
            <a:endParaRPr lang="en-US" sz="1200" dirty="0"/>
          </a:p>
        </p:txBody>
      </p:sp>
      <p:sp>
        <p:nvSpPr>
          <p:cNvPr id="5" name="Shape 3"/>
          <p:cNvSpPr/>
          <p:nvPr/>
        </p:nvSpPr>
        <p:spPr>
          <a:xfrm>
            <a:off x="548640" y="1965960"/>
            <a:ext cx="2606040" cy="4023360"/>
          </a:xfrm>
          <a:prstGeom prst="roundRect">
            <a:avLst>
              <a:gd name="adj" fmla="val 2807"/>
            </a:avLst>
          </a:prstGeom>
          <a:solidFill>
            <a:srgbClr val="161B26"/>
          </a:solidFill>
          <a:ln w="12700">
            <a:solidFill>
              <a:srgbClr val="232B3A"/>
            </a:solidFill>
            <a:prstDash val="solid"/>
          </a:ln>
        </p:spPr>
      </p:sp>
      <p:sp>
        <p:nvSpPr>
          <p:cNvPr id="6" name="Shape 4"/>
          <p:cNvSpPr/>
          <p:nvPr/>
        </p:nvSpPr>
        <p:spPr>
          <a:xfrm>
            <a:off x="731520" y="2167128"/>
            <a:ext cx="2240280" cy="457200"/>
          </a:xfrm>
          <a:prstGeom prst="roundRect">
            <a:avLst>
              <a:gd name="adj" fmla="val 10000"/>
            </a:avLst>
          </a:prstGeom>
          <a:solidFill>
            <a:srgbClr val="070A10"/>
          </a:solidFill>
          <a:ln/>
        </p:spPr>
      </p:sp>
      <p:sp>
        <p:nvSpPr>
          <p:cNvPr id="7" name="Text 5"/>
          <p:cNvSpPr/>
          <p:nvPr/>
        </p:nvSpPr>
        <p:spPr>
          <a:xfrm>
            <a:off x="731520" y="2167128"/>
            <a:ext cx="2240280" cy="457200"/>
          </a:xfrm>
          <a:prstGeom prst="rect">
            <a:avLst/>
          </a:prstGeom>
          <a:noFill/>
          <a:ln/>
        </p:spPr>
        <p:txBody>
          <a:bodyPr wrap="square" rtlCol="0" anchor="ctr"/>
          <a:lstStyle/>
          <a:p>
            <a:pPr marL="0" indent="0" algn="ctr">
              <a:buNone/>
            </a:pPr>
            <a:r>
              <a:rPr lang="en-US" sz="1600" b="1" dirty="0">
                <a:solidFill>
                  <a:srgbClr val="FDB022"/>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731520" y="2770632"/>
            <a:ext cx="2240280" cy="777240"/>
          </a:xfrm>
          <a:prstGeom prst="rect">
            <a:avLst/>
          </a:prstGeom>
          <a:noFill/>
          <a:ln/>
        </p:spPr>
        <p:txBody>
          <a:bodyPr wrap="square" rtlCol="0" anchor="ctr"/>
          <a:lstStyle/>
          <a:p>
            <a:pPr marL="0" indent="0">
              <a:buNone/>
            </a:pPr>
            <a:r>
              <a:rPr lang="en-US" sz="1250" b="1" dirty="0">
                <a:solidFill>
                  <a:srgbClr val="F3F6FB"/>
                </a:solidFill>
                <a:latin typeface="Arial" pitchFamily="34" charset="0"/>
                <a:ea typeface="Arial" pitchFamily="34" charset="-122"/>
                <a:cs typeface="Arial" pitchFamily="34" charset="-120"/>
              </a:rPr>
              <a:t>Log Upload Screen</a:t>
            </a:r>
            <a:endParaRPr lang="en-US" sz="1250" dirty="0"/>
          </a:p>
        </p:txBody>
      </p:sp>
      <p:sp>
        <p:nvSpPr>
          <p:cNvPr id="9" name="Text 7"/>
          <p:cNvSpPr/>
          <p:nvPr/>
        </p:nvSpPr>
        <p:spPr>
          <a:xfrm>
            <a:off x="731520" y="3538728"/>
            <a:ext cx="2240280" cy="1965960"/>
          </a:xfrm>
          <a:prstGeom prst="rect">
            <a:avLst/>
          </a:prstGeom>
          <a:noFill/>
          <a:ln/>
        </p:spPr>
        <p:txBody>
          <a:bodyPr wrap="square" rtlCol="0" anchor="ctr"/>
          <a:lstStyle/>
          <a:p>
            <a:pPr marL="0" indent="0">
              <a:buNone/>
            </a:pPr>
            <a:r>
              <a:rPr lang="en-US" sz="1020" dirty="0">
                <a:solidFill>
                  <a:srgbClr val="8B93A7"/>
                </a:solidFill>
                <a:latin typeface="Calibri" pitchFamily="34" charset="0"/>
                <a:ea typeface="Calibri" pitchFamily="34" charset="-122"/>
                <a:cs typeface="Calibri" pitchFamily="34" charset="-120"/>
              </a:rPr>
              <a:t>Drag-and-drop zone accepts .log/.txt files, with quick incident-simulation presets for demos and testing.</a:t>
            </a:r>
            <a:endParaRPr lang="en-US" sz="1020" dirty="0"/>
          </a:p>
        </p:txBody>
      </p:sp>
      <p:sp>
        <p:nvSpPr>
          <p:cNvPr id="10" name="Text 8"/>
          <p:cNvSpPr/>
          <p:nvPr/>
        </p:nvSpPr>
        <p:spPr>
          <a:xfrm>
            <a:off x="731520" y="5605272"/>
            <a:ext cx="2240280" cy="292608"/>
          </a:xfrm>
          <a:prstGeom prst="rect">
            <a:avLst/>
          </a:prstGeom>
          <a:noFill/>
          <a:ln/>
        </p:spPr>
        <p:txBody>
          <a:bodyPr wrap="square" rtlCol="0" anchor="ctr"/>
          <a:lstStyle/>
          <a:p>
            <a:pPr marL="0" indent="0">
              <a:buNone/>
            </a:pPr>
            <a:r>
              <a:rPr lang="en-US" sz="870" dirty="0">
                <a:solidFill>
                  <a:srgbClr val="4CC9F0"/>
                </a:solidFill>
                <a:latin typeface="Consolas" pitchFamily="34" charset="0"/>
                <a:ea typeface="Consolas" pitchFamily="34" charset="-122"/>
                <a:cs typeface="Consolas" pitchFamily="34" charset="-120"/>
              </a:rPr>
              <a:t>LogUploader.tsx</a:t>
            </a:r>
            <a:endParaRPr lang="en-US" sz="870" dirty="0"/>
          </a:p>
        </p:txBody>
      </p:sp>
      <p:sp>
        <p:nvSpPr>
          <p:cNvPr id="11" name="Shape 9"/>
          <p:cNvSpPr/>
          <p:nvPr/>
        </p:nvSpPr>
        <p:spPr>
          <a:xfrm>
            <a:off x="3337560" y="1965960"/>
            <a:ext cx="2606040" cy="4023360"/>
          </a:xfrm>
          <a:prstGeom prst="roundRect">
            <a:avLst>
              <a:gd name="adj" fmla="val 2807"/>
            </a:avLst>
          </a:prstGeom>
          <a:solidFill>
            <a:srgbClr val="161B26"/>
          </a:solidFill>
          <a:ln w="12700">
            <a:solidFill>
              <a:srgbClr val="232B3A"/>
            </a:solidFill>
            <a:prstDash val="solid"/>
          </a:ln>
        </p:spPr>
      </p:sp>
      <p:sp>
        <p:nvSpPr>
          <p:cNvPr id="12" name="Shape 10"/>
          <p:cNvSpPr/>
          <p:nvPr/>
        </p:nvSpPr>
        <p:spPr>
          <a:xfrm>
            <a:off x="3520440" y="2167128"/>
            <a:ext cx="2240280" cy="457200"/>
          </a:xfrm>
          <a:prstGeom prst="roundRect">
            <a:avLst>
              <a:gd name="adj" fmla="val 10000"/>
            </a:avLst>
          </a:prstGeom>
          <a:solidFill>
            <a:srgbClr val="070A10"/>
          </a:solidFill>
          <a:ln/>
        </p:spPr>
      </p:sp>
      <p:sp>
        <p:nvSpPr>
          <p:cNvPr id="13" name="Text 11"/>
          <p:cNvSpPr/>
          <p:nvPr/>
        </p:nvSpPr>
        <p:spPr>
          <a:xfrm>
            <a:off x="3520440" y="2167128"/>
            <a:ext cx="2240280" cy="457200"/>
          </a:xfrm>
          <a:prstGeom prst="rect">
            <a:avLst/>
          </a:prstGeom>
          <a:noFill/>
          <a:ln/>
        </p:spPr>
        <p:txBody>
          <a:bodyPr wrap="square" rtlCol="0" anchor="ctr"/>
          <a:lstStyle/>
          <a:p>
            <a:pPr marL="0" indent="0" algn="ctr">
              <a:buNone/>
            </a:pPr>
            <a:r>
              <a:rPr lang="en-US" sz="1600" b="1" dirty="0">
                <a:solidFill>
                  <a:srgbClr val="FDB022"/>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3520440" y="2770632"/>
            <a:ext cx="2240280" cy="777240"/>
          </a:xfrm>
          <a:prstGeom prst="rect">
            <a:avLst/>
          </a:prstGeom>
          <a:noFill/>
          <a:ln/>
        </p:spPr>
        <p:txBody>
          <a:bodyPr wrap="square" rtlCol="0" anchor="ctr"/>
          <a:lstStyle/>
          <a:p>
            <a:pPr marL="0" indent="0">
              <a:buNone/>
            </a:pPr>
            <a:r>
              <a:rPr lang="en-US" sz="1250" b="1" dirty="0">
                <a:solidFill>
                  <a:srgbClr val="F3F6FB"/>
                </a:solidFill>
                <a:latin typeface="Arial" pitchFamily="34" charset="0"/>
                <a:ea typeface="Arial" pitchFamily="34" charset="-122"/>
                <a:cs typeface="Arial" pitchFamily="34" charset="-120"/>
              </a:rPr>
              <a:t>Analysis / Loading Screen</a:t>
            </a:r>
            <a:endParaRPr lang="en-US" sz="1250" dirty="0"/>
          </a:p>
        </p:txBody>
      </p:sp>
      <p:sp>
        <p:nvSpPr>
          <p:cNvPr id="15" name="Text 13"/>
          <p:cNvSpPr/>
          <p:nvPr/>
        </p:nvSpPr>
        <p:spPr>
          <a:xfrm>
            <a:off x="3520440" y="3538728"/>
            <a:ext cx="2240280" cy="1965960"/>
          </a:xfrm>
          <a:prstGeom prst="rect">
            <a:avLst/>
          </a:prstGeom>
          <a:noFill/>
          <a:ln/>
        </p:spPr>
        <p:txBody>
          <a:bodyPr wrap="square" rtlCol="0" anchor="ctr"/>
          <a:lstStyle/>
          <a:p>
            <a:pPr marL="0" indent="0">
              <a:buNone/>
            </a:pPr>
            <a:r>
              <a:rPr lang="en-US" sz="1020" dirty="0">
                <a:solidFill>
                  <a:srgbClr val="8B93A7"/>
                </a:solidFill>
                <a:latin typeface="Calibri" pitchFamily="34" charset="0"/>
                <a:ea typeface="Calibri" pitchFamily="34" charset="-122"/>
                <a:cs typeface="Calibri" pitchFamily="34" charset="-120"/>
              </a:rPr>
              <a:t>Live step-by-step trace: log parsing, feature extraction, LSTM inference, reconstruction-error check.</a:t>
            </a:r>
            <a:endParaRPr lang="en-US" sz="1020" dirty="0"/>
          </a:p>
        </p:txBody>
      </p:sp>
      <p:sp>
        <p:nvSpPr>
          <p:cNvPr id="16" name="Text 14"/>
          <p:cNvSpPr/>
          <p:nvPr/>
        </p:nvSpPr>
        <p:spPr>
          <a:xfrm>
            <a:off x="3520440" y="5605272"/>
            <a:ext cx="2240280" cy="292608"/>
          </a:xfrm>
          <a:prstGeom prst="rect">
            <a:avLst/>
          </a:prstGeom>
          <a:noFill/>
          <a:ln/>
        </p:spPr>
        <p:txBody>
          <a:bodyPr wrap="square" rtlCol="0" anchor="ctr"/>
          <a:lstStyle/>
          <a:p>
            <a:pPr marL="0" indent="0">
              <a:buNone/>
            </a:pPr>
            <a:r>
              <a:rPr lang="en-US" sz="870" dirty="0">
                <a:solidFill>
                  <a:srgbClr val="4CC9F0"/>
                </a:solidFill>
                <a:latin typeface="Consolas" pitchFamily="34" charset="0"/>
                <a:ea typeface="Consolas" pitchFamily="34" charset="-122"/>
                <a:cs typeface="Consolas" pitchFamily="34" charset="-120"/>
              </a:rPr>
              <a:t>AnalysisLoader.tsx</a:t>
            </a:r>
            <a:endParaRPr lang="en-US" sz="870" dirty="0"/>
          </a:p>
        </p:txBody>
      </p:sp>
      <p:sp>
        <p:nvSpPr>
          <p:cNvPr id="17" name="Shape 15"/>
          <p:cNvSpPr/>
          <p:nvPr/>
        </p:nvSpPr>
        <p:spPr>
          <a:xfrm>
            <a:off x="6126480" y="1965960"/>
            <a:ext cx="2606040" cy="4023360"/>
          </a:xfrm>
          <a:prstGeom prst="roundRect">
            <a:avLst>
              <a:gd name="adj" fmla="val 2807"/>
            </a:avLst>
          </a:prstGeom>
          <a:solidFill>
            <a:srgbClr val="161B26"/>
          </a:solidFill>
          <a:ln w="12700">
            <a:solidFill>
              <a:srgbClr val="232B3A"/>
            </a:solidFill>
            <a:prstDash val="solid"/>
          </a:ln>
        </p:spPr>
      </p:sp>
      <p:sp>
        <p:nvSpPr>
          <p:cNvPr id="18" name="Shape 16"/>
          <p:cNvSpPr/>
          <p:nvPr/>
        </p:nvSpPr>
        <p:spPr>
          <a:xfrm>
            <a:off x="6309360" y="2167128"/>
            <a:ext cx="2240280" cy="457200"/>
          </a:xfrm>
          <a:prstGeom prst="roundRect">
            <a:avLst>
              <a:gd name="adj" fmla="val 10000"/>
            </a:avLst>
          </a:prstGeom>
          <a:solidFill>
            <a:srgbClr val="070A10"/>
          </a:solidFill>
          <a:ln/>
        </p:spPr>
      </p:sp>
      <p:sp>
        <p:nvSpPr>
          <p:cNvPr id="19" name="Text 17"/>
          <p:cNvSpPr/>
          <p:nvPr/>
        </p:nvSpPr>
        <p:spPr>
          <a:xfrm>
            <a:off x="6309360" y="2167128"/>
            <a:ext cx="2240280" cy="457200"/>
          </a:xfrm>
          <a:prstGeom prst="rect">
            <a:avLst/>
          </a:prstGeom>
          <a:noFill/>
          <a:ln/>
        </p:spPr>
        <p:txBody>
          <a:bodyPr wrap="square" rtlCol="0" anchor="ctr"/>
          <a:lstStyle/>
          <a:p>
            <a:pPr marL="0" indent="0" algn="ctr">
              <a:buNone/>
            </a:pPr>
            <a:r>
              <a:rPr lang="en-US" sz="1600" b="1" dirty="0">
                <a:solidFill>
                  <a:srgbClr val="FDB022"/>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6309360" y="2770632"/>
            <a:ext cx="2240280" cy="777240"/>
          </a:xfrm>
          <a:prstGeom prst="rect">
            <a:avLst/>
          </a:prstGeom>
          <a:noFill/>
          <a:ln/>
        </p:spPr>
        <p:txBody>
          <a:bodyPr wrap="square" rtlCol="0" anchor="ctr"/>
          <a:lstStyle/>
          <a:p>
            <a:pPr marL="0" indent="0">
              <a:buNone/>
            </a:pPr>
            <a:r>
              <a:rPr lang="en-US" sz="1250" b="1" dirty="0">
                <a:solidFill>
                  <a:srgbClr val="F3F6FB"/>
                </a:solidFill>
                <a:latin typeface="Arial" pitchFamily="34" charset="0"/>
                <a:ea typeface="Arial" pitchFamily="34" charset="-122"/>
                <a:cs typeface="Arial" pitchFamily="34" charset="-120"/>
              </a:rPr>
              <a:t>Results &amp; Remediation Dashboard</a:t>
            </a:r>
            <a:endParaRPr lang="en-US" sz="1250" dirty="0"/>
          </a:p>
        </p:txBody>
      </p:sp>
      <p:sp>
        <p:nvSpPr>
          <p:cNvPr id="21" name="Text 19"/>
          <p:cNvSpPr/>
          <p:nvPr/>
        </p:nvSpPr>
        <p:spPr>
          <a:xfrm>
            <a:off x="6309360" y="3538728"/>
            <a:ext cx="2240280" cy="1965960"/>
          </a:xfrm>
          <a:prstGeom prst="rect">
            <a:avLst/>
          </a:prstGeom>
          <a:noFill/>
          <a:ln/>
        </p:spPr>
        <p:txBody>
          <a:bodyPr wrap="square" rtlCol="0" anchor="ctr"/>
          <a:lstStyle/>
          <a:p>
            <a:pPr marL="0" indent="0">
              <a:buNone/>
            </a:pPr>
            <a:r>
              <a:rPr lang="en-US" sz="1020" dirty="0">
                <a:solidFill>
                  <a:srgbClr val="8B93A7"/>
                </a:solidFill>
                <a:latin typeface="Calibri" pitchFamily="34" charset="0"/>
                <a:ea typeface="Calibri" pitchFamily="34" charset="-122"/>
                <a:cs typeface="Calibri" pitchFamily="34" charset="-120"/>
              </a:rPr>
              <a:t>Anomaly card, ServiceGraph and LogDataFlow pipeline view, AI root-cause panel, prioritized fix checklist, one-click Bash/K8s quick actions.</a:t>
            </a:r>
            <a:endParaRPr lang="en-US" sz="1020" dirty="0"/>
          </a:p>
        </p:txBody>
      </p:sp>
      <p:sp>
        <p:nvSpPr>
          <p:cNvPr id="22" name="Text 20"/>
          <p:cNvSpPr/>
          <p:nvPr/>
        </p:nvSpPr>
        <p:spPr>
          <a:xfrm>
            <a:off x="6309360" y="5605272"/>
            <a:ext cx="2240280" cy="292608"/>
          </a:xfrm>
          <a:prstGeom prst="rect">
            <a:avLst/>
          </a:prstGeom>
          <a:noFill/>
          <a:ln/>
        </p:spPr>
        <p:txBody>
          <a:bodyPr wrap="square" rtlCol="0" anchor="ctr"/>
          <a:lstStyle/>
          <a:p>
            <a:pPr marL="0" indent="0">
              <a:buNone/>
            </a:pPr>
            <a:r>
              <a:rPr lang="en-US" sz="870" dirty="0">
                <a:solidFill>
                  <a:srgbClr val="4CC9F0"/>
                </a:solidFill>
                <a:latin typeface="Consolas" pitchFamily="34" charset="0"/>
                <a:ea typeface="Consolas" pitchFamily="34" charset="-122"/>
                <a:cs typeface="Consolas" pitchFamily="34" charset="-120"/>
              </a:rPr>
              <a:t>AnomalyCard, ServiceGraph, FixesPanel</a:t>
            </a:r>
            <a:endParaRPr lang="en-US" sz="870" dirty="0"/>
          </a:p>
        </p:txBody>
      </p:sp>
      <p:sp>
        <p:nvSpPr>
          <p:cNvPr id="23" name="Shape 21"/>
          <p:cNvSpPr/>
          <p:nvPr/>
        </p:nvSpPr>
        <p:spPr>
          <a:xfrm>
            <a:off x="8915400" y="1965960"/>
            <a:ext cx="2606040" cy="4023360"/>
          </a:xfrm>
          <a:prstGeom prst="roundRect">
            <a:avLst>
              <a:gd name="adj" fmla="val 2807"/>
            </a:avLst>
          </a:prstGeom>
          <a:solidFill>
            <a:srgbClr val="161B26"/>
          </a:solidFill>
          <a:ln w="12700">
            <a:solidFill>
              <a:srgbClr val="232B3A"/>
            </a:solidFill>
            <a:prstDash val="solid"/>
          </a:ln>
        </p:spPr>
      </p:sp>
      <p:sp>
        <p:nvSpPr>
          <p:cNvPr id="24" name="Shape 22"/>
          <p:cNvSpPr/>
          <p:nvPr/>
        </p:nvSpPr>
        <p:spPr>
          <a:xfrm>
            <a:off x="9098280" y="2167128"/>
            <a:ext cx="2240280" cy="457200"/>
          </a:xfrm>
          <a:prstGeom prst="roundRect">
            <a:avLst>
              <a:gd name="adj" fmla="val 10000"/>
            </a:avLst>
          </a:prstGeom>
          <a:solidFill>
            <a:srgbClr val="070A10"/>
          </a:solidFill>
          <a:ln/>
        </p:spPr>
      </p:sp>
      <p:sp>
        <p:nvSpPr>
          <p:cNvPr id="25" name="Text 23"/>
          <p:cNvSpPr/>
          <p:nvPr/>
        </p:nvSpPr>
        <p:spPr>
          <a:xfrm>
            <a:off x="9098280" y="2167128"/>
            <a:ext cx="2240280" cy="457200"/>
          </a:xfrm>
          <a:prstGeom prst="rect">
            <a:avLst/>
          </a:prstGeom>
          <a:noFill/>
          <a:ln/>
        </p:spPr>
        <p:txBody>
          <a:bodyPr wrap="square" rtlCol="0" anchor="ctr"/>
          <a:lstStyle/>
          <a:p>
            <a:pPr marL="0" indent="0" algn="ctr">
              <a:buNone/>
            </a:pPr>
            <a:r>
              <a:rPr lang="en-US" sz="1600" b="1" dirty="0">
                <a:solidFill>
                  <a:srgbClr val="FDB022"/>
                </a:solidFill>
                <a:latin typeface="Arial" pitchFamily="34" charset="0"/>
                <a:ea typeface="Arial" pitchFamily="34" charset="-122"/>
                <a:cs typeface="Arial" pitchFamily="34" charset="-120"/>
              </a:rPr>
              <a:t>4</a:t>
            </a:r>
            <a:endParaRPr lang="en-US" sz="1600" dirty="0"/>
          </a:p>
        </p:txBody>
      </p:sp>
      <p:sp>
        <p:nvSpPr>
          <p:cNvPr id="26" name="Text 24"/>
          <p:cNvSpPr/>
          <p:nvPr/>
        </p:nvSpPr>
        <p:spPr>
          <a:xfrm>
            <a:off x="9098280" y="2770632"/>
            <a:ext cx="2240280" cy="777240"/>
          </a:xfrm>
          <a:prstGeom prst="rect">
            <a:avLst/>
          </a:prstGeom>
          <a:noFill/>
          <a:ln/>
        </p:spPr>
        <p:txBody>
          <a:bodyPr wrap="square" rtlCol="0" anchor="ctr"/>
          <a:lstStyle/>
          <a:p>
            <a:pPr marL="0" indent="0">
              <a:buNone/>
            </a:pPr>
            <a:r>
              <a:rPr lang="en-US" sz="1250" b="1" dirty="0">
                <a:solidFill>
                  <a:srgbClr val="F3F6FB"/>
                </a:solidFill>
                <a:latin typeface="Arial" pitchFamily="34" charset="0"/>
                <a:ea typeface="Arial" pitchFamily="34" charset="-122"/>
                <a:cs typeface="Arial" pitchFamily="34" charset="-120"/>
              </a:rPr>
              <a:t>AI Assistant Chat Window</a:t>
            </a:r>
            <a:endParaRPr lang="en-US" sz="1250" dirty="0"/>
          </a:p>
        </p:txBody>
      </p:sp>
      <p:sp>
        <p:nvSpPr>
          <p:cNvPr id="27" name="Text 25"/>
          <p:cNvSpPr/>
          <p:nvPr/>
        </p:nvSpPr>
        <p:spPr>
          <a:xfrm>
            <a:off x="9098280" y="3538728"/>
            <a:ext cx="2240280" cy="1965960"/>
          </a:xfrm>
          <a:prstGeom prst="rect">
            <a:avLst/>
          </a:prstGeom>
          <a:noFill/>
          <a:ln/>
        </p:spPr>
        <p:txBody>
          <a:bodyPr wrap="square" rtlCol="0" anchor="ctr"/>
          <a:lstStyle/>
          <a:p>
            <a:pPr marL="0" indent="0">
              <a:buNone/>
            </a:pPr>
            <a:r>
              <a:rPr lang="en-US" sz="1020" dirty="0">
                <a:solidFill>
                  <a:srgbClr val="8B93A7"/>
                </a:solidFill>
                <a:latin typeface="Calibri" pitchFamily="34" charset="0"/>
                <a:ea typeface="Calibri" pitchFamily="34" charset="-122"/>
                <a:cs typeface="Calibri" pitchFamily="34" charset="-120"/>
              </a:rPr>
              <a:t>Context-aware follow-up chat via /ai/chat — explains errors, generates remediation scripts, keeps the full incident in memory.</a:t>
            </a:r>
            <a:endParaRPr lang="en-US" sz="1020" dirty="0"/>
          </a:p>
        </p:txBody>
      </p:sp>
      <p:sp>
        <p:nvSpPr>
          <p:cNvPr id="28" name="Text 26"/>
          <p:cNvSpPr/>
          <p:nvPr/>
        </p:nvSpPr>
        <p:spPr>
          <a:xfrm>
            <a:off x="9098280" y="5605272"/>
            <a:ext cx="2240280" cy="292608"/>
          </a:xfrm>
          <a:prstGeom prst="rect">
            <a:avLst/>
          </a:prstGeom>
          <a:noFill/>
          <a:ln/>
        </p:spPr>
        <p:txBody>
          <a:bodyPr wrap="square" rtlCol="0" anchor="ctr"/>
          <a:lstStyle/>
          <a:p>
            <a:pPr marL="0" indent="0">
              <a:buNone/>
            </a:pPr>
            <a:r>
              <a:rPr lang="en-US" sz="870" dirty="0">
                <a:solidFill>
                  <a:srgbClr val="4CC9F0"/>
                </a:solidFill>
                <a:latin typeface="Consolas" pitchFamily="34" charset="0"/>
                <a:ea typeface="Consolas" pitchFamily="34" charset="-122"/>
                <a:cs typeface="Consolas" pitchFamily="34" charset="-120"/>
              </a:rPr>
              <a:t>ChatWindow.tsx / LogAssistant.tsx</a:t>
            </a:r>
            <a:endParaRPr lang="en-US" sz="870" dirty="0"/>
          </a:p>
        </p:txBody>
      </p:sp>
      <p:sp>
        <p:nvSpPr>
          <p:cNvPr id="29" name="Text 2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ANALYSIS OF RESULTS · WORKFLOWS</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Two Operational Paths</a:t>
            </a:r>
            <a:endParaRPr lang="en-US" sz="2900" dirty="0"/>
          </a:p>
        </p:txBody>
      </p:sp>
      <p:sp>
        <p:nvSpPr>
          <p:cNvPr id="4" name="Shape 2"/>
          <p:cNvSpPr/>
          <p:nvPr/>
        </p:nvSpPr>
        <p:spPr>
          <a:xfrm>
            <a:off x="548640" y="1463040"/>
            <a:ext cx="5394960" cy="4206240"/>
          </a:xfrm>
          <a:prstGeom prst="roundRect">
            <a:avLst>
              <a:gd name="adj" fmla="val 2174"/>
            </a:avLst>
          </a:prstGeom>
          <a:solidFill>
            <a:srgbClr val="0F2A20"/>
          </a:solidFill>
          <a:ln w="12700">
            <a:solidFill>
              <a:srgbClr val="3DDC97"/>
            </a:solidFill>
            <a:prstDash val="solid"/>
          </a:ln>
        </p:spPr>
      </p:sp>
      <p:sp>
        <p:nvSpPr>
          <p:cNvPr id="5" name="Text 3"/>
          <p:cNvSpPr/>
          <p:nvPr/>
        </p:nvSpPr>
        <p:spPr>
          <a:xfrm>
            <a:off x="822960" y="1645920"/>
            <a:ext cx="4846320" cy="365760"/>
          </a:xfrm>
          <a:prstGeom prst="rect">
            <a:avLst/>
          </a:prstGeom>
          <a:noFill/>
          <a:ln/>
        </p:spPr>
        <p:txBody>
          <a:bodyPr wrap="square" rtlCol="0" anchor="ctr"/>
          <a:lstStyle/>
          <a:p>
            <a:pPr marL="0" indent="0">
              <a:buNone/>
            </a:pPr>
            <a:r>
              <a:rPr lang="en-US" sz="1600" b="1" dirty="0">
                <a:solidFill>
                  <a:srgbClr val="3DDC97"/>
                </a:solidFill>
                <a:latin typeface="Arial" pitchFamily="34" charset="0"/>
                <a:ea typeface="Arial" pitchFamily="34" charset="-122"/>
                <a:cs typeface="Arial" pitchFamily="34" charset="-120"/>
              </a:rPr>
              <a:t>✓  The Happy Path</a:t>
            </a:r>
            <a:endParaRPr lang="en-US" sz="1600" dirty="0"/>
          </a:p>
        </p:txBody>
      </p:sp>
      <p:sp>
        <p:nvSpPr>
          <p:cNvPr id="6" name="Text 4"/>
          <p:cNvSpPr/>
          <p:nvPr/>
        </p:nvSpPr>
        <p:spPr>
          <a:xfrm>
            <a:off x="822960" y="1993392"/>
            <a:ext cx="4846320" cy="256032"/>
          </a:xfrm>
          <a:prstGeom prst="rect">
            <a:avLst/>
          </a:prstGeom>
          <a:noFill/>
          <a:ln/>
        </p:spPr>
        <p:txBody>
          <a:bodyPr wrap="square" rtlCol="0" anchor="ctr"/>
          <a:lstStyle/>
          <a:p>
            <a:pPr marL="0" indent="0">
              <a:buNone/>
            </a:pPr>
            <a:r>
              <a:rPr lang="en-US" sz="1050" i="1" dirty="0">
                <a:solidFill>
                  <a:srgbClr val="9FD9C6"/>
                </a:solidFill>
                <a:latin typeface="Calibri" pitchFamily="34" charset="0"/>
                <a:ea typeface="Calibri" pitchFamily="34" charset="-122"/>
                <a:cs typeface="Calibri" pitchFamily="34" charset="-120"/>
              </a:rPr>
              <a:t>High-confidence detection → automated remediation</a:t>
            </a:r>
            <a:endParaRPr lang="en-US" sz="1050" dirty="0"/>
          </a:p>
        </p:txBody>
      </p:sp>
      <p:sp>
        <p:nvSpPr>
          <p:cNvPr id="7" name="Shape 5"/>
          <p:cNvSpPr/>
          <p:nvPr/>
        </p:nvSpPr>
        <p:spPr>
          <a:xfrm>
            <a:off x="822960" y="2359152"/>
            <a:ext cx="301752" cy="301752"/>
          </a:xfrm>
          <a:prstGeom prst="ellipse">
            <a:avLst/>
          </a:prstGeom>
          <a:solidFill>
            <a:srgbClr val="3DDC97"/>
          </a:solidFill>
          <a:ln/>
        </p:spPr>
      </p:sp>
      <p:sp>
        <p:nvSpPr>
          <p:cNvPr id="8" name="Text 6"/>
          <p:cNvSpPr/>
          <p:nvPr/>
        </p:nvSpPr>
        <p:spPr>
          <a:xfrm>
            <a:off x="822960" y="2359152"/>
            <a:ext cx="301752" cy="301752"/>
          </a:xfrm>
          <a:prstGeom prst="rect">
            <a:avLst/>
          </a:prstGeom>
          <a:noFill/>
          <a:ln/>
        </p:spPr>
        <p:txBody>
          <a:bodyPr wrap="square" rtlCol="0" anchor="ctr"/>
          <a:lstStyle/>
          <a:p>
            <a:pPr marL="0" indent="0" algn="ctr">
              <a:buNone/>
            </a:pPr>
            <a:r>
              <a:rPr lang="en-US" sz="858" b="1" dirty="0">
                <a:solidFill>
                  <a:srgbClr val="0F2A20"/>
                </a:solidFill>
                <a:latin typeface="Arial" pitchFamily="34" charset="0"/>
                <a:ea typeface="Arial" pitchFamily="34" charset="-122"/>
                <a:cs typeface="Arial" pitchFamily="34" charset="-120"/>
              </a:rPr>
              <a:t>1</a:t>
            </a:r>
            <a:endParaRPr lang="en-US" sz="858" dirty="0"/>
          </a:p>
        </p:txBody>
      </p:sp>
      <p:sp>
        <p:nvSpPr>
          <p:cNvPr id="9" name="Text 7"/>
          <p:cNvSpPr/>
          <p:nvPr/>
        </p:nvSpPr>
        <p:spPr>
          <a:xfrm>
            <a:off x="1261872" y="2313432"/>
            <a:ext cx="4526280" cy="548640"/>
          </a:xfrm>
          <a:prstGeom prst="rect">
            <a:avLst/>
          </a:prstGeom>
          <a:noFill/>
          <a:ln/>
        </p:spPr>
        <p:txBody>
          <a:bodyPr wrap="square" rtlCol="0" anchor="ctr"/>
          <a:lstStyle/>
          <a:p>
            <a:pPr marL="0" indent="0">
              <a:buNone/>
            </a:pPr>
            <a:r>
              <a:rPr lang="en-US" sz="1030" dirty="0">
                <a:solidFill>
                  <a:srgbClr val="E7F5EF"/>
                </a:solidFill>
                <a:latin typeface="Calibri" pitchFamily="34" charset="0"/>
                <a:ea typeface="Calibri" pitchFamily="34" charset="-122"/>
                <a:cs typeface="Calibri" pitchFamily="34" charset="-120"/>
              </a:rPr>
              <a:t>SSH brute-force + CPU spike (cryptojacking) is ingested by the backend</a:t>
            </a:r>
            <a:endParaRPr lang="en-US" sz="1030" dirty="0"/>
          </a:p>
        </p:txBody>
      </p:sp>
      <p:sp>
        <p:nvSpPr>
          <p:cNvPr id="10" name="Shape 8"/>
          <p:cNvSpPr/>
          <p:nvPr/>
        </p:nvSpPr>
        <p:spPr>
          <a:xfrm>
            <a:off x="822960" y="2962656"/>
            <a:ext cx="301752" cy="301752"/>
          </a:xfrm>
          <a:prstGeom prst="ellipse">
            <a:avLst/>
          </a:prstGeom>
          <a:solidFill>
            <a:srgbClr val="3DDC97"/>
          </a:solidFill>
          <a:ln/>
        </p:spPr>
      </p:sp>
      <p:sp>
        <p:nvSpPr>
          <p:cNvPr id="11" name="Text 9"/>
          <p:cNvSpPr/>
          <p:nvPr/>
        </p:nvSpPr>
        <p:spPr>
          <a:xfrm>
            <a:off x="822960" y="2962656"/>
            <a:ext cx="301752" cy="301752"/>
          </a:xfrm>
          <a:prstGeom prst="rect">
            <a:avLst/>
          </a:prstGeom>
          <a:noFill/>
          <a:ln/>
        </p:spPr>
        <p:txBody>
          <a:bodyPr wrap="square" rtlCol="0" anchor="ctr"/>
          <a:lstStyle/>
          <a:p>
            <a:pPr marL="0" indent="0" algn="ctr">
              <a:buNone/>
            </a:pPr>
            <a:r>
              <a:rPr lang="en-US" sz="858" b="1" dirty="0">
                <a:solidFill>
                  <a:srgbClr val="0F2A20"/>
                </a:solidFill>
                <a:latin typeface="Arial" pitchFamily="34" charset="0"/>
                <a:ea typeface="Arial" pitchFamily="34" charset="-122"/>
                <a:cs typeface="Arial" pitchFamily="34" charset="-120"/>
              </a:rPr>
              <a:t>2</a:t>
            </a:r>
            <a:endParaRPr lang="en-US" sz="858" dirty="0"/>
          </a:p>
        </p:txBody>
      </p:sp>
      <p:sp>
        <p:nvSpPr>
          <p:cNvPr id="12" name="Text 10"/>
          <p:cNvSpPr/>
          <p:nvPr/>
        </p:nvSpPr>
        <p:spPr>
          <a:xfrm>
            <a:off x="1261872" y="2916936"/>
            <a:ext cx="4526280" cy="548640"/>
          </a:xfrm>
          <a:prstGeom prst="rect">
            <a:avLst/>
          </a:prstGeom>
          <a:noFill/>
          <a:ln/>
        </p:spPr>
        <p:txBody>
          <a:bodyPr wrap="square" rtlCol="0" anchor="ctr"/>
          <a:lstStyle/>
          <a:p>
            <a:pPr marL="0" indent="0">
              <a:buNone/>
            </a:pPr>
            <a:r>
              <a:rPr lang="en-US" sz="1030" dirty="0">
                <a:solidFill>
                  <a:srgbClr val="E7F5EF"/>
                </a:solidFill>
                <a:latin typeface="Calibri" pitchFamily="34" charset="0"/>
                <a:ea typeface="Calibri" pitchFamily="34" charset="-122"/>
                <a:cs typeface="Calibri" pitchFamily="34" charset="-120"/>
              </a:rPr>
              <a:t>RF scores 95% CPU-anomaly confidence · LSTM scores 92% sequence confidence</a:t>
            </a:r>
            <a:endParaRPr lang="en-US" sz="1030" dirty="0"/>
          </a:p>
        </p:txBody>
      </p:sp>
      <p:sp>
        <p:nvSpPr>
          <p:cNvPr id="13" name="Shape 11"/>
          <p:cNvSpPr/>
          <p:nvPr/>
        </p:nvSpPr>
        <p:spPr>
          <a:xfrm>
            <a:off x="822960" y="3566160"/>
            <a:ext cx="301752" cy="301752"/>
          </a:xfrm>
          <a:prstGeom prst="ellipse">
            <a:avLst/>
          </a:prstGeom>
          <a:solidFill>
            <a:srgbClr val="3DDC97"/>
          </a:solidFill>
          <a:ln/>
        </p:spPr>
      </p:sp>
      <p:sp>
        <p:nvSpPr>
          <p:cNvPr id="14" name="Text 12"/>
          <p:cNvSpPr/>
          <p:nvPr/>
        </p:nvSpPr>
        <p:spPr>
          <a:xfrm>
            <a:off x="822960" y="3566160"/>
            <a:ext cx="301752" cy="301752"/>
          </a:xfrm>
          <a:prstGeom prst="rect">
            <a:avLst/>
          </a:prstGeom>
          <a:noFill/>
          <a:ln/>
        </p:spPr>
        <p:txBody>
          <a:bodyPr wrap="square" rtlCol="0" anchor="ctr"/>
          <a:lstStyle/>
          <a:p>
            <a:pPr marL="0" indent="0" algn="ctr">
              <a:buNone/>
            </a:pPr>
            <a:r>
              <a:rPr lang="en-US" sz="858" b="1" dirty="0">
                <a:solidFill>
                  <a:srgbClr val="0F2A20"/>
                </a:solidFill>
                <a:latin typeface="Arial" pitchFamily="34" charset="0"/>
                <a:ea typeface="Arial" pitchFamily="34" charset="-122"/>
                <a:cs typeface="Arial" pitchFamily="34" charset="-120"/>
              </a:rPr>
              <a:t>3</a:t>
            </a:r>
            <a:endParaRPr lang="en-US" sz="858" dirty="0"/>
          </a:p>
        </p:txBody>
      </p:sp>
      <p:sp>
        <p:nvSpPr>
          <p:cNvPr id="15" name="Text 13"/>
          <p:cNvSpPr/>
          <p:nvPr/>
        </p:nvSpPr>
        <p:spPr>
          <a:xfrm>
            <a:off x="1261872" y="3520440"/>
            <a:ext cx="4526280" cy="548640"/>
          </a:xfrm>
          <a:prstGeom prst="rect">
            <a:avLst/>
          </a:prstGeom>
          <a:noFill/>
          <a:ln/>
        </p:spPr>
        <p:txBody>
          <a:bodyPr wrap="square" rtlCol="0" anchor="ctr"/>
          <a:lstStyle/>
          <a:p>
            <a:pPr marL="0" indent="0">
              <a:buNone/>
            </a:pPr>
            <a:r>
              <a:rPr lang="en-US" sz="1030" dirty="0">
                <a:solidFill>
                  <a:srgbClr val="E7F5EF"/>
                </a:solidFill>
                <a:latin typeface="Calibri" pitchFamily="34" charset="0"/>
                <a:ea typeface="Calibri" pitchFamily="34" charset="-122"/>
                <a:cs typeface="Calibri" pitchFamily="34" charset="-120"/>
              </a:rPr>
              <a:t>Ensemble agrees on both signals → classified a Critical Alert</a:t>
            </a:r>
            <a:endParaRPr lang="en-US" sz="1030" dirty="0"/>
          </a:p>
        </p:txBody>
      </p:sp>
      <p:sp>
        <p:nvSpPr>
          <p:cNvPr id="16" name="Shape 14"/>
          <p:cNvSpPr/>
          <p:nvPr/>
        </p:nvSpPr>
        <p:spPr>
          <a:xfrm>
            <a:off x="822960" y="4169664"/>
            <a:ext cx="301752" cy="301752"/>
          </a:xfrm>
          <a:prstGeom prst="ellipse">
            <a:avLst/>
          </a:prstGeom>
          <a:solidFill>
            <a:srgbClr val="3DDC97"/>
          </a:solidFill>
          <a:ln/>
        </p:spPr>
      </p:sp>
      <p:sp>
        <p:nvSpPr>
          <p:cNvPr id="17" name="Text 15"/>
          <p:cNvSpPr/>
          <p:nvPr/>
        </p:nvSpPr>
        <p:spPr>
          <a:xfrm>
            <a:off x="822960" y="4169664"/>
            <a:ext cx="301752" cy="301752"/>
          </a:xfrm>
          <a:prstGeom prst="rect">
            <a:avLst/>
          </a:prstGeom>
          <a:noFill/>
          <a:ln/>
        </p:spPr>
        <p:txBody>
          <a:bodyPr wrap="square" rtlCol="0" anchor="ctr"/>
          <a:lstStyle/>
          <a:p>
            <a:pPr marL="0" indent="0" algn="ctr">
              <a:buNone/>
            </a:pPr>
            <a:r>
              <a:rPr lang="en-US" sz="858" b="1" dirty="0">
                <a:solidFill>
                  <a:srgbClr val="0F2A20"/>
                </a:solidFill>
                <a:latin typeface="Arial" pitchFamily="34" charset="0"/>
                <a:ea typeface="Arial" pitchFamily="34" charset="-122"/>
                <a:cs typeface="Arial" pitchFamily="34" charset="-120"/>
              </a:rPr>
              <a:t>4</a:t>
            </a:r>
            <a:endParaRPr lang="en-US" sz="858" dirty="0"/>
          </a:p>
        </p:txBody>
      </p:sp>
      <p:sp>
        <p:nvSpPr>
          <p:cNvPr id="18" name="Text 16"/>
          <p:cNvSpPr/>
          <p:nvPr/>
        </p:nvSpPr>
        <p:spPr>
          <a:xfrm>
            <a:off x="1261872" y="4123944"/>
            <a:ext cx="4526280" cy="548640"/>
          </a:xfrm>
          <a:prstGeom prst="rect">
            <a:avLst/>
          </a:prstGeom>
          <a:noFill/>
          <a:ln/>
        </p:spPr>
        <p:txBody>
          <a:bodyPr wrap="square" rtlCol="0" anchor="ctr"/>
          <a:lstStyle/>
          <a:p>
            <a:pPr marL="0" indent="0">
              <a:buNone/>
            </a:pPr>
            <a:r>
              <a:rPr lang="en-US" sz="1030" dirty="0">
                <a:solidFill>
                  <a:srgbClr val="E7F5EF"/>
                </a:solidFill>
                <a:latin typeface="Calibri" pitchFamily="34" charset="0"/>
                <a:ea typeface="Calibri" pitchFamily="34" charset="-122"/>
                <a:cs typeface="Calibri" pitchFamily="34" charset="-120"/>
              </a:rPr>
              <a:t>Ansible playbook auto-blocks the malicious IP, kills the rogue process</a:t>
            </a:r>
            <a:endParaRPr lang="en-US" sz="1030" dirty="0"/>
          </a:p>
        </p:txBody>
      </p:sp>
      <p:sp>
        <p:nvSpPr>
          <p:cNvPr id="19" name="Shape 17"/>
          <p:cNvSpPr/>
          <p:nvPr/>
        </p:nvSpPr>
        <p:spPr>
          <a:xfrm>
            <a:off x="822960" y="4773168"/>
            <a:ext cx="301752" cy="301752"/>
          </a:xfrm>
          <a:prstGeom prst="ellipse">
            <a:avLst/>
          </a:prstGeom>
          <a:solidFill>
            <a:srgbClr val="3DDC97"/>
          </a:solidFill>
          <a:ln/>
        </p:spPr>
      </p:sp>
      <p:sp>
        <p:nvSpPr>
          <p:cNvPr id="20" name="Text 18"/>
          <p:cNvSpPr/>
          <p:nvPr/>
        </p:nvSpPr>
        <p:spPr>
          <a:xfrm>
            <a:off x="822960" y="4773168"/>
            <a:ext cx="301752" cy="301752"/>
          </a:xfrm>
          <a:prstGeom prst="rect">
            <a:avLst/>
          </a:prstGeom>
          <a:noFill/>
          <a:ln/>
        </p:spPr>
        <p:txBody>
          <a:bodyPr wrap="square" rtlCol="0" anchor="ctr"/>
          <a:lstStyle/>
          <a:p>
            <a:pPr marL="0" indent="0" algn="ctr">
              <a:buNone/>
            </a:pPr>
            <a:r>
              <a:rPr lang="en-US" sz="858" b="1" dirty="0">
                <a:solidFill>
                  <a:srgbClr val="0F2A20"/>
                </a:solidFill>
                <a:latin typeface="Arial" pitchFamily="34" charset="0"/>
                <a:ea typeface="Arial" pitchFamily="34" charset="-122"/>
                <a:cs typeface="Arial" pitchFamily="34" charset="-120"/>
              </a:rPr>
              <a:t>5</a:t>
            </a:r>
            <a:endParaRPr lang="en-US" sz="858" dirty="0"/>
          </a:p>
        </p:txBody>
      </p:sp>
      <p:sp>
        <p:nvSpPr>
          <p:cNvPr id="21" name="Text 19"/>
          <p:cNvSpPr/>
          <p:nvPr/>
        </p:nvSpPr>
        <p:spPr>
          <a:xfrm>
            <a:off x="1261872" y="4727448"/>
            <a:ext cx="4526280" cy="548640"/>
          </a:xfrm>
          <a:prstGeom prst="rect">
            <a:avLst/>
          </a:prstGeom>
          <a:noFill/>
          <a:ln/>
        </p:spPr>
        <p:txBody>
          <a:bodyPr wrap="square" rtlCol="0" anchor="ctr"/>
          <a:lstStyle/>
          <a:p>
            <a:pPr marL="0" indent="0">
              <a:buNone/>
            </a:pPr>
            <a:r>
              <a:rPr lang="en-US" sz="1030" dirty="0">
                <a:solidFill>
                  <a:srgbClr val="E7F5EF"/>
                </a:solidFill>
                <a:latin typeface="Calibri" pitchFamily="34" charset="0"/>
                <a:ea typeface="Calibri" pitchFamily="34" charset="-122"/>
                <a:cs typeface="Calibri" pitchFamily="34" charset="-120"/>
              </a:rPr>
              <a:t>Dashboard confirms resolution — the server returns to normal state</a:t>
            </a:r>
            <a:endParaRPr lang="en-US" sz="1030" dirty="0"/>
          </a:p>
        </p:txBody>
      </p:sp>
      <p:sp>
        <p:nvSpPr>
          <p:cNvPr id="22" name="Shape 20"/>
          <p:cNvSpPr/>
          <p:nvPr/>
        </p:nvSpPr>
        <p:spPr>
          <a:xfrm>
            <a:off x="6217920" y="1463040"/>
            <a:ext cx="5422392" cy="4206240"/>
          </a:xfrm>
          <a:prstGeom prst="roundRect">
            <a:avLst>
              <a:gd name="adj" fmla="val 2174"/>
            </a:avLst>
          </a:prstGeom>
          <a:solidFill>
            <a:srgbClr val="332310"/>
          </a:solidFill>
          <a:ln w="12700">
            <a:solidFill>
              <a:srgbClr val="FDB022"/>
            </a:solidFill>
            <a:prstDash val="solid"/>
          </a:ln>
        </p:spPr>
      </p:sp>
      <p:sp>
        <p:nvSpPr>
          <p:cNvPr id="23" name="Text 21"/>
          <p:cNvSpPr/>
          <p:nvPr/>
        </p:nvSpPr>
        <p:spPr>
          <a:xfrm>
            <a:off x="6492240" y="1645920"/>
            <a:ext cx="4846320" cy="365760"/>
          </a:xfrm>
          <a:prstGeom prst="rect">
            <a:avLst/>
          </a:prstGeom>
          <a:noFill/>
          <a:ln/>
        </p:spPr>
        <p:txBody>
          <a:bodyPr wrap="square" rtlCol="0" anchor="ctr"/>
          <a:lstStyle/>
          <a:p>
            <a:pPr marL="0" indent="0">
              <a:buNone/>
            </a:pPr>
            <a:r>
              <a:rPr lang="en-US" sz="1600" b="1" dirty="0">
                <a:solidFill>
                  <a:srgbClr val="FDB022"/>
                </a:solidFill>
                <a:latin typeface="Arial" pitchFamily="34" charset="0"/>
                <a:ea typeface="Arial" pitchFamily="34" charset="-122"/>
                <a:cs typeface="Arial" pitchFamily="34" charset="-120"/>
              </a:rPr>
              <a:t>⚠  The Not-Happy Path</a:t>
            </a:r>
            <a:endParaRPr lang="en-US" sz="1600" dirty="0"/>
          </a:p>
        </p:txBody>
      </p:sp>
      <p:sp>
        <p:nvSpPr>
          <p:cNvPr id="24" name="Text 22"/>
          <p:cNvSpPr/>
          <p:nvPr/>
        </p:nvSpPr>
        <p:spPr>
          <a:xfrm>
            <a:off x="6492240" y="1993392"/>
            <a:ext cx="4846320" cy="256032"/>
          </a:xfrm>
          <a:prstGeom prst="rect">
            <a:avLst/>
          </a:prstGeom>
          <a:noFill/>
          <a:ln/>
        </p:spPr>
        <p:txBody>
          <a:bodyPr wrap="square" rtlCol="0" anchor="ctr"/>
          <a:lstStyle/>
          <a:p>
            <a:pPr marL="0" indent="0">
              <a:buNone/>
            </a:pPr>
            <a:r>
              <a:rPr lang="en-US" sz="1050" i="1" dirty="0">
                <a:solidFill>
                  <a:srgbClr val="E3C48F"/>
                </a:solidFill>
                <a:latin typeface="Calibri" pitchFamily="34" charset="0"/>
                <a:ea typeface="Calibri" pitchFamily="34" charset="-122"/>
                <a:cs typeface="Calibri" pitchFamily="34" charset="-120"/>
              </a:rPr>
              <a:t>Low confidence / novel logs → graceful degradation</a:t>
            </a:r>
            <a:endParaRPr lang="en-US" sz="1050" dirty="0"/>
          </a:p>
        </p:txBody>
      </p:sp>
      <p:sp>
        <p:nvSpPr>
          <p:cNvPr id="25" name="Shape 23"/>
          <p:cNvSpPr/>
          <p:nvPr/>
        </p:nvSpPr>
        <p:spPr>
          <a:xfrm>
            <a:off x="6492240" y="2359152"/>
            <a:ext cx="301752" cy="301752"/>
          </a:xfrm>
          <a:prstGeom prst="ellipse">
            <a:avLst/>
          </a:prstGeom>
          <a:solidFill>
            <a:srgbClr val="FDB022"/>
          </a:solidFill>
          <a:ln/>
        </p:spPr>
      </p:sp>
      <p:sp>
        <p:nvSpPr>
          <p:cNvPr id="26" name="Text 24"/>
          <p:cNvSpPr/>
          <p:nvPr/>
        </p:nvSpPr>
        <p:spPr>
          <a:xfrm>
            <a:off x="6492240" y="2359152"/>
            <a:ext cx="301752" cy="301752"/>
          </a:xfrm>
          <a:prstGeom prst="rect">
            <a:avLst/>
          </a:prstGeom>
          <a:noFill/>
          <a:ln/>
        </p:spPr>
        <p:txBody>
          <a:bodyPr wrap="square" rtlCol="0" anchor="ctr"/>
          <a:lstStyle/>
          <a:p>
            <a:pPr marL="0" indent="0" algn="ctr">
              <a:buNone/>
            </a:pPr>
            <a:r>
              <a:rPr lang="en-US" sz="858" b="1" dirty="0">
                <a:solidFill>
                  <a:srgbClr val="332310"/>
                </a:solidFill>
                <a:latin typeface="Arial" pitchFamily="34" charset="0"/>
                <a:ea typeface="Arial" pitchFamily="34" charset="-122"/>
                <a:cs typeface="Arial" pitchFamily="34" charset="-120"/>
              </a:rPr>
              <a:t>1</a:t>
            </a:r>
            <a:endParaRPr lang="en-US" sz="858" dirty="0"/>
          </a:p>
        </p:txBody>
      </p:sp>
      <p:sp>
        <p:nvSpPr>
          <p:cNvPr id="27" name="Text 25"/>
          <p:cNvSpPr/>
          <p:nvPr/>
        </p:nvSpPr>
        <p:spPr>
          <a:xfrm>
            <a:off x="6931152" y="2313432"/>
            <a:ext cx="4526280" cy="548640"/>
          </a:xfrm>
          <a:prstGeom prst="rect">
            <a:avLst/>
          </a:prstGeom>
          <a:noFill/>
          <a:ln/>
        </p:spPr>
        <p:txBody>
          <a:bodyPr wrap="square" rtlCol="0" anchor="ctr"/>
          <a:lstStyle/>
          <a:p>
            <a:pPr marL="0" indent="0">
              <a:buNone/>
            </a:pPr>
            <a:r>
              <a:rPr lang="en-US" sz="1030" dirty="0">
                <a:solidFill>
                  <a:srgbClr val="F5E8D3"/>
                </a:solidFill>
                <a:latin typeface="Calibri" pitchFamily="34" charset="0"/>
                <a:ea typeface="Calibri" pitchFamily="34" charset="-122"/>
                <a:cs typeface="Calibri" pitchFamily="34" charset="-120"/>
              </a:rPr>
              <a:t>A new proprietary app produces an unfamiliar, unstructured log format</a:t>
            </a:r>
            <a:endParaRPr lang="en-US" sz="1030" dirty="0"/>
          </a:p>
        </p:txBody>
      </p:sp>
      <p:sp>
        <p:nvSpPr>
          <p:cNvPr id="28" name="Shape 26"/>
          <p:cNvSpPr/>
          <p:nvPr/>
        </p:nvSpPr>
        <p:spPr>
          <a:xfrm>
            <a:off x="6492240" y="2962656"/>
            <a:ext cx="301752" cy="301752"/>
          </a:xfrm>
          <a:prstGeom prst="ellipse">
            <a:avLst/>
          </a:prstGeom>
          <a:solidFill>
            <a:srgbClr val="FDB022"/>
          </a:solidFill>
          <a:ln/>
        </p:spPr>
      </p:sp>
      <p:sp>
        <p:nvSpPr>
          <p:cNvPr id="29" name="Text 27"/>
          <p:cNvSpPr/>
          <p:nvPr/>
        </p:nvSpPr>
        <p:spPr>
          <a:xfrm>
            <a:off x="6492240" y="2962656"/>
            <a:ext cx="301752" cy="301752"/>
          </a:xfrm>
          <a:prstGeom prst="rect">
            <a:avLst/>
          </a:prstGeom>
          <a:noFill/>
          <a:ln/>
        </p:spPr>
        <p:txBody>
          <a:bodyPr wrap="square" rtlCol="0" anchor="ctr"/>
          <a:lstStyle/>
          <a:p>
            <a:pPr marL="0" indent="0" algn="ctr">
              <a:buNone/>
            </a:pPr>
            <a:r>
              <a:rPr lang="en-US" sz="858" b="1" dirty="0">
                <a:solidFill>
                  <a:srgbClr val="332310"/>
                </a:solidFill>
                <a:latin typeface="Arial" pitchFamily="34" charset="0"/>
                <a:ea typeface="Arial" pitchFamily="34" charset="-122"/>
                <a:cs typeface="Arial" pitchFamily="34" charset="-120"/>
              </a:rPr>
              <a:t>2</a:t>
            </a:r>
            <a:endParaRPr lang="en-US" sz="858" dirty="0"/>
          </a:p>
        </p:txBody>
      </p:sp>
      <p:sp>
        <p:nvSpPr>
          <p:cNvPr id="30" name="Text 28"/>
          <p:cNvSpPr/>
          <p:nvPr/>
        </p:nvSpPr>
        <p:spPr>
          <a:xfrm>
            <a:off x="6931152" y="2916936"/>
            <a:ext cx="4526280" cy="548640"/>
          </a:xfrm>
          <a:prstGeom prst="rect">
            <a:avLst/>
          </a:prstGeom>
          <a:noFill/>
          <a:ln/>
        </p:spPr>
        <p:txBody>
          <a:bodyPr wrap="square" rtlCol="0" anchor="ctr"/>
          <a:lstStyle/>
          <a:p>
            <a:pPr marL="0" indent="0">
              <a:buNone/>
            </a:pPr>
            <a:r>
              <a:rPr lang="en-US" sz="1030" dirty="0">
                <a:solidFill>
                  <a:srgbClr val="F5E8D3"/>
                </a:solidFill>
                <a:latin typeface="Calibri" pitchFamily="34" charset="0"/>
                <a:ea typeface="Calibri" pitchFamily="34" charset="-122"/>
                <a:cs typeface="Calibri" pitchFamily="34" charset="-120"/>
              </a:rPr>
              <a:t>RF scores only ~40% confidence · LSTM scores ~55% — both borderline</a:t>
            </a:r>
            <a:endParaRPr lang="en-US" sz="1030" dirty="0"/>
          </a:p>
        </p:txBody>
      </p:sp>
      <p:sp>
        <p:nvSpPr>
          <p:cNvPr id="31" name="Shape 29"/>
          <p:cNvSpPr/>
          <p:nvPr/>
        </p:nvSpPr>
        <p:spPr>
          <a:xfrm>
            <a:off x="6492240" y="3566160"/>
            <a:ext cx="301752" cy="301752"/>
          </a:xfrm>
          <a:prstGeom prst="ellipse">
            <a:avLst/>
          </a:prstGeom>
          <a:solidFill>
            <a:srgbClr val="FDB022"/>
          </a:solidFill>
          <a:ln/>
        </p:spPr>
      </p:sp>
      <p:sp>
        <p:nvSpPr>
          <p:cNvPr id="32" name="Text 30"/>
          <p:cNvSpPr/>
          <p:nvPr/>
        </p:nvSpPr>
        <p:spPr>
          <a:xfrm>
            <a:off x="6492240" y="3566160"/>
            <a:ext cx="301752" cy="301752"/>
          </a:xfrm>
          <a:prstGeom prst="rect">
            <a:avLst/>
          </a:prstGeom>
          <a:noFill/>
          <a:ln/>
        </p:spPr>
        <p:txBody>
          <a:bodyPr wrap="square" rtlCol="0" anchor="ctr"/>
          <a:lstStyle/>
          <a:p>
            <a:pPr marL="0" indent="0" algn="ctr">
              <a:buNone/>
            </a:pPr>
            <a:r>
              <a:rPr lang="en-US" sz="858" b="1" dirty="0">
                <a:solidFill>
                  <a:srgbClr val="332310"/>
                </a:solidFill>
                <a:latin typeface="Arial" pitchFamily="34" charset="0"/>
                <a:ea typeface="Arial" pitchFamily="34" charset="-122"/>
                <a:cs typeface="Arial" pitchFamily="34" charset="-120"/>
              </a:rPr>
              <a:t>3</a:t>
            </a:r>
            <a:endParaRPr lang="en-US" sz="858" dirty="0"/>
          </a:p>
        </p:txBody>
      </p:sp>
      <p:sp>
        <p:nvSpPr>
          <p:cNvPr id="33" name="Text 31"/>
          <p:cNvSpPr/>
          <p:nvPr/>
        </p:nvSpPr>
        <p:spPr>
          <a:xfrm>
            <a:off x="6931152" y="3520440"/>
            <a:ext cx="4526280" cy="548640"/>
          </a:xfrm>
          <a:prstGeom prst="rect">
            <a:avLst/>
          </a:prstGeom>
          <a:noFill/>
          <a:ln/>
        </p:spPr>
        <p:txBody>
          <a:bodyPr wrap="square" rtlCol="0" anchor="ctr"/>
          <a:lstStyle/>
          <a:p>
            <a:pPr marL="0" indent="0">
              <a:buNone/>
            </a:pPr>
            <a:r>
              <a:rPr lang="en-US" sz="1030" dirty="0">
                <a:solidFill>
                  <a:srgbClr val="F5E8D3"/>
                </a:solidFill>
                <a:latin typeface="Calibri" pitchFamily="34" charset="0"/>
                <a:ea typeface="Calibri" pitchFamily="34" charset="-122"/>
                <a:cs typeface="Calibri" pitchFamily="34" charset="-120"/>
              </a:rPr>
              <a:t>Ensemble decision falls below the automated-remediation threshold</a:t>
            </a:r>
            <a:endParaRPr lang="en-US" sz="1030" dirty="0"/>
          </a:p>
        </p:txBody>
      </p:sp>
      <p:sp>
        <p:nvSpPr>
          <p:cNvPr id="34" name="Shape 32"/>
          <p:cNvSpPr/>
          <p:nvPr/>
        </p:nvSpPr>
        <p:spPr>
          <a:xfrm>
            <a:off x="6492240" y="4169664"/>
            <a:ext cx="301752" cy="301752"/>
          </a:xfrm>
          <a:prstGeom prst="ellipse">
            <a:avLst/>
          </a:prstGeom>
          <a:solidFill>
            <a:srgbClr val="FDB022"/>
          </a:solidFill>
          <a:ln/>
        </p:spPr>
      </p:sp>
      <p:sp>
        <p:nvSpPr>
          <p:cNvPr id="35" name="Text 33"/>
          <p:cNvSpPr/>
          <p:nvPr/>
        </p:nvSpPr>
        <p:spPr>
          <a:xfrm>
            <a:off x="6492240" y="4169664"/>
            <a:ext cx="301752" cy="301752"/>
          </a:xfrm>
          <a:prstGeom prst="rect">
            <a:avLst/>
          </a:prstGeom>
          <a:noFill/>
          <a:ln/>
        </p:spPr>
        <p:txBody>
          <a:bodyPr wrap="square" rtlCol="0" anchor="ctr"/>
          <a:lstStyle/>
          <a:p>
            <a:pPr marL="0" indent="0" algn="ctr">
              <a:buNone/>
            </a:pPr>
            <a:r>
              <a:rPr lang="en-US" sz="858" b="1" dirty="0">
                <a:solidFill>
                  <a:srgbClr val="332310"/>
                </a:solidFill>
                <a:latin typeface="Arial" pitchFamily="34" charset="0"/>
                <a:ea typeface="Arial" pitchFamily="34" charset="-122"/>
                <a:cs typeface="Arial" pitchFamily="34" charset="-120"/>
              </a:rPr>
              <a:t>4</a:t>
            </a:r>
            <a:endParaRPr lang="en-US" sz="858" dirty="0"/>
          </a:p>
        </p:txBody>
      </p:sp>
      <p:sp>
        <p:nvSpPr>
          <p:cNvPr id="36" name="Text 34"/>
          <p:cNvSpPr/>
          <p:nvPr/>
        </p:nvSpPr>
        <p:spPr>
          <a:xfrm>
            <a:off x="6931152" y="4123944"/>
            <a:ext cx="4526280" cy="548640"/>
          </a:xfrm>
          <a:prstGeom prst="rect">
            <a:avLst/>
          </a:prstGeom>
          <a:noFill/>
          <a:ln/>
        </p:spPr>
        <p:txBody>
          <a:bodyPr wrap="square" rtlCol="0" anchor="ctr"/>
          <a:lstStyle/>
          <a:p>
            <a:pPr marL="0" indent="0">
              <a:buNone/>
            </a:pPr>
            <a:r>
              <a:rPr lang="en-US" sz="1030" dirty="0">
                <a:solidFill>
                  <a:srgbClr val="F5E8D3"/>
                </a:solidFill>
                <a:latin typeface="Calibri" pitchFamily="34" charset="0"/>
                <a:ea typeface="Calibri" pitchFamily="34" charset="-122"/>
                <a:cs typeface="Calibri" pitchFamily="34" charset="-120"/>
              </a:rPr>
              <a:t>Ansible execution is blocked; incident is flagged for manual review</a:t>
            </a:r>
            <a:endParaRPr lang="en-US" sz="1030" dirty="0"/>
          </a:p>
        </p:txBody>
      </p:sp>
      <p:sp>
        <p:nvSpPr>
          <p:cNvPr id="37" name="Shape 35"/>
          <p:cNvSpPr/>
          <p:nvPr/>
        </p:nvSpPr>
        <p:spPr>
          <a:xfrm>
            <a:off x="6492240" y="4773168"/>
            <a:ext cx="301752" cy="301752"/>
          </a:xfrm>
          <a:prstGeom prst="ellipse">
            <a:avLst/>
          </a:prstGeom>
          <a:solidFill>
            <a:srgbClr val="FDB022"/>
          </a:solidFill>
          <a:ln/>
        </p:spPr>
      </p:sp>
      <p:sp>
        <p:nvSpPr>
          <p:cNvPr id="38" name="Text 36"/>
          <p:cNvSpPr/>
          <p:nvPr/>
        </p:nvSpPr>
        <p:spPr>
          <a:xfrm>
            <a:off x="6492240" y="4773168"/>
            <a:ext cx="301752" cy="301752"/>
          </a:xfrm>
          <a:prstGeom prst="rect">
            <a:avLst/>
          </a:prstGeom>
          <a:noFill/>
          <a:ln/>
        </p:spPr>
        <p:txBody>
          <a:bodyPr wrap="square" rtlCol="0" anchor="ctr"/>
          <a:lstStyle/>
          <a:p>
            <a:pPr marL="0" indent="0" algn="ctr">
              <a:buNone/>
            </a:pPr>
            <a:r>
              <a:rPr lang="en-US" sz="858" b="1" dirty="0">
                <a:solidFill>
                  <a:srgbClr val="332310"/>
                </a:solidFill>
                <a:latin typeface="Arial" pitchFamily="34" charset="0"/>
                <a:ea typeface="Arial" pitchFamily="34" charset="-122"/>
                <a:cs typeface="Arial" pitchFamily="34" charset="-120"/>
              </a:rPr>
              <a:t>5</a:t>
            </a:r>
            <a:endParaRPr lang="en-US" sz="858" dirty="0"/>
          </a:p>
        </p:txBody>
      </p:sp>
      <p:sp>
        <p:nvSpPr>
          <p:cNvPr id="39" name="Text 37"/>
          <p:cNvSpPr/>
          <p:nvPr/>
        </p:nvSpPr>
        <p:spPr>
          <a:xfrm>
            <a:off x="6931152" y="4727448"/>
            <a:ext cx="4526280" cy="548640"/>
          </a:xfrm>
          <a:prstGeom prst="rect">
            <a:avLst/>
          </a:prstGeom>
          <a:noFill/>
          <a:ln/>
        </p:spPr>
        <p:txBody>
          <a:bodyPr wrap="square" rtlCol="0" anchor="ctr"/>
          <a:lstStyle/>
          <a:p>
            <a:pPr marL="0" indent="0">
              <a:buNone/>
            </a:pPr>
            <a:r>
              <a:rPr lang="en-US" sz="1030" dirty="0">
                <a:solidFill>
                  <a:srgbClr val="F5E8D3"/>
                </a:solidFill>
                <a:latin typeface="Calibri" pitchFamily="34" charset="0"/>
                <a:ea typeface="Calibri" pitchFamily="34" charset="-122"/>
                <a:cs typeface="Calibri" pitchFamily="34" charset="-120"/>
              </a:rPr>
              <a:t>Engineer's verdict feeds back into future model retraining data</a:t>
            </a:r>
            <a:endParaRPr lang="en-US" sz="1030" dirty="0"/>
          </a:p>
        </p:txBody>
      </p:sp>
      <p:sp>
        <p:nvSpPr>
          <p:cNvPr id="40" name="Text 38"/>
          <p:cNvSpPr/>
          <p:nvPr/>
        </p:nvSpPr>
        <p:spPr>
          <a:xfrm>
            <a:off x="548640" y="5852160"/>
            <a:ext cx="11064240" cy="457200"/>
          </a:xfrm>
          <a:prstGeom prst="rect">
            <a:avLst/>
          </a:prstGeom>
          <a:noFill/>
          <a:ln/>
        </p:spPr>
        <p:txBody>
          <a:bodyPr wrap="square" rtlCol="0" anchor="ctr"/>
          <a:lstStyle/>
          <a:p>
            <a:pPr marL="0" indent="0" algn="ctr">
              <a:buNone/>
            </a:pPr>
            <a:r>
              <a:rPr lang="en-US" sz="1100" i="1" dirty="0">
                <a:solidFill>
                  <a:srgbClr val="8B93A7"/>
                </a:solidFill>
                <a:latin typeface="Calibri" pitchFamily="34" charset="0"/>
                <a:ea typeface="Calibri" pitchFamily="34" charset="-122"/>
                <a:cs typeface="Calibri" pitchFamily="34" charset="-120"/>
              </a:rPr>
              <a:t>Both paths share the same ensemble logic — only the confidence threshold decides whether the system acts automatically or asks a human first.</a:t>
            </a:r>
            <a:endParaRPr lang="en-US" sz="1100" dirty="0"/>
          </a:p>
        </p:txBody>
      </p:sp>
      <p:sp>
        <p:nvSpPr>
          <p:cNvPr id="41" name="Text 3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IMPLEMENTATION</a:t>
            </a:r>
            <a:endParaRPr lang="en-US" sz="1250" dirty="0"/>
          </a:p>
        </p:txBody>
      </p:sp>
      <p:sp>
        <p:nvSpPr>
          <p:cNvPr id="3" name="Text 1"/>
          <p:cNvSpPr/>
          <p:nvPr/>
        </p:nvSpPr>
        <p:spPr>
          <a:xfrm>
            <a:off x="548640" y="713232"/>
            <a:ext cx="9875520" cy="685800"/>
          </a:xfrm>
          <a:prstGeom prst="rect">
            <a:avLst/>
          </a:prstGeom>
          <a:noFill/>
          <a:ln/>
        </p:spPr>
        <p:txBody>
          <a:bodyPr wrap="square" rtlCol="0" anchor="ctr"/>
          <a:lstStyle/>
          <a:p>
            <a:pPr marL="0" indent="0">
              <a:buNone/>
            </a:pPr>
            <a:r>
              <a:rPr lang="en-US" sz="2900" b="1" dirty="0">
                <a:solidFill>
                  <a:srgbClr val="F3F6FB"/>
                </a:solidFill>
                <a:latin typeface="Arial" pitchFamily="34" charset="0"/>
                <a:ea typeface="Arial" pitchFamily="34" charset="-122"/>
                <a:cs typeface="Arial" pitchFamily="34" charset="-120"/>
              </a:rPr>
              <a:t>Tech Stack, API Surface &amp; Testing</a:t>
            </a:r>
            <a:endParaRPr lang="en-US" sz="2900" dirty="0"/>
          </a:p>
        </p:txBody>
      </p:sp>
      <p:sp>
        <p:nvSpPr>
          <p:cNvPr id="4" name="Text 2"/>
          <p:cNvSpPr/>
          <p:nvPr/>
        </p:nvSpPr>
        <p:spPr>
          <a:xfrm>
            <a:off x="548640" y="1600200"/>
            <a:ext cx="5120640" cy="365760"/>
          </a:xfrm>
          <a:prstGeom prst="rect">
            <a:avLst/>
          </a:prstGeom>
          <a:noFill/>
          <a:ln/>
        </p:spPr>
        <p:txBody>
          <a:bodyPr wrap="square" rtlCol="0" anchor="ctr"/>
          <a:lstStyle/>
          <a:p>
            <a:pPr marL="0" indent="0">
              <a:buNone/>
            </a:pPr>
            <a:r>
              <a:rPr lang="en-US" sz="1250" b="1" dirty="0">
                <a:solidFill>
                  <a:srgbClr val="F3F6FB"/>
                </a:solidFill>
                <a:latin typeface="Calibri" pitchFamily="34" charset="0"/>
                <a:ea typeface="Calibri" pitchFamily="34" charset="-122"/>
                <a:cs typeface="Calibri" pitchFamily="34" charset="-120"/>
              </a:rPr>
              <a:t>Frontend   </a:t>
            </a:r>
            <a:r>
              <a:rPr lang="en-US" sz="1130" dirty="0">
                <a:solidFill>
                  <a:srgbClr val="8B93A7"/>
                </a:solidFill>
                <a:latin typeface="Calibri" pitchFamily="34" charset="0"/>
                <a:ea typeface="Calibri" pitchFamily="34" charset="-122"/>
                <a:cs typeface="Calibri" pitchFamily="34" charset="-120"/>
              </a:rPr>
              <a:t>React + TypeScript, Tailwind CSS</a:t>
            </a:r>
            <a:endParaRPr lang="en-US" sz="1250" dirty="0"/>
          </a:p>
        </p:txBody>
      </p:sp>
      <p:sp>
        <p:nvSpPr>
          <p:cNvPr id="5" name="Text 3"/>
          <p:cNvSpPr/>
          <p:nvPr/>
        </p:nvSpPr>
        <p:spPr>
          <a:xfrm>
            <a:off x="548640" y="1984248"/>
            <a:ext cx="5120640" cy="365760"/>
          </a:xfrm>
          <a:prstGeom prst="rect">
            <a:avLst/>
          </a:prstGeom>
          <a:noFill/>
          <a:ln/>
        </p:spPr>
        <p:txBody>
          <a:bodyPr wrap="square" rtlCol="0" anchor="ctr"/>
          <a:lstStyle/>
          <a:p>
            <a:pPr marL="0" indent="0">
              <a:buNone/>
            </a:pPr>
            <a:r>
              <a:rPr lang="en-US" sz="1250" b="1" dirty="0">
                <a:solidFill>
                  <a:srgbClr val="F3F6FB"/>
                </a:solidFill>
                <a:latin typeface="Calibri" pitchFamily="34" charset="0"/>
                <a:ea typeface="Calibri" pitchFamily="34" charset="-122"/>
                <a:cs typeface="Calibri" pitchFamily="34" charset="-120"/>
              </a:rPr>
              <a:t>Backend   </a:t>
            </a:r>
            <a:r>
              <a:rPr lang="en-US" sz="1130" dirty="0">
                <a:solidFill>
                  <a:srgbClr val="8B93A7"/>
                </a:solidFill>
                <a:latin typeface="Calibri" pitchFamily="34" charset="0"/>
                <a:ea typeface="Calibri" pitchFamily="34" charset="-122"/>
                <a:cs typeface="Calibri" pitchFamily="34" charset="-120"/>
              </a:rPr>
              <a:t>FastAPI, Python 3.10+</a:t>
            </a:r>
            <a:endParaRPr lang="en-US" sz="1250" dirty="0"/>
          </a:p>
        </p:txBody>
      </p:sp>
      <p:sp>
        <p:nvSpPr>
          <p:cNvPr id="6" name="Text 4"/>
          <p:cNvSpPr/>
          <p:nvPr/>
        </p:nvSpPr>
        <p:spPr>
          <a:xfrm>
            <a:off x="548640" y="2368296"/>
            <a:ext cx="5120640" cy="365760"/>
          </a:xfrm>
          <a:prstGeom prst="rect">
            <a:avLst/>
          </a:prstGeom>
          <a:noFill/>
          <a:ln/>
        </p:spPr>
        <p:txBody>
          <a:bodyPr wrap="square" rtlCol="0" anchor="ctr"/>
          <a:lstStyle/>
          <a:p>
            <a:pPr marL="0" indent="0">
              <a:buNone/>
            </a:pPr>
            <a:r>
              <a:rPr lang="en-US" sz="1250" b="1" dirty="0">
                <a:solidFill>
                  <a:srgbClr val="F3F6FB"/>
                </a:solidFill>
                <a:latin typeface="Calibri" pitchFamily="34" charset="0"/>
                <a:ea typeface="Calibri" pitchFamily="34" charset="-122"/>
                <a:cs typeface="Calibri" pitchFamily="34" charset="-120"/>
              </a:rPr>
              <a:t>ML Models   </a:t>
            </a:r>
            <a:r>
              <a:rPr lang="en-US" sz="1130" dirty="0">
                <a:solidFill>
                  <a:srgbClr val="8B93A7"/>
                </a:solidFill>
                <a:latin typeface="Calibri" pitchFamily="34" charset="0"/>
                <a:ea typeface="Calibri" pitchFamily="34" charset="-122"/>
                <a:cs typeface="Calibri" pitchFamily="34" charset="-120"/>
              </a:rPr>
              <a:t>scikit-learn (Random Forest), PyTorch (LSTM Autoencoder)</a:t>
            </a:r>
            <a:endParaRPr lang="en-US" sz="1250" dirty="0"/>
          </a:p>
        </p:txBody>
      </p:sp>
      <p:sp>
        <p:nvSpPr>
          <p:cNvPr id="7" name="Text 5"/>
          <p:cNvSpPr/>
          <p:nvPr/>
        </p:nvSpPr>
        <p:spPr>
          <a:xfrm>
            <a:off x="548640" y="2752344"/>
            <a:ext cx="5120640" cy="365760"/>
          </a:xfrm>
          <a:prstGeom prst="rect">
            <a:avLst/>
          </a:prstGeom>
          <a:noFill/>
          <a:ln/>
        </p:spPr>
        <p:txBody>
          <a:bodyPr wrap="square" rtlCol="0" anchor="ctr"/>
          <a:lstStyle/>
          <a:p>
            <a:pPr marL="0" indent="0">
              <a:buNone/>
            </a:pPr>
            <a:r>
              <a:rPr lang="en-US" sz="1250" b="1" dirty="0">
                <a:solidFill>
                  <a:srgbClr val="F3F6FB"/>
                </a:solidFill>
                <a:latin typeface="Calibri" pitchFamily="34" charset="0"/>
                <a:ea typeface="Calibri" pitchFamily="34" charset="-122"/>
                <a:cs typeface="Calibri" pitchFamily="34" charset="-120"/>
              </a:rPr>
              <a:t>LLM Service   </a:t>
            </a:r>
            <a:r>
              <a:rPr lang="en-US" sz="1130" dirty="0">
                <a:solidFill>
                  <a:srgbClr val="8B93A7"/>
                </a:solidFill>
                <a:latin typeface="Calibri" pitchFamily="34" charset="0"/>
                <a:ea typeface="Calibri" pitchFamily="34" charset="-122"/>
                <a:cs typeface="Calibri" pitchFamily="34" charset="-120"/>
              </a:rPr>
              <a:t>Google Gemini 2.5 Flash</a:t>
            </a:r>
            <a:endParaRPr lang="en-US" sz="1250" dirty="0"/>
          </a:p>
        </p:txBody>
      </p:sp>
      <p:sp>
        <p:nvSpPr>
          <p:cNvPr id="8" name="Text 6"/>
          <p:cNvSpPr/>
          <p:nvPr/>
        </p:nvSpPr>
        <p:spPr>
          <a:xfrm>
            <a:off x="548640" y="3136392"/>
            <a:ext cx="5120640" cy="365760"/>
          </a:xfrm>
          <a:prstGeom prst="rect">
            <a:avLst/>
          </a:prstGeom>
          <a:noFill/>
          <a:ln/>
        </p:spPr>
        <p:txBody>
          <a:bodyPr wrap="square" rtlCol="0" anchor="ctr"/>
          <a:lstStyle/>
          <a:p>
            <a:pPr marL="0" indent="0">
              <a:buNone/>
            </a:pPr>
            <a:r>
              <a:rPr lang="en-US" sz="1250" b="1" dirty="0">
                <a:solidFill>
                  <a:srgbClr val="F3F6FB"/>
                </a:solidFill>
                <a:latin typeface="Calibri" pitchFamily="34" charset="0"/>
                <a:ea typeface="Calibri" pitchFamily="34" charset="-122"/>
                <a:cs typeface="Calibri" pitchFamily="34" charset="-120"/>
              </a:rPr>
              <a:t>Automation   </a:t>
            </a:r>
            <a:r>
              <a:rPr lang="en-US" sz="1130" dirty="0">
                <a:solidFill>
                  <a:srgbClr val="8B93A7"/>
                </a:solidFill>
                <a:latin typeface="Calibri" pitchFamily="34" charset="0"/>
                <a:ea typeface="Calibri" pitchFamily="34" charset="-122"/>
                <a:cs typeface="Calibri" pitchFamily="34" charset="-120"/>
              </a:rPr>
              <a:t>Ansible playbooks</a:t>
            </a:r>
            <a:endParaRPr lang="en-US" sz="1250" dirty="0"/>
          </a:p>
        </p:txBody>
      </p:sp>
      <p:sp>
        <p:nvSpPr>
          <p:cNvPr id="9" name="Shape 7"/>
          <p:cNvSpPr/>
          <p:nvPr/>
        </p:nvSpPr>
        <p:spPr>
          <a:xfrm>
            <a:off x="548640" y="3611880"/>
            <a:ext cx="5120640" cy="2514600"/>
          </a:xfrm>
          <a:prstGeom prst="roundRect">
            <a:avLst>
              <a:gd name="adj" fmla="val 2909"/>
            </a:avLst>
          </a:prstGeom>
          <a:solidFill>
            <a:srgbClr val="161B26"/>
          </a:solidFill>
          <a:ln w="12700">
            <a:solidFill>
              <a:srgbClr val="232B3A"/>
            </a:solidFill>
            <a:prstDash val="solid"/>
          </a:ln>
        </p:spPr>
      </p:sp>
      <p:sp>
        <p:nvSpPr>
          <p:cNvPr id="10" name="Text 8"/>
          <p:cNvSpPr/>
          <p:nvPr/>
        </p:nvSpPr>
        <p:spPr>
          <a:xfrm>
            <a:off x="777240" y="3749040"/>
            <a:ext cx="4663440" cy="32004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Contract, Testing &amp; Error Handling</a:t>
            </a:r>
            <a:endParaRPr lang="en-US" sz="1300" dirty="0"/>
          </a:p>
        </p:txBody>
      </p:sp>
      <p:sp>
        <p:nvSpPr>
          <p:cNvPr id="11" name="Text 9"/>
          <p:cNvSpPr/>
          <p:nvPr/>
        </p:nvSpPr>
        <p:spPr>
          <a:xfrm>
            <a:off x="777240" y="4096512"/>
            <a:ext cx="4663440" cy="1965960"/>
          </a:xfrm>
          <a:prstGeom prst="rect">
            <a:avLst/>
          </a:prstGeom>
          <a:noFill/>
          <a:ln/>
        </p:spPr>
        <p:txBody>
          <a:bodyPr wrap="square" rtlCol="0" anchor="ctr"/>
          <a:lstStyle/>
          <a:p>
            <a:pPr marL="0" indent="0">
              <a:buNone/>
            </a:pPr>
            <a:r>
              <a:rPr lang="en-US" sz="980" b="1" dirty="0">
                <a:solidFill>
                  <a:srgbClr val="4CC9F0"/>
                </a:solidFill>
                <a:latin typeface="Calibri" pitchFamily="34" charset="0"/>
                <a:ea typeface="Calibri" pitchFamily="34" charset="-122"/>
                <a:cs typeface="Calibri" pitchFamily="34" charset="-120"/>
              </a:rPr>
              <a:t>• </a:t>
            </a:r>
            <a:r>
              <a:rPr lang="en-US" sz="980" dirty="0">
                <a:solidFill>
                  <a:srgbClr val="D5DBE8"/>
                </a:solidFill>
                <a:latin typeface="Calibri" pitchFamily="34" charset="0"/>
                <a:ea typeface="Calibri" pitchFamily="34" charset="-122"/>
                <a:cs typeface="Calibri" pitchFamily="34" charset="-120"/>
              </a:rPr>
              <a:t>types.ts mirrors the backend response shape so components destructure safely
</a:t>
            </a:r>
            <a:endParaRPr lang="en-US" sz="980" dirty="0"/>
          </a:p>
          <a:p>
            <a:pPr marL="0" indent="0">
              <a:buNone/>
            </a:pPr>
            <a:r>
              <a:rPr lang="en-US" sz="980" b="1" dirty="0">
                <a:solidFill>
                  <a:srgbClr val="4CC9F0"/>
                </a:solidFill>
                <a:latin typeface="Calibri" pitchFamily="34" charset="0"/>
                <a:ea typeface="Calibri" pitchFamily="34" charset="-122"/>
                <a:cs typeface="Calibri" pitchFamily="34" charset="-120"/>
              </a:rPr>
              <a:t>• </a:t>
            </a:r>
            <a:r>
              <a:rPr lang="en-US" sz="980" dirty="0">
                <a:solidFill>
                  <a:srgbClr val="D5DBE8"/>
                </a:solidFill>
                <a:latin typeface="Calibri" pitchFamily="34" charset="0"/>
                <a:ea typeface="Calibri" pitchFamily="34" charset="-122"/>
                <a:cs typeface="Calibri" pitchFamily="34" charset="-120"/>
              </a:rPr>
              <a:t>Structured HTTPException + detail string lets the UI show a specific error, not a generic banner
</a:t>
            </a:r>
            <a:endParaRPr lang="en-US" sz="980" dirty="0"/>
          </a:p>
          <a:p>
            <a:pPr marL="0" indent="0">
              <a:buNone/>
            </a:pPr>
            <a:r>
              <a:rPr lang="en-US" sz="980" b="1" dirty="0">
                <a:solidFill>
                  <a:srgbClr val="4CC9F0"/>
                </a:solidFill>
                <a:latin typeface="Calibri" pitchFamily="34" charset="0"/>
                <a:ea typeface="Calibri" pitchFamily="34" charset="-122"/>
                <a:cs typeface="Calibri" pitchFamily="34" charset="-120"/>
              </a:rPr>
              <a:t>• </a:t>
            </a:r>
            <a:r>
              <a:rPr lang="en-US" sz="980" dirty="0">
                <a:solidFill>
                  <a:srgbClr val="D5DBE8"/>
                </a:solidFill>
                <a:latin typeface="Calibri" pitchFamily="34" charset="0"/>
                <a:ea typeface="Calibri" pitchFamily="34" charset="-122"/>
                <a:cs typeface="Calibri" pitchFamily="34" charset="-120"/>
              </a:rPr>
              <a:t>Testing spans 3 levels: dataset-level model evaluation, FastAPI component tests (LLM mocked), end-to-end scenario tests
</a:t>
            </a:r>
            <a:endParaRPr lang="en-US" sz="980" dirty="0"/>
          </a:p>
          <a:p>
            <a:pPr marL="0" indent="0">
              <a:buNone/>
            </a:pPr>
            <a:r>
              <a:rPr lang="en-US" sz="980" b="1" dirty="0">
                <a:solidFill>
                  <a:srgbClr val="4CC9F0"/>
                </a:solidFill>
                <a:latin typeface="Calibri" pitchFamily="34" charset="0"/>
                <a:ea typeface="Calibri" pitchFamily="34" charset="-122"/>
                <a:cs typeface="Calibri" pitchFamily="34" charset="-120"/>
              </a:rPr>
              <a:t>• </a:t>
            </a:r>
            <a:r>
              <a:rPr lang="en-US" sz="980" dirty="0">
                <a:solidFill>
                  <a:srgbClr val="D5DBE8"/>
                </a:solidFill>
                <a:latin typeface="Calibri" pitchFamily="34" charset="0"/>
                <a:ea typeface="Calibri" pitchFamily="34" charset="-122"/>
                <a:cs typeface="Calibri" pitchFamily="34" charset="-120"/>
              </a:rPr>
              <a:t>GitHub Actions CI/CD builds the Docker image on every push; a full pytest suite is the next milestone</a:t>
            </a:r>
            <a:r>
              <a:rPr lang="en-US" sz="980">
                <a:solidFill>
                  <a:srgbClr val="D5DBE8"/>
                </a:solidFill>
                <a:latin typeface="Calibri" pitchFamily="34" charset="0"/>
                <a:ea typeface="Calibri" pitchFamily="34" charset="-122"/>
                <a:cs typeface="Calibri" pitchFamily="34" charset="-120"/>
              </a:rPr>
              <a:t>
</a:t>
            </a:r>
            <a:endParaRPr lang="en-US" sz="9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89320" y="1600200"/>
          <a:ext cx="5623560" cy="4526280"/>
        </p:xfrm>
        <a:graphic>
          <a:graphicData uri="http://schemas.openxmlformats.org/drawingml/2006/table">
            <a:tbl>
              <a:tblPr/>
              <a:tblGrid>
                <a:gridCol w="14173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7543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Endpoint</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070A10"/>
                    </a:solidFill>
                  </a:tcPr>
                </a:tc>
                <a:extLst>
                  <a:ext uri="{0D108BD9-81ED-4DB2-BD59-A6C34878D82A}">
                    <a16:rowId xmlns:a16="http://schemas.microsoft.com/office/drawing/2014/main" val="10000"/>
                  </a:ext>
                </a:extLst>
              </a:tr>
              <a:tr h="754380">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/predict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POST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Feature extraction + LSTM inference; returns full detection JSON</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1"/>
                  </a:ext>
                </a:extLst>
              </a:tr>
              <a:tr h="754380">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/ai/explain</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POST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Markdown root-cause explanation from the LLM</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extLst>
                  <a:ext uri="{0D108BD9-81ED-4DB2-BD59-A6C34878D82A}">
                    <a16:rowId xmlns:a16="http://schemas.microsoft.com/office/drawing/2014/main" val="10002"/>
                  </a:ext>
                </a:extLst>
              </a:tr>
              <a:tr h="754380">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/ai/bash</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POST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Executable bash remediation script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3"/>
                  </a:ext>
                </a:extLst>
              </a:tr>
              <a:tr h="754380">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/ai/k8s</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POST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Kubernetes-specific fix commands / YAML</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E2530"/>
                    </a:solidFill>
                  </a:tcPr>
                </a:tc>
                <a:extLst>
                  <a:ext uri="{0D108BD9-81ED-4DB2-BD59-A6C34878D82A}">
                    <a16:rowId xmlns:a16="http://schemas.microsoft.com/office/drawing/2014/main" val="10004"/>
                  </a:ext>
                </a:extLst>
              </a:tr>
              <a:tr h="754380">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/ai/chat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POST</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tc>
                  <a:txBody>
                    <a:bodyPr/>
                    <a:lstStyle/>
                    <a:p>
                      <a:pPr marL="0" indent="0" algn="l">
                        <a:buNone/>
                      </a:pPr>
                      <a:r>
                        <a:rPr lang="en-US" sz="1030" dirty="0">
                          <a:solidFill>
                            <a:srgbClr val="F3F6FB"/>
                          </a:solidFill>
                          <a:latin typeface="Calibri" pitchFamily="34" charset="0"/>
                          <a:ea typeface="Calibri" pitchFamily="34" charset="-122"/>
                          <a:cs typeface="Calibri" pitchFamily="34" charset="-120"/>
                        </a:rPr>
                        <a:t>Context-aware conversational follow-up</a:t>
                      </a:r>
                      <a:endParaRPr lang="en-US" sz="1030" dirty="0">
                        <a:latin typeface="Calibri" charset="0"/>
                        <a:ea typeface="Calibri" charset="0"/>
                        <a:cs typeface="Calibri" charset="0"/>
                      </a:endParaRPr>
                    </a:p>
                  </a:txBody>
                  <a:tcPr anchor="ctr">
                    <a:lnL w="9525" cap="flat" cmpd="sng" algn="ctr">
                      <a:solidFill>
                        <a:srgbClr val="232B3A"/>
                      </a:solidFill>
                      <a:prstDash val="solid"/>
                      <a:round/>
                      <a:headEnd type="none" w="med" len="med"/>
                      <a:tailEnd type="none" w="med" len="med"/>
                    </a:lnL>
                    <a:lnR w="9525" cap="flat" cmpd="sng" algn="ctr">
                      <a:solidFill>
                        <a:srgbClr val="232B3A"/>
                      </a:solidFill>
                      <a:prstDash val="solid"/>
                      <a:round/>
                      <a:headEnd type="none" w="med" len="med"/>
                      <a:tailEnd type="none" w="med" len="med"/>
                    </a:lnR>
                    <a:lnT w="9525" cap="flat" cmpd="sng" algn="ctr">
                      <a:solidFill>
                        <a:srgbClr val="232B3A"/>
                      </a:solidFill>
                      <a:prstDash val="solid"/>
                      <a:round/>
                      <a:headEnd type="none" w="med" len="med"/>
                      <a:tailEnd type="none" w="med" len="med"/>
                    </a:lnT>
                    <a:lnB w="9525" cap="flat" cmpd="sng" algn="ctr">
                      <a:solidFill>
                        <a:srgbClr val="232B3A"/>
                      </a:solidFill>
                      <a:prstDash val="solid"/>
                      <a:round/>
                      <a:headEnd type="none" w="med" len="med"/>
                      <a:tailEnd type="none" w="med" len="med"/>
                    </a:lnB>
                    <a:solidFill>
                      <a:srgbClr val="161B26"/>
                    </a:solidFill>
                  </a:tcPr>
                </a:tc>
                <a:extLst>
                  <a:ext uri="{0D108BD9-81ED-4DB2-BD59-A6C34878D82A}">
                    <a16:rowId xmlns:a16="http://schemas.microsoft.com/office/drawing/2014/main" val="10005"/>
                  </a:ext>
                </a:extLst>
              </a:tr>
            </a:tbl>
          </a:graphicData>
        </a:graphic>
      </p:graphicFrame>
      <p:sp>
        <p:nvSpPr>
          <p:cNvPr id="13" name="Text 1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DB022"/>
          </a:solidFill>
          <a:ln/>
        </p:spPr>
      </p:sp>
      <p:sp>
        <p:nvSpPr>
          <p:cNvPr id="3" name="Text 1"/>
          <p:cNvSpPr/>
          <p:nvPr/>
        </p:nvSpPr>
        <p:spPr>
          <a:xfrm>
            <a:off x="822960" y="502920"/>
            <a:ext cx="8686800" cy="320040"/>
          </a:xfrm>
          <a:prstGeom prst="rect">
            <a:avLst/>
          </a:prstGeom>
          <a:noFill/>
          <a:ln/>
        </p:spPr>
        <p:txBody>
          <a:bodyPr wrap="square" rtlCol="0" anchor="ctr"/>
          <a:lstStyle/>
          <a:p>
            <a:pPr marL="0" indent="0">
              <a:buNone/>
            </a:pPr>
            <a:r>
              <a:rPr lang="en-US" sz="1250" b="1" kern="0" spc="200" dirty="0">
                <a:solidFill>
                  <a:srgbClr val="FDB022"/>
                </a:solidFill>
                <a:latin typeface="Calibri" pitchFamily="34" charset="0"/>
                <a:ea typeface="Calibri" pitchFamily="34" charset="-122"/>
                <a:cs typeface="Calibri" pitchFamily="34" charset="-120"/>
              </a:rPr>
              <a:t>CONCLUSION &amp; FUTURE SCOPE</a:t>
            </a:r>
            <a:endParaRPr lang="en-US" sz="1250" dirty="0"/>
          </a:p>
        </p:txBody>
      </p:sp>
      <p:sp>
        <p:nvSpPr>
          <p:cNvPr id="4" name="Text 2"/>
          <p:cNvSpPr/>
          <p:nvPr/>
        </p:nvSpPr>
        <p:spPr>
          <a:xfrm>
            <a:off x="822960" y="914400"/>
            <a:ext cx="10424160" cy="685800"/>
          </a:xfrm>
          <a:prstGeom prst="rect">
            <a:avLst/>
          </a:prstGeom>
          <a:noFill/>
          <a:ln/>
        </p:spPr>
        <p:txBody>
          <a:bodyPr wrap="square" rtlCol="0" anchor="ctr"/>
          <a:lstStyle/>
          <a:p>
            <a:pPr marL="0" indent="0">
              <a:buNone/>
            </a:pPr>
            <a:r>
              <a:rPr lang="en-US" sz="2700" b="1" dirty="0">
                <a:solidFill>
                  <a:srgbClr val="F3F6FB"/>
                </a:solidFill>
                <a:latin typeface="Arial" pitchFamily="34" charset="0"/>
                <a:ea typeface="Arial" pitchFamily="34" charset="-122"/>
                <a:cs typeface="Arial" pitchFamily="34" charset="-120"/>
              </a:rPr>
              <a:t>Toward Predictive, Self-Explaining DevOps</a:t>
            </a:r>
            <a:endParaRPr lang="en-US" sz="2700" dirty="0"/>
          </a:p>
        </p:txBody>
      </p:sp>
      <p:sp>
        <p:nvSpPr>
          <p:cNvPr id="5" name="Text 3"/>
          <p:cNvSpPr/>
          <p:nvPr/>
        </p:nvSpPr>
        <p:spPr>
          <a:xfrm>
            <a:off x="822960" y="1664208"/>
            <a:ext cx="10424160" cy="914400"/>
          </a:xfrm>
          <a:prstGeom prst="rect">
            <a:avLst/>
          </a:prstGeom>
          <a:noFill/>
          <a:ln/>
        </p:spPr>
        <p:txBody>
          <a:bodyPr wrap="square" rtlCol="0" anchor="ctr"/>
          <a:lstStyle/>
          <a:p>
            <a:pPr marL="0" indent="0">
              <a:buNone/>
            </a:pPr>
            <a:r>
              <a:rPr lang="en-US" sz="1230" dirty="0">
                <a:solidFill>
                  <a:srgbClr val="D5DBE8"/>
                </a:solidFill>
                <a:latin typeface="Calibri" pitchFamily="34" charset="0"/>
                <a:ea typeface="Calibri" pitchFamily="34" charset="-122"/>
                <a:cs typeface="Calibri" pitchFamily="34" charset="-120"/>
              </a:rPr>
              <a:t>LogGuard AI pairs a Random Forest classifier with an LSTM Autoencoder to detect both instantaneous resource anomalies and subtle sequential threats, then uses an LLM to explain the failure and recommend fixes — moving log monitoring from passive alerting toward intelligent, proactive interpretation. Unlike Datadog, Splunk, or Elastic Stack, the system doesn't stop at showing what happened; it explains why, how severe it is, and what to run next.</a:t>
            </a:r>
            <a:endParaRPr lang="en-US" sz="1230" dirty="0"/>
          </a:p>
        </p:txBody>
      </p:sp>
      <p:sp>
        <p:nvSpPr>
          <p:cNvPr id="6" name="Text 4"/>
          <p:cNvSpPr/>
          <p:nvPr/>
        </p:nvSpPr>
        <p:spPr>
          <a:xfrm>
            <a:off x="822960" y="2697480"/>
            <a:ext cx="4572000" cy="320040"/>
          </a:xfrm>
          <a:prstGeom prst="rect">
            <a:avLst/>
          </a:prstGeom>
          <a:noFill/>
          <a:ln/>
        </p:spPr>
        <p:txBody>
          <a:bodyPr wrap="square" rtlCol="0" anchor="ctr"/>
          <a:lstStyle/>
          <a:p>
            <a:pPr marL="0" indent="0">
              <a:buNone/>
            </a:pPr>
            <a:r>
              <a:rPr lang="en-US" sz="1200" b="1" kern="0" spc="200" dirty="0">
                <a:solidFill>
                  <a:srgbClr val="FDB022"/>
                </a:solidFill>
                <a:latin typeface="Calibri" pitchFamily="34" charset="0"/>
                <a:ea typeface="Calibri" pitchFamily="34" charset="-122"/>
                <a:cs typeface="Calibri" pitchFamily="34" charset="-120"/>
              </a:rPr>
              <a:t>FUTURE SCOPE</a:t>
            </a:r>
            <a:endParaRPr lang="en-US" sz="1200" dirty="0"/>
          </a:p>
        </p:txBody>
      </p:sp>
      <p:sp>
        <p:nvSpPr>
          <p:cNvPr id="7" name="Shape 5"/>
          <p:cNvSpPr/>
          <p:nvPr/>
        </p:nvSpPr>
        <p:spPr>
          <a:xfrm>
            <a:off x="822960" y="3108960"/>
            <a:ext cx="5394960" cy="1417320"/>
          </a:xfrm>
          <a:prstGeom prst="roundRect">
            <a:avLst>
              <a:gd name="adj" fmla="val 5161"/>
            </a:avLst>
          </a:prstGeom>
          <a:solidFill>
            <a:srgbClr val="161B26"/>
          </a:solidFill>
          <a:ln/>
        </p:spPr>
      </p:sp>
      <p:sp>
        <p:nvSpPr>
          <p:cNvPr id="8" name="Text 6"/>
          <p:cNvSpPr/>
          <p:nvPr/>
        </p:nvSpPr>
        <p:spPr>
          <a:xfrm>
            <a:off x="1051560" y="3255264"/>
            <a:ext cx="4937760" cy="36576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Kubernetes Auto-Scaling</a:t>
            </a:r>
            <a:endParaRPr lang="en-US" sz="1300" dirty="0"/>
          </a:p>
        </p:txBody>
      </p:sp>
      <p:sp>
        <p:nvSpPr>
          <p:cNvPr id="9" name="Text 7"/>
          <p:cNvSpPr/>
          <p:nvPr/>
        </p:nvSpPr>
        <p:spPr>
          <a:xfrm>
            <a:off x="1051560" y="3621024"/>
            <a:ext cx="4937760" cy="82296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Move from Docker Compose to an elastic K8s cluster so inference pods scale during log floods or DDoS-style spikes.</a:t>
            </a:r>
            <a:endParaRPr lang="en-US" sz="1030" dirty="0"/>
          </a:p>
        </p:txBody>
      </p:sp>
      <p:sp>
        <p:nvSpPr>
          <p:cNvPr id="10" name="Shape 8"/>
          <p:cNvSpPr/>
          <p:nvPr/>
        </p:nvSpPr>
        <p:spPr>
          <a:xfrm>
            <a:off x="6446520" y="3108960"/>
            <a:ext cx="5394960" cy="1417320"/>
          </a:xfrm>
          <a:prstGeom prst="roundRect">
            <a:avLst>
              <a:gd name="adj" fmla="val 5161"/>
            </a:avLst>
          </a:prstGeom>
          <a:solidFill>
            <a:srgbClr val="161B26"/>
          </a:solidFill>
          <a:ln/>
        </p:spPr>
      </p:sp>
      <p:sp>
        <p:nvSpPr>
          <p:cNvPr id="11" name="Text 9"/>
          <p:cNvSpPr/>
          <p:nvPr/>
        </p:nvSpPr>
        <p:spPr>
          <a:xfrm>
            <a:off x="6675120" y="3255264"/>
            <a:ext cx="4937760" cy="36576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Dynamic Log Parsing</a:t>
            </a:r>
            <a:endParaRPr lang="en-US" sz="1300" dirty="0"/>
          </a:p>
        </p:txBody>
      </p:sp>
      <p:sp>
        <p:nvSpPr>
          <p:cNvPr id="12" name="Text 10"/>
          <p:cNvSpPr/>
          <p:nvPr/>
        </p:nvSpPr>
        <p:spPr>
          <a:xfrm>
            <a:off x="6675120" y="3621024"/>
            <a:ext cx="4937760" cy="82296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Place a lightweight LLM at the ingestion layer to parse entirely novel log formats without manual regex updates.</a:t>
            </a:r>
            <a:endParaRPr lang="en-US" sz="1030" dirty="0"/>
          </a:p>
        </p:txBody>
      </p:sp>
      <p:sp>
        <p:nvSpPr>
          <p:cNvPr id="13" name="Shape 11"/>
          <p:cNvSpPr/>
          <p:nvPr/>
        </p:nvSpPr>
        <p:spPr>
          <a:xfrm>
            <a:off x="822960" y="4709160"/>
            <a:ext cx="5394960" cy="1417320"/>
          </a:xfrm>
          <a:prstGeom prst="roundRect">
            <a:avLst>
              <a:gd name="adj" fmla="val 5161"/>
            </a:avLst>
          </a:prstGeom>
          <a:solidFill>
            <a:srgbClr val="161B26"/>
          </a:solidFill>
          <a:ln/>
        </p:spPr>
      </p:sp>
      <p:sp>
        <p:nvSpPr>
          <p:cNvPr id="14" name="Text 12"/>
          <p:cNvSpPr/>
          <p:nvPr/>
        </p:nvSpPr>
        <p:spPr>
          <a:xfrm>
            <a:off x="1051560" y="4855464"/>
            <a:ext cx="4937760" cy="36576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Persistent History Layer</a:t>
            </a:r>
            <a:endParaRPr lang="en-US" sz="1300" dirty="0"/>
          </a:p>
        </p:txBody>
      </p:sp>
      <p:sp>
        <p:nvSpPr>
          <p:cNvPr id="15" name="Text 13"/>
          <p:cNvSpPr/>
          <p:nvPr/>
        </p:nvSpPr>
        <p:spPr>
          <a:xfrm>
            <a:off x="1051560" y="5221224"/>
            <a:ext cx="4937760" cy="82296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Implement the proposed ER schema (User, LogFile, AnalysisResult, ChatMessage) for multi-user access and audit trails.</a:t>
            </a:r>
            <a:endParaRPr lang="en-US" sz="1030" dirty="0"/>
          </a:p>
        </p:txBody>
      </p:sp>
      <p:sp>
        <p:nvSpPr>
          <p:cNvPr id="16" name="Shape 14"/>
          <p:cNvSpPr/>
          <p:nvPr/>
        </p:nvSpPr>
        <p:spPr>
          <a:xfrm>
            <a:off x="6446520" y="4709160"/>
            <a:ext cx="5394960" cy="1417320"/>
          </a:xfrm>
          <a:prstGeom prst="roundRect">
            <a:avLst>
              <a:gd name="adj" fmla="val 5161"/>
            </a:avLst>
          </a:prstGeom>
          <a:solidFill>
            <a:srgbClr val="161B26"/>
          </a:solidFill>
          <a:ln/>
        </p:spPr>
      </p:sp>
      <p:sp>
        <p:nvSpPr>
          <p:cNvPr id="17" name="Text 15"/>
          <p:cNvSpPr/>
          <p:nvPr/>
        </p:nvSpPr>
        <p:spPr>
          <a:xfrm>
            <a:off x="6675120" y="4855464"/>
            <a:ext cx="4937760" cy="365760"/>
          </a:xfrm>
          <a:prstGeom prst="rect">
            <a:avLst/>
          </a:prstGeom>
          <a:noFill/>
          <a:ln/>
        </p:spPr>
        <p:txBody>
          <a:bodyPr wrap="square" rtlCol="0" anchor="ctr"/>
          <a:lstStyle/>
          <a:p>
            <a:pPr marL="0" indent="0">
              <a:buNone/>
            </a:pPr>
            <a:r>
              <a:rPr lang="en-US" sz="1300" b="1" dirty="0">
                <a:solidFill>
                  <a:srgbClr val="F3F6FB"/>
                </a:solidFill>
                <a:latin typeface="Arial" pitchFamily="34" charset="0"/>
                <a:ea typeface="Arial" pitchFamily="34" charset="-122"/>
                <a:cs typeface="Arial" pitchFamily="34" charset="-120"/>
              </a:rPr>
              <a:t>Automated IaC Remediation</a:t>
            </a:r>
            <a:endParaRPr lang="en-US" sz="1300" dirty="0"/>
          </a:p>
        </p:txBody>
      </p:sp>
      <p:sp>
        <p:nvSpPr>
          <p:cNvPr id="18" name="Text 16"/>
          <p:cNvSpPr/>
          <p:nvPr/>
        </p:nvSpPr>
        <p:spPr>
          <a:xfrm>
            <a:off x="6675120" y="5221224"/>
            <a:ext cx="4937760" cy="822960"/>
          </a:xfrm>
          <a:prstGeom prst="rect">
            <a:avLst/>
          </a:prstGeom>
          <a:noFill/>
          <a:ln/>
        </p:spPr>
        <p:txBody>
          <a:bodyPr wrap="square" rtlCol="0" anchor="ctr"/>
          <a:lstStyle/>
          <a:p>
            <a:pPr marL="0" indent="0">
              <a:buNone/>
            </a:pPr>
            <a:r>
              <a:rPr lang="en-US" sz="1030" dirty="0">
                <a:solidFill>
                  <a:srgbClr val="8B93A7"/>
                </a:solidFill>
                <a:latin typeface="Calibri" pitchFamily="34" charset="0"/>
                <a:ea typeface="Calibri" pitchFamily="34" charset="-122"/>
                <a:cs typeface="Calibri" pitchFamily="34" charset="-120"/>
              </a:rPr>
              <a:t>Deeper Ansible / kubectl integration for closed-loop, hands-free incident resolution beyond the current suggest-and-confirm flow.</a:t>
            </a:r>
            <a:endParaRPr lang="en-US" sz="1030" dirty="0"/>
          </a:p>
        </p:txBody>
      </p:sp>
      <p:sp>
        <p:nvSpPr>
          <p:cNvPr id="19" name="Text 17"/>
          <p:cNvSpPr/>
          <p:nvPr/>
        </p:nvSpPr>
        <p:spPr>
          <a:xfrm>
            <a:off x="822960" y="6309360"/>
            <a:ext cx="5486400" cy="411480"/>
          </a:xfrm>
          <a:prstGeom prst="rect">
            <a:avLst/>
          </a:prstGeom>
          <a:noFill/>
          <a:ln/>
        </p:spPr>
        <p:txBody>
          <a:bodyPr wrap="square" rtlCol="0" anchor="ctr"/>
          <a:lstStyle/>
          <a:p>
            <a:pPr marL="0" indent="0">
              <a:buNone/>
            </a:pPr>
            <a:r>
              <a:rPr lang="en-US" sz="1900" b="1" dirty="0">
                <a:solidFill>
                  <a:srgbClr val="FDB022"/>
                </a:solidFill>
                <a:latin typeface="Arial" pitchFamily="34" charset="0"/>
                <a:ea typeface="Arial" pitchFamily="34" charset="-122"/>
                <a:cs typeface="Arial" pitchFamily="34" charset="-120"/>
              </a:rPr>
              <a:t>Thank You</a:t>
            </a:r>
            <a:endParaRPr lang="en-US" sz="1900" dirty="0"/>
          </a:p>
        </p:txBody>
      </p:sp>
      <p:sp>
        <p:nvSpPr>
          <p:cNvPr id="20"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B93A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2958</Words>
  <Application>Microsoft Office PowerPoint</Application>
  <PresentationFormat>Widescreen</PresentationFormat>
  <Paragraphs>424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Mahi Gupta</cp:lastModifiedBy>
  <cp:revision>3</cp:revision>
  <dcterms:created xsi:type="dcterms:W3CDTF">2026-07-13T18:33:28Z</dcterms:created>
  <dcterms:modified xsi:type="dcterms:W3CDTF">2026-07-14T09:04:13Z</dcterms:modified>
</cp:coreProperties>
</file>